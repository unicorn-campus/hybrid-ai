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 Contextual Retrieval: 청크에 문맥을 붙여 색인하기
핵심 한 줄: 청크를 자르면 "무엇에 대한 말인지"가 청크 밖에 남습니다. LLM이 그 빠진 문맥을 50에서 100토큰으로 써서 청크 앞에 붙이는 전처리입니다.
원문 예시: SEC 공시 모음에서 "ACME Corp의 2023년 2분기 매출 성장률은?"을 물으면 정답 청크는 "The company's revenue grew by 3% over the previous quarter."뿐입니다. 변환 결과는 "This chunk is from an SEC filing on ACME corp's performance in Q2 2023; the previous quarter's revenue was $314 million."을 청크 앞에 붙인 것입니다.
프롬프트 원문: &lt;document&gt;{{WHOLE_DOCUMENT}}&lt;/document&gt; Here is the chunk we want to situate within the whole document &lt;chunk&gt;{{CHUNK_CONTENT}}&lt;/chunk&gt; Please give a short succinct context to situate this chunk within the overall document for the purposes of improving search retrieval of the chunk. Answer only with the succinct context and nothing else.
효과 표 조건: 코드베이스, 소설, ArXiv, 과학 논문 평균이고 임베딩은 최고 성능이던 Gemini Text 004입니다. 지표는 정답이 상위 20개에 못 든 비율(1 - recall@20)입니다. 쿡북 노트북(코드베이스 9개, 질의 248개, voyage-2)에서는 기본 9.9%, 문맥 임베딩 5.7%, BM25 결합 4.8%, 리랭킹 2.6%로 절대값은 다르지만 방향은 같습니다.
비용 가정: 청크 800토큰, 문서 8k토큰, 문맥 100토큰, 프롬프트 캐싱 사용. 100만 토큰당 1.02달러는 원문 값입니다. 지식니가 현재 단가로 다시 계산하면 Claude Haiku 4.5는 약 3.94달러, Haiku 5.5는 약 0.39달러입니다(재계산). 캐시는 5분 유지라 문서 하나의 청크를 연달아 호출해야 하고, Haiku 4.5는 4,096토큰 미만 프롬프트는 캐시되지 않습니다.
한계: 독립 연구(arXiv 2504.19754, 질의 50개, 문서 약 300개)에서는 NDCG@10이 기본 0.291, 문맥만 0.295, 문맥 + 융합 + 리랭킹 0.308로 이득이 작았습니다. 문서가 바뀌면 그 문서의 청크 문맥을 모두 다시 만들어야 하고, 생성된 문맥은 샘플 검수가 필요합니다. 한국어 공개 수치는 없습니다.
실습 적용 포인트: 인덱싱 7단계 중 4단계(청킹)와 5단계(임베딩) 사이에 "문맥 생성"을 끼웁니다. Chroma에는 documents에 원래 청크, embeddings에 문맥 포함 벡터, metadata에 context를 저장하고, bm25s에는 문맥 + 청크를 Kiwi로 토큰화해 넣습니다. 질문에는 문맥을 붙이지 않습니다. 상세 문서 9절에 Python 예시가 있습니다.
Late Chunking과의 차이: Late Chunking은 LLM 없이 임베딩 모델 안에서 문맥을 반영하므로 싸지만 글을 바꾸지 않아 BM25는 좋아지지 않고, 토큰별 벡터를 주는 모델이 필요합니다. Contextual Retrieval은 글 자체에 문맥을 써 넣어 임베딩과 BM25가 함께 좋아지고 임베딩 모델 제약이 없지만 LLM 호출 비용이 듭니다.
상세 문서: https://github.com/unicorn-campus/hybrid-ai/blob/main/research/rag/contextual-retrieval.md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unicorn-campus/hybrid-ai/blob/main/research/rag/contextual-retrieval.md"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Contextual Retrieval: 청크에 문맥을 붙여 색인하기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LLM이 청크마다 짧은 문맥 설명을 써서 앞에 붙인 뒤, 임베딩과 BM25 양쪽에 같이 색인합니다.</a:t>
            </a:r>
            <a:endParaRPr lang="en-US" sz="1800" dirty="0"/>
          </a:p>
        </p:txBody>
      </p:sp>
      <p:sp>
        <p:nvSpPr>
          <p:cNvPr id="4" name="Text 2"/>
          <p:cNvSpPr/>
          <p:nvPr/>
        </p:nvSpPr>
        <p:spPr>
          <a:xfrm>
            <a:off x="509321" y="1737360"/>
            <a:ext cx="406908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왜 필요한가</a:t>
            </a:r>
            <a:endParaRPr lang="en-US" sz="1800" dirty="0"/>
          </a:p>
        </p:txBody>
      </p:sp>
      <p:sp>
        <p:nvSpPr>
          <p:cNvPr id="5" name="Text 3"/>
          <p:cNvSpPr/>
          <p:nvPr/>
        </p:nvSpPr>
        <p:spPr>
          <a:xfrm>
            <a:off x="509321" y="2240280"/>
            <a:ext cx="4069080" cy="2011680"/>
          </a:xfrm>
          <a:prstGeom prst="roundRect">
            <a:avLst>
              <a:gd name="adj" fmla="val 4545"/>
            </a:avLst>
          </a:prstGeom>
          <a:solidFill>
            <a:srgbClr val="EEF3FA"/>
          </a:solidFill>
          <a:ln w="12700">
            <a:solidFill>
              <a:srgbClr val="D9E0EC"/>
            </a:solidFill>
          </a:ln>
        </p:spPr>
        <p:txBody>
          <a:bodyPr wrap="square" lIns="182880" tIns="128016" rIns="182880" bIns="91440" rtlCol="0" anchor="t"/>
          <a:lstStyle/>
          <a:p>
            <a:pPr algn="l" indent="0" marL="0">
              <a:spcAft>
                <a:spcPts val="1500"/>
              </a:spcAft>
              <a:buNone/>
            </a:pPr>
            <a:r>
              <a:rPr lang="en-US" sz="1500" dirty="0">
                <a:solidFill>
                  <a:srgbClr val="2B3242"/>
                </a:solidFill>
                <a:latin typeface="Pretendard" pitchFamily="34" charset="0"/>
                <a:ea typeface="Pretendard" pitchFamily="34" charset="-122"/>
                <a:cs typeface="Pretendard" pitchFamily="34" charset="-120"/>
              </a:rPr>
              <a:t>질문: ACME 2023년 2분기 매출 성장률은?</a:t>
            </a:r>
            <a:endParaRPr lang="en-US" sz="1500" dirty="0"/>
          </a:p>
          <a:p>
            <a:pPr algn="l" indent="0" marL="0">
              <a:spcAft>
                <a:spcPts val="1500"/>
              </a:spcAft>
              <a:buNone/>
            </a:pPr>
            <a:r>
              <a:rPr lang="en-US" sz="1500" dirty="0">
                <a:solidFill>
                  <a:srgbClr val="2B3242"/>
                </a:solidFill>
                <a:latin typeface="Pretendard" pitchFamily="34" charset="0"/>
                <a:ea typeface="Pretendard" pitchFamily="34" charset="-122"/>
                <a:cs typeface="Pretendard" pitchFamily="34" charset="-120"/>
              </a:rPr>
              <a:t>청크: "매출이 전 분기보다 3% 늘었다"</a:t>
            </a:r>
            <a:endParaRPr lang="en-US" sz="1500" dirty="0"/>
          </a:p>
          <a:p>
            <a:pPr algn="l" indent="0" marL="0">
              <a:spcAft>
                <a:spcPts val="1500"/>
              </a:spcAft>
              <a:buNone/>
            </a:pPr>
            <a:r>
              <a:rPr lang="en-US" sz="1500" dirty="0">
                <a:solidFill>
                  <a:srgbClr val="2B3242"/>
                </a:solidFill>
                <a:latin typeface="Pretendard" pitchFamily="34" charset="0"/>
                <a:ea typeface="Pretendard" pitchFamily="34" charset="-122"/>
                <a:cs typeface="Pretendard" pitchFamily="34" charset="-120"/>
              </a:rPr>
              <a:t>회사와 기간이 빠져 벡터와 BM25 모두 빗나감</a:t>
            </a:r>
            <a:endParaRPr lang="en-US" sz="1500" dirty="0"/>
          </a:p>
          <a:p>
            <a:pPr algn="l" indent="0" marL="0">
              <a:spcAft>
                <a:spcPts val="1500"/>
              </a:spcAft>
              <a:buNone/>
            </a:pPr>
            <a:r>
              <a:rPr lang="en-US" sz="1500" dirty="0">
                <a:solidFill>
                  <a:srgbClr val="2B3242"/>
                </a:solidFill>
                <a:latin typeface="Pretendard" pitchFamily="34" charset="0"/>
                <a:ea typeface="Pretendard" pitchFamily="34" charset="-122"/>
                <a:cs typeface="Pretendard" pitchFamily="34" charset="-120"/>
              </a:rPr>
              <a:t>보강: "ACME 2023년 2분기 공시 일부" + 청크</a:t>
            </a:r>
            <a:endParaRPr lang="en-US" sz="1500" dirty="0"/>
          </a:p>
        </p:txBody>
      </p:sp>
      <p:sp>
        <p:nvSpPr>
          <p:cNvPr id="6" name="Text 4"/>
          <p:cNvSpPr/>
          <p:nvPr/>
        </p:nvSpPr>
        <p:spPr>
          <a:xfrm>
            <a:off x="509321" y="4389120"/>
            <a:ext cx="406908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실습 적용(Chroma + bm25s)</a:t>
            </a:r>
            <a:endParaRPr lang="en-US" sz="1800" dirty="0"/>
          </a:p>
        </p:txBody>
      </p:sp>
      <p:sp>
        <p:nvSpPr>
          <p:cNvPr id="7" name="Text 5"/>
          <p:cNvSpPr/>
          <p:nvPr/>
        </p:nvSpPr>
        <p:spPr>
          <a:xfrm>
            <a:off x="509321" y="4892040"/>
            <a:ext cx="4069080" cy="1371600"/>
          </a:xfrm>
          <a:prstGeom prst="roundRect">
            <a:avLst>
              <a:gd name="adj" fmla="val 6667"/>
            </a:avLst>
          </a:prstGeom>
          <a:solidFill>
            <a:srgbClr val="EEF3FA"/>
          </a:solidFill>
          <a:ln w="12700">
            <a:solidFill>
              <a:srgbClr val="D9E0EC"/>
            </a:solidFill>
          </a:ln>
        </p:spPr>
        <p:txBody>
          <a:bodyPr wrap="square" lIns="182880" tIns="128016" rIns="182880" bIns="91440" rtlCol="0" anchor="t"/>
          <a:lstStyle/>
          <a:p>
            <a:pPr algn="l" marL="228600" indent="-228600">
              <a:spcAft>
                <a:spcPts val="900"/>
              </a:spcAft>
              <a:buSzPct val="100000"/>
              <a:buChar char="•"/>
            </a:pPr>
            <a:r>
              <a:rPr lang="en-US" sz="1500" dirty="0">
                <a:solidFill>
                  <a:srgbClr val="2B3242"/>
                </a:solidFill>
                <a:latin typeface="Pretendard" pitchFamily="34" charset="0"/>
                <a:ea typeface="Pretendard" pitchFamily="34" charset="-122"/>
                <a:cs typeface="Pretendard" pitchFamily="34" charset="-120"/>
              </a:rPr>
              <a:t>청킹 뒤 Haiku가 청크마다 문맥 생성</a:t>
            </a:r>
            <a:endParaRPr lang="en-US" sz="1500" dirty="0"/>
          </a:p>
          <a:p>
            <a:pPr algn="l" marL="228600" indent="-228600">
              <a:spcAft>
                <a:spcPts val="900"/>
              </a:spcAft>
              <a:buSzPct val="100000"/>
              <a:buChar char="•"/>
            </a:pPr>
            <a:r>
              <a:rPr lang="en-US" sz="1500" dirty="0">
                <a:solidFill>
                  <a:srgbClr val="2B3242"/>
                </a:solidFill>
                <a:latin typeface="Pretendard" pitchFamily="34" charset="0"/>
                <a:ea typeface="Pretendard" pitchFamily="34" charset="-122"/>
                <a:cs typeface="Pretendard" pitchFamily="34" charset="-120"/>
              </a:rPr>
              <a:t>문맥 + 청크를 임베딩과 bm25s에 함께 색인</a:t>
            </a:r>
            <a:endParaRPr lang="en-US" sz="1500" dirty="0"/>
          </a:p>
          <a:p>
            <a:pPr algn="l" marL="228600" indent="-228600">
              <a:spcAft>
                <a:spcPts val="900"/>
              </a:spcAft>
              <a:buSzPct val="100000"/>
              <a:buChar char="•"/>
            </a:pPr>
            <a:r>
              <a:rPr lang="en-US" sz="1500" dirty="0">
                <a:solidFill>
                  <a:srgbClr val="2B3242"/>
                </a:solidFill>
                <a:latin typeface="Pretendard" pitchFamily="34" charset="0"/>
                <a:ea typeface="Pretendard" pitchFamily="34" charset="-122"/>
                <a:cs typeface="Pretendard" pitchFamily="34" charset="-120"/>
              </a:rPr>
              <a:t>평가셋으로 기준선과 비교 후 채택</a:t>
            </a:r>
            <a:endParaRPr lang="en-US" sz="1500" dirty="0"/>
          </a:p>
        </p:txBody>
      </p:sp>
      <p:sp>
        <p:nvSpPr>
          <p:cNvPr id="8" name="Text 6"/>
          <p:cNvSpPr/>
          <p:nvPr/>
        </p:nvSpPr>
        <p:spPr>
          <a:xfrm>
            <a:off x="4807001" y="1737360"/>
            <a:ext cx="434340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처리 절차</a:t>
            </a:r>
            <a:endParaRPr lang="en-US" sz="1800" dirty="0"/>
          </a:p>
        </p:txBody>
      </p:sp>
      <p:sp>
        <p:nvSpPr>
          <p:cNvPr id="9" name="Shape 7"/>
          <p:cNvSpPr/>
          <p:nvPr/>
        </p:nvSpPr>
        <p:spPr>
          <a:xfrm>
            <a:off x="4807001" y="2240280"/>
            <a:ext cx="4343400" cy="937260"/>
          </a:xfrm>
          <a:prstGeom prst="roundRect">
            <a:avLst>
              <a:gd name="adj" fmla="val 7805"/>
            </a:avLst>
          </a:prstGeom>
          <a:solidFill>
            <a:srgbClr val="F5F8FC"/>
          </a:solidFill>
          <a:ln w="12700">
            <a:solidFill>
              <a:srgbClr val="D9E0EC"/>
            </a:solidFill>
            <a:prstDash val="solid"/>
          </a:ln>
        </p:spPr>
      </p:sp>
      <p:sp>
        <p:nvSpPr>
          <p:cNvPr id="10" name="Shape 8"/>
          <p:cNvSpPr/>
          <p:nvPr/>
        </p:nvSpPr>
        <p:spPr>
          <a:xfrm>
            <a:off x="4944161" y="2507742"/>
            <a:ext cx="402336" cy="402336"/>
          </a:xfrm>
          <a:prstGeom prst="roundRect">
            <a:avLst>
              <a:gd name="adj" fmla="val 11364"/>
            </a:avLst>
          </a:prstGeom>
          <a:solidFill>
            <a:srgbClr val="2E74C6"/>
          </a:solidFill>
          <a:ln/>
        </p:spPr>
      </p:sp>
      <p:sp>
        <p:nvSpPr>
          <p:cNvPr id="11" name="Text 9"/>
          <p:cNvSpPr/>
          <p:nvPr/>
        </p:nvSpPr>
        <p:spPr>
          <a:xfrm>
            <a:off x="4944161" y="250774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
        <p:nvSpPr>
          <p:cNvPr id="12" name="Text 10"/>
          <p:cNvSpPr txBox="1"/>
          <p:nvPr/>
        </p:nvSpPr>
        <p:spPr>
          <a:xfrm>
            <a:off x="5447081" y="2240280"/>
            <a:ext cx="3566160" cy="937260"/>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문서를 청크로 나눔</a:t>
            </a:r>
            <a:endParaRPr lang="en-US" sz="1800" dirty="0"/>
          </a:p>
        </p:txBody>
      </p:sp>
      <p:sp>
        <p:nvSpPr>
          <p:cNvPr id="13" name="Shape 11"/>
          <p:cNvSpPr/>
          <p:nvPr/>
        </p:nvSpPr>
        <p:spPr>
          <a:xfrm>
            <a:off x="4807001" y="3268980"/>
            <a:ext cx="4343400" cy="937260"/>
          </a:xfrm>
          <a:prstGeom prst="roundRect">
            <a:avLst>
              <a:gd name="adj" fmla="val 7805"/>
            </a:avLst>
          </a:prstGeom>
          <a:solidFill>
            <a:srgbClr val="F5F8FC"/>
          </a:solidFill>
          <a:ln w="12700">
            <a:solidFill>
              <a:srgbClr val="D9E0EC"/>
            </a:solidFill>
            <a:prstDash val="solid"/>
          </a:ln>
        </p:spPr>
      </p:sp>
      <p:sp>
        <p:nvSpPr>
          <p:cNvPr id="14" name="Shape 12"/>
          <p:cNvSpPr/>
          <p:nvPr/>
        </p:nvSpPr>
        <p:spPr>
          <a:xfrm>
            <a:off x="4944161" y="3536442"/>
            <a:ext cx="402336" cy="402336"/>
          </a:xfrm>
          <a:prstGeom prst="roundRect">
            <a:avLst>
              <a:gd name="adj" fmla="val 11364"/>
            </a:avLst>
          </a:prstGeom>
          <a:solidFill>
            <a:srgbClr val="2E74C6"/>
          </a:solidFill>
          <a:ln/>
        </p:spPr>
      </p:sp>
      <p:sp>
        <p:nvSpPr>
          <p:cNvPr id="15" name="Text 13"/>
          <p:cNvSpPr/>
          <p:nvPr/>
        </p:nvSpPr>
        <p:spPr>
          <a:xfrm>
            <a:off x="4944161" y="353644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16" name="Text 14"/>
          <p:cNvSpPr txBox="1"/>
          <p:nvPr/>
        </p:nvSpPr>
        <p:spPr>
          <a:xfrm>
            <a:off x="5447081" y="3268980"/>
            <a:ext cx="3566160" cy="937260"/>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문서 전체와 청크를 LLM에 주고 50 ~ 100토큰 문맥 생성</a:t>
            </a:r>
            <a:endParaRPr lang="en-US" sz="1800" dirty="0"/>
          </a:p>
        </p:txBody>
      </p:sp>
      <p:sp>
        <p:nvSpPr>
          <p:cNvPr id="17" name="Shape 15"/>
          <p:cNvSpPr/>
          <p:nvPr/>
        </p:nvSpPr>
        <p:spPr>
          <a:xfrm>
            <a:off x="4807001" y="4297680"/>
            <a:ext cx="4343400" cy="937260"/>
          </a:xfrm>
          <a:prstGeom prst="roundRect">
            <a:avLst>
              <a:gd name="adj" fmla="val 7805"/>
            </a:avLst>
          </a:prstGeom>
          <a:solidFill>
            <a:srgbClr val="F5F8FC"/>
          </a:solidFill>
          <a:ln w="12700">
            <a:solidFill>
              <a:srgbClr val="D9E0EC"/>
            </a:solidFill>
            <a:prstDash val="solid"/>
          </a:ln>
        </p:spPr>
      </p:sp>
      <p:sp>
        <p:nvSpPr>
          <p:cNvPr id="18" name="Shape 16"/>
          <p:cNvSpPr/>
          <p:nvPr/>
        </p:nvSpPr>
        <p:spPr>
          <a:xfrm>
            <a:off x="4944161" y="4565142"/>
            <a:ext cx="402336" cy="402336"/>
          </a:xfrm>
          <a:prstGeom prst="roundRect">
            <a:avLst>
              <a:gd name="adj" fmla="val 11364"/>
            </a:avLst>
          </a:prstGeom>
          <a:solidFill>
            <a:srgbClr val="2E74C6"/>
          </a:solidFill>
          <a:ln/>
        </p:spPr>
      </p:sp>
      <p:sp>
        <p:nvSpPr>
          <p:cNvPr id="19" name="Text 17"/>
          <p:cNvSpPr/>
          <p:nvPr/>
        </p:nvSpPr>
        <p:spPr>
          <a:xfrm>
            <a:off x="4944161" y="456514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20" name="Text 18"/>
          <p:cNvSpPr txBox="1"/>
          <p:nvPr/>
        </p:nvSpPr>
        <p:spPr>
          <a:xfrm>
            <a:off x="5447081" y="4297680"/>
            <a:ext cx="3566160" cy="937260"/>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"문맥 + 청크"를 임베딩과 BM25 양쪽에 색인</a:t>
            </a:r>
            <a:endParaRPr lang="en-US" sz="1800" dirty="0"/>
          </a:p>
        </p:txBody>
      </p:sp>
      <p:sp>
        <p:nvSpPr>
          <p:cNvPr id="21" name="Shape 19"/>
          <p:cNvSpPr/>
          <p:nvPr/>
        </p:nvSpPr>
        <p:spPr>
          <a:xfrm>
            <a:off x="4807001" y="5326380"/>
            <a:ext cx="4343400" cy="937260"/>
          </a:xfrm>
          <a:prstGeom prst="roundRect">
            <a:avLst>
              <a:gd name="adj" fmla="val 7805"/>
            </a:avLst>
          </a:prstGeom>
          <a:solidFill>
            <a:srgbClr val="F5F8FC"/>
          </a:solidFill>
          <a:ln w="12700">
            <a:solidFill>
              <a:srgbClr val="D9E0EC"/>
            </a:solidFill>
            <a:prstDash val="solid"/>
          </a:ln>
        </p:spPr>
      </p:sp>
      <p:sp>
        <p:nvSpPr>
          <p:cNvPr id="22" name="Shape 20"/>
          <p:cNvSpPr/>
          <p:nvPr/>
        </p:nvSpPr>
        <p:spPr>
          <a:xfrm>
            <a:off x="4944161" y="5593842"/>
            <a:ext cx="402336" cy="402336"/>
          </a:xfrm>
          <a:prstGeom prst="roundRect">
            <a:avLst>
              <a:gd name="adj" fmla="val 11364"/>
            </a:avLst>
          </a:prstGeom>
          <a:solidFill>
            <a:srgbClr val="2E74C6"/>
          </a:solidFill>
          <a:ln/>
        </p:spPr>
      </p:sp>
      <p:sp>
        <p:nvSpPr>
          <p:cNvPr id="23" name="Text 21"/>
          <p:cNvSpPr/>
          <p:nvPr/>
        </p:nvSpPr>
        <p:spPr>
          <a:xfrm>
            <a:off x="4944161" y="559384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4</a:t>
            </a:r>
            <a:endParaRPr lang="en-US" sz="1800" dirty="0"/>
          </a:p>
        </p:txBody>
      </p:sp>
      <p:sp>
        <p:nvSpPr>
          <p:cNvPr id="24" name="Text 22"/>
          <p:cNvSpPr txBox="1"/>
          <p:nvPr/>
        </p:nvSpPr>
        <p:spPr>
          <a:xfrm>
            <a:off x="5447081" y="5326380"/>
            <a:ext cx="3566160" cy="937260"/>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두 검색 결과를 순위 융합해 150개를 뽑고, 리랭킹해 상위 20개를 전달</a:t>
            </a:r>
            <a:endParaRPr lang="en-US" sz="1800" dirty="0"/>
          </a:p>
        </p:txBody>
      </p:sp>
      <p:sp>
        <p:nvSpPr>
          <p:cNvPr id="25" name="Text 23"/>
          <p:cNvSpPr/>
          <p:nvPr/>
        </p:nvSpPr>
        <p:spPr>
          <a:xfrm>
            <a:off x="9379001" y="1737360"/>
            <a:ext cx="475488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효과(상위 20개 검색 실패율)</a:t>
            </a:r>
            <a:endParaRPr lang="en-US" sz="1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9379001" y="2240280"/>
          <a:ext cx="4754880" cy="914400"/>
        </p:xfrm>
        <a:graphic>
          <a:graphicData uri="http://schemas.openxmlformats.org/drawingml/2006/table">
            <a:tbl>
              <a:tblPr/>
              <a:tblGrid>
                <a:gridCol w="2011680"/>
                <a:gridCol w="1371600"/>
                <a:gridCol w="1371600"/>
              </a:tblGrid>
              <a:tr h="41148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구성</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실패율</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감소</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기본 임베딩</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5.7%</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기준</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문맥 임베딩</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3.7%</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35%</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문맥 BM25 결합</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2.9%</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49%</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리랭킹 추가</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1.9%</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67%</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bl>
          </a:graphicData>
        </a:graphic>
      </p:graphicFrame>
      <p:sp>
        <p:nvSpPr>
          <p:cNvPr id="27" name="Text 24"/>
          <p:cNvSpPr/>
          <p:nvPr/>
        </p:nvSpPr>
        <p:spPr>
          <a:xfrm>
            <a:off x="9379001" y="4617720"/>
            <a:ext cx="475488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한계와 비용</a:t>
            </a:r>
            <a:endParaRPr lang="en-US" sz="1800" dirty="0"/>
          </a:p>
        </p:txBody>
      </p:sp>
      <p:sp>
        <p:nvSpPr>
          <p:cNvPr id="28" name="Text 25"/>
          <p:cNvSpPr/>
          <p:nvPr/>
        </p:nvSpPr>
        <p:spPr>
          <a:xfrm>
            <a:off x="9379001" y="5120640"/>
            <a:ext cx="4754880" cy="1143000"/>
          </a:xfrm>
          <a:prstGeom prst="roundRect">
            <a:avLst>
              <a:gd name="adj" fmla="val 8000"/>
            </a:avLst>
          </a:prstGeom>
          <a:solidFill>
            <a:srgbClr val="EEF3FA"/>
          </a:solidFill>
          <a:ln w="12700">
            <a:solidFill>
              <a:srgbClr val="D9E0EC"/>
            </a:solidFill>
          </a:ln>
        </p:spPr>
        <p:txBody>
          <a:bodyPr wrap="square" lIns="182880" tIns="128016" rIns="182880" bIns="91440" rtlCol="0" anchor="t"/>
          <a:lstStyle/>
          <a:p>
            <a:pPr algn="l" marL="228600" indent="-228600">
              <a:spcAft>
                <a:spcPts val="700"/>
              </a:spcAft>
              <a:buSzPct val="100000"/>
              <a:buChar char="•"/>
            </a:pPr>
            <a:r>
              <a:rPr lang="en-US" sz="1400" dirty="0">
                <a:solidFill>
                  <a:srgbClr val="2B3242"/>
                </a:solidFill>
                <a:latin typeface="Pretendard" pitchFamily="34" charset="0"/>
                <a:ea typeface="Pretendard" pitchFamily="34" charset="-122"/>
                <a:cs typeface="Pretendard" pitchFamily="34" charset="-120"/>
              </a:rPr>
              <a:t>청크마다 LLM 호출. 색인 1회에 문서 100만 토큰당 약 1달러(캐싱 전제)</a:t>
            </a:r>
            <a:endParaRPr lang="en-US" sz="1400" dirty="0"/>
          </a:p>
          <a:p>
            <a:pPr algn="l" marL="228600" indent="-228600">
              <a:spcAft>
                <a:spcPts val="700"/>
              </a:spcAft>
              <a:buSzPct val="100000"/>
              <a:buChar char="•"/>
            </a:pPr>
            <a:r>
              <a:rPr lang="en-US" sz="1400" dirty="0">
                <a:solidFill>
                  <a:srgbClr val="2B3242"/>
                </a:solidFill>
                <a:latin typeface="Pretendard" pitchFamily="34" charset="0"/>
                <a:ea typeface="Pretendard" pitchFamily="34" charset="-122"/>
                <a:cs typeface="Pretendard" pitchFamily="34" charset="-120"/>
              </a:rPr>
              <a:t>Anthropic 자체 실험 수치. 내 데이터로 다시 측정</a:t>
            </a:r>
            <a:endParaRPr lang="en-US" sz="1400" dirty="0"/>
          </a:p>
        </p:txBody>
      </p:sp>
      <p:sp>
        <p:nvSpPr>
          <p:cNvPr id="29" name="Shape 26"/>
          <p:cNvSpPr/>
          <p:nvPr/>
        </p:nvSpPr>
        <p:spPr>
          <a:xfrm>
            <a:off x="509321" y="6355080"/>
            <a:ext cx="64008" cy="365760"/>
          </a:xfrm>
          <a:prstGeom prst="rect">
            <a:avLst/>
          </a:prstGeom>
          <a:solidFill>
            <a:srgbClr val="2E74C6"/>
          </a:solidFill>
          <a:ln/>
        </p:spPr>
      </p:sp>
      <p:sp>
        <p:nvSpPr>
          <p:cNvPr id="30" name="Text 27"/>
          <p:cNvSpPr txBox="1"/>
          <p:nvPr/>
        </p:nvSpPr>
        <p:spPr>
          <a:xfrm>
            <a:off x="692201" y="6355080"/>
            <a:ext cx="10920679" cy="365760"/>
          </a:xfrm>
          <a:prstGeom prst="rect">
            <a:avLst/>
          </a:prstGeom>
          <a:noFill/>
          <a:ln/>
        </p:spPr>
        <p:txBody>
          <a:bodyPr wrap="square" lIns="0" tIns="0" rIns="0" bIns="0" rtlCol="0" anchor="ctr"/>
          <a:lstStyle/>
          <a:p>
            <a:pPr indent="0" marL="0">
              <a:buNone/>
            </a:pPr>
            <a:r>
              <a:rPr lang="en-US" sz="1600" b="1" i="1" dirty="0">
                <a:solidFill>
                  <a:srgbClr val="1E2A5C"/>
                </a:solidFill>
                <a:latin typeface="Pretendard" pitchFamily="34" charset="0"/>
                <a:ea typeface="Pretendard" pitchFamily="34" charset="-122"/>
                <a:cs typeface="Pretendard" pitchFamily="34" charset="-120"/>
              </a:rPr>
              <a:t>지식베이스가 20만 토큰(약 500쪽) 미만이면 RAG 없이 통째로 넣는 편이 낫다고 Anthropic이 안내합니다.</a:t>
            </a:r>
            <a:endParaRPr lang="en-US" sz="1600" dirty="0"/>
          </a:p>
        </p:txBody>
      </p:sp>
      <p:sp>
        <p:nvSpPr>
          <p:cNvPr id="31" name="Shape 28"/>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32" name="Text 29">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33" name="Shape 30"/>
          <p:cNvSpPr/>
          <p:nvPr/>
        </p:nvSpPr>
        <p:spPr>
          <a:xfrm>
            <a:off x="509321" y="7388352"/>
            <a:ext cx="13624560" cy="0"/>
          </a:xfrm>
          <a:prstGeom prst="line">
            <a:avLst/>
          </a:prstGeom>
          <a:noFill/>
          <a:ln w="12700">
            <a:solidFill>
              <a:srgbClr val="E9ECF3"/>
            </a:solidFill>
            <a:prstDash val="solid"/>
          </a:ln>
        </p:spPr>
      </p:sp>
      <p:sp>
        <p:nvSpPr>
          <p:cNvPr id="34" name="Text 31"/>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200" dirty="0">
                <a:solidFill>
                  <a:srgbClr val="7C8598"/>
                </a:solidFill>
                <a:latin typeface="Pretendard" pitchFamily="34" charset="0"/>
                <a:ea typeface="Pretendard" pitchFamily="34" charset="-122"/>
                <a:cs typeface="Pretendard" pitchFamily="34" charset="-120"/>
              </a:rPr>
              <a:t>출처: Anthropic, Introducing Contextual Retrieval (2024-09-19). Anthropic 쿡북 contextual-embeddings 노트북. 후속 연구: Adaptive Chunking, SCAR, 청킹 가치 평가 (arXiv 2026)</a:t>
            </a:r>
            <a:endParaRPr lang="en-US" sz="1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Contextual Retrieval: 청크에 문맥을 붙여 색인하기</dc:title>
  <dc:subject>PptxGenJS Presentation</dc:subject>
  <dc:creator>hybrid-ai 교육팀</dc:creator>
  <cp:lastModifiedBy>hybrid-ai 교육팀</cp:lastModifiedBy>
  <cp:revision>1</cp:revision>
  <dcterms:created xsi:type="dcterms:W3CDTF">2026-10-21T15:51:04Z</dcterms:created>
  <dcterms:modified xsi:type="dcterms:W3CDTF">2026-10-21T15:51:04Z</dcterms:modified>
</cp:coreProperties>
</file>