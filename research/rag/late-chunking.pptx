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Late Chunking: 문서 전체를 먼저 임베딩하고 나중에 자르기
핵심 한 줄: 기존 방식은 "자르고 나서 임베딩"이라 청크끼리 서로 못 봅니다. Late Chunking은 "임베딩하고 나서 자르기"라서 토큰 벡터 하나하나에 문서 전체 정보가 섞인 뒤에 청크 구간별로 평균을 냅니다. 추가 학습도 LLM 호출도 없습니다.
블로그 예시: 베를린 위키 문서를 문장 단위로 자르면 "Its more than 3.85 million inhabitants make it the European Union's most populous city..." 문장에 Berlin이라는 단어가 없습니다. 논문 표 1(jina-embeddings-v2-small)에서 이 문장과 "Berlin"의 코사인 유사도는 기존 0.7084, Late 0.8249입니다. 다른 두 문장도 0.75에서 0.85, 0.85에서 0.85로 같거나 올랐습니다.
처리 절차 보충: 경계 단서는 여전히 필요하고, 쓰는 시점만 모델 통과 뒤로 밀립니다. 코드는 tokenizer의 offset mapping으로 글자 위치를 토큰 번호 구간으로 바꾸고, 구간의 토큰 벡터를 더해 개수로 나눕니다(공식 저장소 chunked_pooling). 블로그 1편은 "앞 청크에 조건화"라고 썼지만 2편이 "양방향"으로 바로잡았습니다.
긴 문서: 모델 한도 8192토큰을 넘으면 long late chunking(논문 v3 3.1절)을 씁니다. 큰 창으로 나눠 각각 통과시키되 창끼리 512토큰을 겹쳐 문맥을 보충하고, 겹친 앞부분 출력은 버리고 이어 붙입니다.
효과 표 조건: 고정 256토큰 청크, 겹침 없음, BEIR 4개 데이터셋, nDCG@10(상위 10개 순서 점수, 높을수록 좋음). 3개 모델 평균 상대 향상은 고정 크기 +3.46%, 문장 경계 +3.63%, 의미 경계 +2.70%입니다. 문서가 길수록 이득이 크고(NFCorpus 평균 1,589자 +6.5점, Quora 62자 변화 없음), 청크가 작을수록 이득이 큽니다.
지원 모델: Jina API는 요청에 late_chunking: true를 주면 되고, 2026년 10월 OpenAPI 명세 기준 jina-embeddings-v3와 v4에만 있습니다(v2, v5 없음). 로컬 실행은 jina-embeddings-v3(572M, 약 2.1GB, trust_remote_code 필요)이며 라이선스가 CC BY-NC 4.0이라 상업 이용은 문의가 필요합니다. 일반 조건은 토큰 벡터 접근 가능, 8192 이상 긴 문맥, 평균 풀링 모델입니다. CLS나 max 풀링 모델은 부적합합니다.
한계와 독립 비교: 1차 출처가 모두 Jina 측 자료입니다. 독립 비교(arXiv 2504.19754, NFCorpus 20% 부분집합, jina-v3, 512토큰 청크)에서 nDCG@10은 Late 0.294, Contextual Retrieval 0.308이었습니다. 다만 Contextual 쪽에 BM25 결합과 리랭커가 포함되어 순수 비교는 아닙니다. 같은 연구에서 BGE-M3는 NFCorpus 0.225에서 0.067로 크게 떨어져, 모델을 가려 써야 합니다.
실습 적용 포인트: Cohere embed API는 텍스트마다 최종 벡터 하나만 주므로 구간 평균을 낼 토큰 벡터가 없습니다. 적용하려면 임베딩 모델을 Jina로 바꿔야 하고, 질문 벡터도 같은 모델로 만들어야 하며 기존 Cohere 인덱스와 섞을 수 없습니다. BM25 색인과 청크 문장은 그대로 씁니다. Chroma에는 미리 계산한 벡터를 upsert의 embeddings 인자로 넣습니다. 상세 문서 9절에 Jina API 방식과 로컬 방식 Python 예시가 있습니다.
Contextual Retrieval과의 차이: Contextual은 글 자체에 문맥을 써 넣어 임베딩과 BM25가 함께 좋아지지만 청크마다 LLM 비용이 듭니다. Late Chunking은 비용이 거의 없지만 글이 바뀌지 않아 BM25에는 영향이 없고 모델 제약이 큽니다.
상세 문서: https://github.com/unicorn-campus/hybrid-ai/blob/main/research/rag/late-chunking.md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Late Chunking 원리: 자르는 시점만 모델 통과 뒤로 옮깁니다
위 줄(기존 방식): 문서를 청크 3개로 자른 뒤 청크마다 임베딩 모델을 따로 통과시킵니다. 모델은 같은 모델 하나이고 3회 호출하는 것입니다. 모델이 한 번에 보는 글이 청크 하나뿐이라, "Its"가 베를린을 가리킨다는 정보가 벡터에 들어가지 못합니다.
아래 줄(Late Chunking): 같은 청크 경계를 쓰되, 문서 전체를 긴 문맥 임베딩 모델에 한 번 통과시켜 토큰 9개 각각의 벡터를 먼저 얻습니다. 임베딩 모델은 모든 토큰이 서로를 보는 양방향 구조라 토큰 벡터마다 문서 전체 정보가 섞입니다. 그 뒤 청크 경계대로 토큰 벡터를 구간별로 평균 내면 청크 벡터 3개가 나옵니다.
바뀌지 않는 것: 청크 수, 저장하는 벡터 수, 벡터DB 검색 방식은 기존과 같습니다. 바뀌는 것은 벡터에 담긴 문맥뿐이라 검색기 코드는 손대지 않아도 됩니다.
전제: 토큰별 벡터를 내주는 모델이어야 하고(Cohere embed API처럼 최종 벡터 하나만 주는 API는 불가), 문서 전체를 담을 긴 문맥 모델이어야 합니다. 모델 한도(jina-embeddings-v3는 8192토큰)를 넘는 문서는 큰 창으로 나눠 통과시키고 창끼리 512토큰을 겹쳐 문맥을 보충합니다(논문 v3의 long late chunking).
토큰 9개는 설명을 위한 단순화입니다. 실제로는 청크 하나가 수십에서 수백 토큰입니다. 글자 경계를 토큰 구간으로 바꿀 때는 tokenizer의 offset mapping을 씁니다.
오른쪽 표: 논문 표 1의 값으로, jina-embeddings-v2-small에서 각 문장 임베딩과 "Berlin" 임베딩의 코사인 유사도입니다. 베를린이라는 단어가 없는 문장 2가 0.7084에서 0.8249로 가장 크게 올랐습니다.
상세 문서: https://github.com/unicorn-campus/hybrid-ai/blob/main/research/rag/late-chunking.md#3-원리와-처리-절차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unicorn-campus/hybrid-ai/blob/main/research/rag/late-chunking.md"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unicorn-campus/hybrid-ai/blob/main/research/rag/late-chunking.md#3-&#50896;&#47532;&#50752;-&#52376;&#47532;-&#51208;&#52264;"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Late Chunking: 문서 전체를 먼저 임베딩하고 나중에 자르기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긴 문맥 임베딩 모델에 문서 전체를 한 번 통과시킨 뒤, 토큰 벡터를 청크 구간별로 평균 내어 문맥을 보존합니다.</a:t>
            </a:r>
            <a:endParaRPr lang="en-US" sz="1800" dirty="0"/>
          </a:p>
        </p:txBody>
      </p:sp>
      <p:sp>
        <p:nvSpPr>
          <p:cNvPr id="4" name="Text 2"/>
          <p:cNvSpPr/>
          <p:nvPr/>
        </p:nvSpPr>
        <p:spPr>
          <a:xfrm>
            <a:off x="509321" y="1737360"/>
            <a:ext cx="40690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왜 필요한가</a:t>
            </a:r>
            <a:endParaRPr lang="en-US" sz="1800" dirty="0"/>
          </a:p>
        </p:txBody>
      </p:sp>
      <p:sp>
        <p:nvSpPr>
          <p:cNvPr id="5" name="Text 3"/>
          <p:cNvSpPr/>
          <p:nvPr/>
        </p:nvSpPr>
        <p:spPr>
          <a:xfrm>
            <a:off x="509321" y="2240280"/>
            <a:ext cx="4069080" cy="2011680"/>
          </a:xfrm>
          <a:prstGeom prst="roundRect">
            <a:avLst>
              <a:gd name="adj" fmla="val 4545"/>
            </a:avLst>
          </a:prstGeom>
          <a:solidFill>
            <a:srgbClr val="EEF3FA"/>
          </a:solidFill>
          <a:ln w="12700">
            <a:solidFill>
              <a:srgbClr val="D9E0EC"/>
            </a:solidFill>
          </a:ln>
        </p:spPr>
        <p:txBody>
          <a:bodyPr wrap="square" lIns="182880" tIns="128016" rIns="182880" bIns="91440" rtlCol="0" anchor="t"/>
          <a:lstStyle/>
          <a:p>
            <a:pPr algn="l" indent="0" marL="0">
              <a:spcAft>
                <a:spcPts val="1000"/>
              </a:spcAft>
              <a:buNone/>
            </a:pPr>
            <a:r>
              <a:rPr lang="en-US" sz="1500" dirty="0">
                <a:solidFill>
                  <a:srgbClr val="2B3242"/>
                </a:solidFill>
                <a:latin typeface="Pretendard" pitchFamily="34" charset="0"/>
                <a:ea typeface="Pretendard" pitchFamily="34" charset="-122"/>
                <a:cs typeface="Pretendard" pitchFamily="34" charset="-120"/>
              </a:rPr>
              <a:t>질문: 베를린의 인구는?</a:t>
            </a:r>
            <a:endParaRPr lang="en-US" sz="1500" dirty="0"/>
          </a:p>
          <a:p>
            <a:pPr algn="l" indent="0" marL="0">
              <a:spcAft>
                <a:spcPts val="1000"/>
              </a:spcAft>
              <a:buNone/>
            </a:pPr>
            <a:r>
              <a:rPr lang="en-US" sz="1500" dirty="0">
                <a:solidFill>
                  <a:srgbClr val="2B3242"/>
                </a:solidFill>
                <a:latin typeface="Pretendard" pitchFamily="34" charset="0"/>
                <a:ea typeface="Pretendard" pitchFamily="34" charset="-122"/>
                <a:cs typeface="Pretendard" pitchFamily="34" charset="-120"/>
              </a:rPr>
              <a:t>청크: "Its more than 3.85 million inhabitants..."</a:t>
            </a:r>
            <a:endParaRPr lang="en-US" sz="1500" dirty="0"/>
          </a:p>
          <a:p>
            <a:pPr algn="l" indent="0" marL="0">
              <a:spcAft>
                <a:spcPts val="1000"/>
              </a:spcAft>
              <a:buNone/>
            </a:pPr>
            <a:r>
              <a:rPr lang="en-US" sz="1500" dirty="0">
                <a:solidFill>
                  <a:srgbClr val="2B3242"/>
                </a:solidFill>
                <a:latin typeface="Pretendard" pitchFamily="34" charset="0"/>
                <a:ea typeface="Pretendard" pitchFamily="34" charset="-122"/>
                <a:cs typeface="Pretendard" pitchFamily="34" charset="-120"/>
              </a:rPr>
              <a:t>"Its"가 무엇인지 몰라 Berlin 질문에 안 걸림</a:t>
            </a:r>
            <a:endParaRPr lang="en-US" sz="1500" dirty="0"/>
          </a:p>
          <a:p>
            <a:pPr algn="l" indent="0" marL="0">
              <a:spcAft>
                <a:spcPts val="1000"/>
              </a:spcAft>
              <a:buNone/>
            </a:pPr>
            <a:r>
              <a:rPr lang="en-US" sz="1500" dirty="0">
                <a:solidFill>
                  <a:srgbClr val="2B3242"/>
                </a:solidFill>
                <a:latin typeface="Pretendard" pitchFamily="34" charset="0"/>
                <a:ea typeface="Pretendard" pitchFamily="34" charset="-122"/>
                <a:cs typeface="Pretendard" pitchFamily="34" charset="-120"/>
              </a:rPr>
              <a:t>Late 적용 뒤 Berlin과 유사도 0.71 → 0.82</a:t>
            </a:r>
            <a:endParaRPr lang="en-US" sz="1500" dirty="0"/>
          </a:p>
        </p:txBody>
      </p:sp>
      <p:sp>
        <p:nvSpPr>
          <p:cNvPr id="6" name="Text 4"/>
          <p:cNvSpPr/>
          <p:nvPr/>
        </p:nvSpPr>
        <p:spPr>
          <a:xfrm>
            <a:off x="509321" y="4389120"/>
            <a:ext cx="40690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실습 적용(Chroma + Cohere)</a:t>
            </a:r>
            <a:endParaRPr lang="en-US" sz="1800" dirty="0"/>
          </a:p>
        </p:txBody>
      </p:sp>
      <p:sp>
        <p:nvSpPr>
          <p:cNvPr id="7" name="Text 5"/>
          <p:cNvSpPr/>
          <p:nvPr/>
        </p:nvSpPr>
        <p:spPr>
          <a:xfrm>
            <a:off x="509321" y="4892040"/>
            <a:ext cx="4069080" cy="1371600"/>
          </a:xfrm>
          <a:prstGeom prst="roundRect">
            <a:avLst>
              <a:gd name="adj" fmla="val 6667"/>
            </a:avLst>
          </a:prstGeom>
          <a:solidFill>
            <a:srgbClr val="EEF3FA"/>
          </a:solidFill>
          <a:ln w="12700">
            <a:solidFill>
              <a:srgbClr val="D9E0EC"/>
            </a:solidFill>
          </a:ln>
        </p:spPr>
        <p:txBody>
          <a:bodyPr wrap="square" lIns="182880" tIns="128016" rIns="182880" bIns="91440" rtlCol="0" anchor="t"/>
          <a:lstStyle/>
          <a:p>
            <a:pPr algn="l" marL="228600" indent="-228600">
              <a:spcAft>
                <a:spcPts val="600"/>
              </a:spcAft>
              <a:buSzPct val="100000"/>
              <a:buChar char="•"/>
            </a:pPr>
            <a:r>
              <a:rPr lang="en-US" sz="1400" dirty="0">
                <a:solidFill>
                  <a:srgbClr val="2B3242"/>
                </a:solidFill>
                <a:latin typeface="Pretendard" pitchFamily="34" charset="0"/>
                <a:ea typeface="Pretendard" pitchFamily="34" charset="-122"/>
                <a:cs typeface="Pretendard" pitchFamily="34" charset="-120"/>
              </a:rPr>
              <a:t>Cohere API는 토큰 벡터를 안 줘 적용 불가</a:t>
            </a:r>
            <a:endParaRPr lang="en-US" sz="1400" dirty="0"/>
          </a:p>
          <a:p>
            <a:pPr algn="l" marL="228600" indent="-228600">
              <a:spcAft>
                <a:spcPts val="600"/>
              </a:spcAft>
              <a:buSzPct val="100000"/>
              <a:buChar char="•"/>
            </a:pPr>
            <a:r>
              <a:rPr lang="en-US" sz="1400" dirty="0">
                <a:solidFill>
                  <a:srgbClr val="2B3242"/>
                </a:solidFill>
                <a:latin typeface="Pretendard" pitchFamily="34" charset="0"/>
                <a:ea typeface="Pretendard" pitchFamily="34" charset="-122"/>
                <a:cs typeface="Pretendard" pitchFamily="34" charset="-120"/>
              </a:rPr>
              <a:t>대안: Jina API late_chunking 또는 jina-v3 로컬</a:t>
            </a:r>
            <a:endParaRPr lang="en-US" sz="1400" dirty="0"/>
          </a:p>
          <a:p>
            <a:pPr algn="l" marL="228600" indent="-228600">
              <a:spcAft>
                <a:spcPts val="600"/>
              </a:spcAft>
              <a:buSzPct val="100000"/>
              <a:buChar char="•"/>
            </a:pPr>
            <a:r>
              <a:rPr lang="en-US" sz="1400" dirty="0">
                <a:solidFill>
                  <a:srgbClr val="2B3242"/>
                </a:solidFill>
                <a:latin typeface="Pretendard" pitchFamily="34" charset="0"/>
                <a:ea typeface="Pretendard" pitchFamily="34" charset="-122"/>
                <a:cs typeface="Pretendard" pitchFamily="34" charset="-120"/>
              </a:rPr>
              <a:t>질문도 같은 모델로 임베딩, Chroma에는 벡터만</a:t>
            </a:r>
            <a:endParaRPr lang="en-US" sz="1400" dirty="0"/>
          </a:p>
        </p:txBody>
      </p:sp>
      <p:sp>
        <p:nvSpPr>
          <p:cNvPr id="8" name="Text 6"/>
          <p:cNvSpPr/>
          <p:nvPr/>
        </p:nvSpPr>
        <p:spPr>
          <a:xfrm>
            <a:off x="4807001" y="1737360"/>
            <a:ext cx="434340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처리 절차</a:t>
            </a:r>
            <a:endParaRPr lang="en-US" sz="1800" dirty="0"/>
          </a:p>
        </p:txBody>
      </p:sp>
      <p:sp>
        <p:nvSpPr>
          <p:cNvPr id="9" name="Shape 7"/>
          <p:cNvSpPr/>
          <p:nvPr/>
        </p:nvSpPr>
        <p:spPr>
          <a:xfrm>
            <a:off x="4807001" y="2240280"/>
            <a:ext cx="4343400" cy="937260"/>
          </a:xfrm>
          <a:prstGeom prst="roundRect">
            <a:avLst>
              <a:gd name="adj" fmla="val 7805"/>
            </a:avLst>
          </a:prstGeom>
          <a:solidFill>
            <a:srgbClr val="F5F8FC"/>
          </a:solidFill>
          <a:ln w="12700">
            <a:solidFill>
              <a:srgbClr val="D9E0EC"/>
            </a:solidFill>
            <a:prstDash val="solid"/>
          </a:ln>
        </p:spPr>
      </p:sp>
      <p:sp>
        <p:nvSpPr>
          <p:cNvPr id="10" name="Shape 8"/>
          <p:cNvSpPr/>
          <p:nvPr/>
        </p:nvSpPr>
        <p:spPr>
          <a:xfrm>
            <a:off x="4944161" y="2507742"/>
            <a:ext cx="402336" cy="402336"/>
          </a:xfrm>
          <a:prstGeom prst="roundRect">
            <a:avLst>
              <a:gd name="adj" fmla="val 11364"/>
            </a:avLst>
          </a:prstGeom>
          <a:solidFill>
            <a:srgbClr val="2E74C6"/>
          </a:solidFill>
          <a:ln/>
        </p:spPr>
      </p:sp>
      <p:sp>
        <p:nvSpPr>
          <p:cNvPr id="11" name="Text 9"/>
          <p:cNvSpPr/>
          <p:nvPr/>
        </p:nvSpPr>
        <p:spPr>
          <a:xfrm>
            <a:off x="4944161" y="25077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12" name="Text 10"/>
          <p:cNvSpPr txBox="1"/>
          <p:nvPr/>
        </p:nvSpPr>
        <p:spPr>
          <a:xfrm>
            <a:off x="5447081" y="22402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기존 splitter로 청크 경계를 정함(경계는 여전히 필요)</a:t>
            </a:r>
            <a:endParaRPr lang="en-US" sz="1800" dirty="0"/>
          </a:p>
        </p:txBody>
      </p:sp>
      <p:sp>
        <p:nvSpPr>
          <p:cNvPr id="13" name="Shape 11"/>
          <p:cNvSpPr/>
          <p:nvPr/>
        </p:nvSpPr>
        <p:spPr>
          <a:xfrm>
            <a:off x="4807001" y="3268980"/>
            <a:ext cx="4343400" cy="937260"/>
          </a:xfrm>
          <a:prstGeom prst="roundRect">
            <a:avLst>
              <a:gd name="adj" fmla="val 7805"/>
            </a:avLst>
          </a:prstGeom>
          <a:solidFill>
            <a:srgbClr val="F5F8FC"/>
          </a:solidFill>
          <a:ln w="12700">
            <a:solidFill>
              <a:srgbClr val="D9E0EC"/>
            </a:solidFill>
            <a:prstDash val="solid"/>
          </a:ln>
        </p:spPr>
      </p:sp>
      <p:sp>
        <p:nvSpPr>
          <p:cNvPr id="14" name="Shape 12"/>
          <p:cNvSpPr/>
          <p:nvPr/>
        </p:nvSpPr>
        <p:spPr>
          <a:xfrm>
            <a:off x="4944161" y="3536442"/>
            <a:ext cx="402336" cy="402336"/>
          </a:xfrm>
          <a:prstGeom prst="roundRect">
            <a:avLst>
              <a:gd name="adj" fmla="val 11364"/>
            </a:avLst>
          </a:prstGeom>
          <a:solidFill>
            <a:srgbClr val="2E74C6"/>
          </a:solidFill>
          <a:ln/>
        </p:spPr>
      </p:sp>
      <p:sp>
        <p:nvSpPr>
          <p:cNvPr id="15" name="Text 13"/>
          <p:cNvSpPr/>
          <p:nvPr/>
        </p:nvSpPr>
        <p:spPr>
          <a:xfrm>
            <a:off x="4944161" y="35364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6" name="Text 14"/>
          <p:cNvSpPr txBox="1"/>
          <p:nvPr/>
        </p:nvSpPr>
        <p:spPr>
          <a:xfrm>
            <a:off x="5447081" y="32689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문서 전체를 토큰화하고 글자 경계를 토큰 구간으로 바꿈</a:t>
            </a:r>
            <a:endParaRPr lang="en-US" sz="1800" dirty="0"/>
          </a:p>
        </p:txBody>
      </p:sp>
      <p:sp>
        <p:nvSpPr>
          <p:cNvPr id="17" name="Shape 15"/>
          <p:cNvSpPr/>
          <p:nvPr/>
        </p:nvSpPr>
        <p:spPr>
          <a:xfrm>
            <a:off x="4807001" y="4297680"/>
            <a:ext cx="4343400" cy="937260"/>
          </a:xfrm>
          <a:prstGeom prst="roundRect">
            <a:avLst>
              <a:gd name="adj" fmla="val 7805"/>
            </a:avLst>
          </a:prstGeom>
          <a:solidFill>
            <a:srgbClr val="F5F8FC"/>
          </a:solidFill>
          <a:ln w="12700">
            <a:solidFill>
              <a:srgbClr val="D9E0EC"/>
            </a:solidFill>
            <a:prstDash val="solid"/>
          </a:ln>
        </p:spPr>
      </p:sp>
      <p:sp>
        <p:nvSpPr>
          <p:cNvPr id="18" name="Shape 16"/>
          <p:cNvSpPr/>
          <p:nvPr/>
        </p:nvSpPr>
        <p:spPr>
          <a:xfrm>
            <a:off x="4944161" y="4565142"/>
            <a:ext cx="402336" cy="402336"/>
          </a:xfrm>
          <a:prstGeom prst="roundRect">
            <a:avLst>
              <a:gd name="adj" fmla="val 11364"/>
            </a:avLst>
          </a:prstGeom>
          <a:solidFill>
            <a:srgbClr val="2E74C6"/>
          </a:solidFill>
          <a:ln/>
        </p:spPr>
      </p:sp>
      <p:sp>
        <p:nvSpPr>
          <p:cNvPr id="19" name="Text 17"/>
          <p:cNvSpPr/>
          <p:nvPr/>
        </p:nvSpPr>
        <p:spPr>
          <a:xfrm>
            <a:off x="4944161" y="45651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20" name="Text 18"/>
          <p:cNvSpPr txBox="1"/>
          <p:nvPr/>
        </p:nvSpPr>
        <p:spPr>
          <a:xfrm>
            <a:off x="5447081" y="42976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모델을 한 번 통과시켜 토큰 벡터를 얻음(모든 토큰이 문서 전체를 봄)</a:t>
            </a:r>
            <a:endParaRPr lang="en-US" sz="1800" dirty="0"/>
          </a:p>
        </p:txBody>
      </p:sp>
      <p:sp>
        <p:nvSpPr>
          <p:cNvPr id="21" name="Shape 19"/>
          <p:cNvSpPr/>
          <p:nvPr/>
        </p:nvSpPr>
        <p:spPr>
          <a:xfrm>
            <a:off x="4807001" y="5326380"/>
            <a:ext cx="4343400" cy="937260"/>
          </a:xfrm>
          <a:prstGeom prst="roundRect">
            <a:avLst>
              <a:gd name="adj" fmla="val 7805"/>
            </a:avLst>
          </a:prstGeom>
          <a:solidFill>
            <a:srgbClr val="F5F8FC"/>
          </a:solidFill>
          <a:ln w="12700">
            <a:solidFill>
              <a:srgbClr val="D9E0EC"/>
            </a:solidFill>
            <a:prstDash val="solid"/>
          </a:ln>
        </p:spPr>
      </p:sp>
      <p:sp>
        <p:nvSpPr>
          <p:cNvPr id="22" name="Shape 20"/>
          <p:cNvSpPr/>
          <p:nvPr/>
        </p:nvSpPr>
        <p:spPr>
          <a:xfrm>
            <a:off x="4944161" y="5593842"/>
            <a:ext cx="402336" cy="402336"/>
          </a:xfrm>
          <a:prstGeom prst="roundRect">
            <a:avLst>
              <a:gd name="adj" fmla="val 11364"/>
            </a:avLst>
          </a:prstGeom>
          <a:solidFill>
            <a:srgbClr val="2E74C6"/>
          </a:solidFill>
          <a:ln/>
        </p:spPr>
      </p:sp>
      <p:sp>
        <p:nvSpPr>
          <p:cNvPr id="23" name="Text 21"/>
          <p:cNvSpPr/>
          <p:nvPr/>
        </p:nvSpPr>
        <p:spPr>
          <a:xfrm>
            <a:off x="4944161" y="559384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4" name="Text 22"/>
          <p:cNvSpPr txBox="1"/>
          <p:nvPr/>
        </p:nvSpPr>
        <p:spPr>
          <a:xfrm>
            <a:off x="5447081" y="5326380"/>
            <a:ext cx="3566160" cy="937260"/>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청크 구간별로 토큰 벡터를 평균 내어 청크 벡터를 만듦</a:t>
            </a:r>
            <a:endParaRPr lang="en-US" sz="1800" dirty="0"/>
          </a:p>
        </p:txBody>
      </p:sp>
      <p:sp>
        <p:nvSpPr>
          <p:cNvPr id="25" name="Text 23"/>
          <p:cNvSpPr/>
          <p:nvPr/>
        </p:nvSpPr>
        <p:spPr>
          <a:xfrm>
            <a:off x="9379001" y="1737360"/>
            <a:ext cx="47548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효과(nDCG@10, jina-embeddings-v3)</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9379001" y="2240280"/>
          <a:ext cx="4754880" cy="914400"/>
        </p:xfrm>
        <a:graphic>
          <a:graphicData uri="http://schemas.openxmlformats.org/drawingml/2006/table">
            <a:tbl>
              <a:tblPr/>
              <a:tblGrid>
                <a:gridCol w="1828800"/>
                <a:gridCol w="1463040"/>
                <a:gridCol w="1463040"/>
              </a:tblGrid>
              <a:tr h="41148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데이터셋</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기존 청킹</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Late</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SciFact</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71.8</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73.2</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NFCorpus</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35.6</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36.7</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FiQA</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46.3</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47.6</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TRECCOVID</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73.0</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77.2</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27" name="Text 24"/>
          <p:cNvSpPr/>
          <p:nvPr/>
        </p:nvSpPr>
        <p:spPr>
          <a:xfrm>
            <a:off x="9379001" y="4617720"/>
            <a:ext cx="47548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한계</a:t>
            </a:r>
            <a:endParaRPr lang="en-US" sz="1800" dirty="0"/>
          </a:p>
        </p:txBody>
      </p:sp>
      <p:sp>
        <p:nvSpPr>
          <p:cNvPr id="28" name="Text 25"/>
          <p:cNvSpPr/>
          <p:nvPr/>
        </p:nvSpPr>
        <p:spPr>
          <a:xfrm>
            <a:off x="9379001" y="5120640"/>
            <a:ext cx="4754880" cy="1143000"/>
          </a:xfrm>
          <a:prstGeom prst="roundRect">
            <a:avLst>
              <a:gd name="adj" fmla="val 8000"/>
            </a:avLst>
          </a:prstGeom>
          <a:solidFill>
            <a:srgbClr val="EEF3FA"/>
          </a:solidFill>
          <a:ln w="12700">
            <a:solidFill>
              <a:srgbClr val="D9E0EC"/>
            </a:solidFill>
          </a:ln>
        </p:spPr>
        <p:txBody>
          <a:bodyPr wrap="square" lIns="182880" tIns="128016" rIns="182880" bIns="91440" rtlCol="0" anchor="t"/>
          <a:lstStyle/>
          <a:p>
            <a:pPr algn="l" marL="228600" indent="-228600">
              <a:spcAft>
                <a:spcPts val="700"/>
              </a:spcAft>
              <a:buSzPct val="100000"/>
              <a:buChar char="•"/>
            </a:pPr>
            <a:r>
              <a:rPr lang="en-US" sz="1400" dirty="0">
                <a:solidFill>
                  <a:srgbClr val="2B3242"/>
                </a:solidFill>
                <a:latin typeface="Pretendard" pitchFamily="34" charset="0"/>
                <a:ea typeface="Pretendard" pitchFamily="34" charset="-122"/>
                <a:cs typeface="Pretendard" pitchFamily="34" charset="-120"/>
              </a:rPr>
              <a:t>토큰 벡터를 주고 문서를 통째로 담는 긴 문맥 평균 풀링 모델 필요</a:t>
            </a:r>
            <a:endParaRPr lang="en-US" sz="1400" dirty="0"/>
          </a:p>
          <a:p>
            <a:pPr algn="l" marL="228600" indent="-228600">
              <a:spcAft>
                <a:spcPts val="700"/>
              </a:spcAft>
              <a:buSzPct val="100000"/>
              <a:buChar char="•"/>
            </a:pPr>
            <a:r>
              <a:rPr lang="en-US" sz="1400" dirty="0">
                <a:solidFill>
                  <a:srgbClr val="2B3242"/>
                </a:solidFill>
                <a:latin typeface="Pretendard" pitchFamily="34" charset="0"/>
                <a:ea typeface="Pretendard" pitchFamily="34" charset="-122"/>
                <a:cs typeface="Pretendard" pitchFamily="34" charset="-120"/>
              </a:rPr>
              <a:t>글은 그대로라 BM25 효과 없음. 짧은 문서는 이득 작음</a:t>
            </a:r>
            <a:endParaRPr lang="en-US" sz="1400" dirty="0"/>
          </a:p>
        </p:txBody>
      </p:sp>
      <p:sp>
        <p:nvSpPr>
          <p:cNvPr id="29" name="Shape 26"/>
          <p:cNvSpPr/>
          <p:nvPr/>
        </p:nvSpPr>
        <p:spPr>
          <a:xfrm>
            <a:off x="509321" y="6355080"/>
            <a:ext cx="64008" cy="365760"/>
          </a:xfrm>
          <a:prstGeom prst="rect">
            <a:avLst/>
          </a:prstGeom>
          <a:solidFill>
            <a:srgbClr val="2E74C6"/>
          </a:solidFill>
          <a:ln/>
        </p:spPr>
      </p:sp>
      <p:sp>
        <p:nvSpPr>
          <p:cNvPr id="30" name="Text 27"/>
          <p:cNvSpPr txBox="1"/>
          <p:nvPr/>
        </p:nvSpPr>
        <p:spPr>
          <a:xfrm>
            <a:off x="692201" y="6355080"/>
            <a:ext cx="10920679" cy="365760"/>
          </a:xfrm>
          <a:prstGeom prst="rect">
            <a:avLst/>
          </a:prstGeom>
          <a:noFill/>
          <a:ln/>
        </p:spPr>
        <p:txBody>
          <a:bodyPr wrap="square" lIns="0" tIns="0" rIns="0" bIns="0" rtlCol="0" anchor="ctr"/>
          <a:lstStyle/>
          <a:p>
            <a:pPr indent="0" marL="0">
              <a:buNone/>
            </a:pPr>
            <a:r>
              <a:rPr lang="en-US" sz="1600" b="1" i="1" dirty="0">
                <a:solidFill>
                  <a:srgbClr val="1E2A5C"/>
                </a:solidFill>
                <a:latin typeface="Pretendard" pitchFamily="34" charset="0"/>
                <a:ea typeface="Pretendard" pitchFamily="34" charset="-122"/>
                <a:cs typeface="Pretendard" pitchFamily="34" charset="-120"/>
              </a:rPr>
              <a:t>LLM 호출 없이 문맥을 얻지만, 독립 비교(NFCorpus nDCG@10)에서는 Contextual 0.308 대 Late 0.294로 뒤졌습니다.</a:t>
            </a:r>
            <a:endParaRPr lang="en-US" sz="1600" dirty="0"/>
          </a:p>
        </p:txBody>
      </p:sp>
      <p:sp>
        <p:nvSpPr>
          <p:cNvPr id="31" name="Shape 28"/>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32" name="Text 29">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33" name="Shape 30"/>
          <p:cNvSpPr/>
          <p:nvPr/>
        </p:nvSpPr>
        <p:spPr>
          <a:xfrm>
            <a:off x="509321" y="7388352"/>
            <a:ext cx="13624560" cy="0"/>
          </a:xfrm>
          <a:prstGeom prst="line">
            <a:avLst/>
          </a:prstGeom>
          <a:noFill/>
          <a:ln w="12700">
            <a:solidFill>
              <a:srgbClr val="E9ECF3"/>
            </a:solidFill>
            <a:prstDash val="solid"/>
          </a:ln>
        </p:spPr>
      </p:sp>
      <p:sp>
        <p:nvSpPr>
          <p:cNvPr id="34" name="Text 31"/>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200" dirty="0">
                <a:solidFill>
                  <a:srgbClr val="7C8598"/>
                </a:solidFill>
                <a:latin typeface="Pretendard" pitchFamily="34" charset="0"/>
                <a:ea typeface="Pretendard" pitchFamily="34" charset="-122"/>
                <a:cs typeface="Pretendard" pitchFamily="34" charset="-120"/>
              </a:rPr>
              <a:t>출처: Günther 외, Late Chunking (arXiv 2409.04701 v3). Jina AI 블로그 1편(2024-08-22)과 2편(2024-10-03). voyage-context-3, context-4 (Voyage AI, MongoDB)</a:t>
            </a:r>
            <a:endParaRPr lang="en-US" sz="1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Late Chunking 원리: 자르는 시점만 모델 통과 뒤로 옮깁니다</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청크 경계는 똑같이 미리 정합니다. 다른 점은 모델에 청크를 따로 넣느냐, 문서 전체를 한 번에 넣고 나서 나누느냐입니다.</a:t>
            </a:r>
            <a:endParaRPr lang="en-US" sz="1800" dirty="0"/>
          </a:p>
        </p:txBody>
      </p:sp>
      <p:sp>
        <p:nvSpPr>
          <p:cNvPr id="4" name="Text 2"/>
          <p:cNvSpPr/>
          <p:nvPr/>
        </p:nvSpPr>
        <p:spPr>
          <a:xfrm>
            <a:off x="509321" y="1737360"/>
            <a:ext cx="95554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기존 방식: 자르고 나서 임베딩 (chunk → embed)</a:t>
            </a:r>
            <a:endParaRPr lang="en-US" sz="1800" dirty="0"/>
          </a:p>
        </p:txBody>
      </p:sp>
      <p:sp>
        <p:nvSpPr>
          <p:cNvPr id="5" name="Shape 3"/>
          <p:cNvSpPr/>
          <p:nvPr/>
        </p:nvSpPr>
        <p:spPr>
          <a:xfrm>
            <a:off x="509321" y="2240280"/>
            <a:ext cx="2103120" cy="1371600"/>
          </a:xfrm>
          <a:prstGeom prst="roundRect">
            <a:avLst>
              <a:gd name="adj" fmla="val 5333"/>
            </a:avLst>
          </a:prstGeom>
          <a:solidFill>
            <a:srgbClr val="F5F8FC"/>
          </a:solidFill>
          <a:ln w="12700">
            <a:solidFill>
              <a:srgbClr val="D9E0EC"/>
            </a:solidFill>
            <a:prstDash val="solid"/>
          </a:ln>
        </p:spPr>
      </p:sp>
      <p:sp>
        <p:nvSpPr>
          <p:cNvPr id="6" name="Text 4"/>
          <p:cNvSpPr txBox="1"/>
          <p:nvPr/>
        </p:nvSpPr>
        <p:spPr>
          <a:xfrm>
            <a:off x="646481" y="2331720"/>
            <a:ext cx="182880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문서 (토큰 9개로 단순화)</a:t>
            </a:r>
            <a:endParaRPr lang="en-US" sz="1400" dirty="0"/>
          </a:p>
        </p:txBody>
      </p:sp>
      <p:sp>
        <p:nvSpPr>
          <p:cNvPr id="7" name="Shape 5"/>
          <p:cNvSpPr/>
          <p:nvPr/>
        </p:nvSpPr>
        <p:spPr>
          <a:xfrm>
            <a:off x="664769" y="2807208"/>
            <a:ext cx="155448" cy="155448"/>
          </a:xfrm>
          <a:prstGeom prst="roundRect">
            <a:avLst>
              <a:gd name="adj" fmla="val 17647"/>
            </a:avLst>
          </a:prstGeom>
          <a:solidFill>
            <a:srgbClr val="2E74C6"/>
          </a:solidFill>
          <a:ln/>
        </p:spPr>
      </p:sp>
      <p:sp>
        <p:nvSpPr>
          <p:cNvPr id="8" name="Shape 6"/>
          <p:cNvSpPr/>
          <p:nvPr/>
        </p:nvSpPr>
        <p:spPr>
          <a:xfrm>
            <a:off x="856793" y="2807208"/>
            <a:ext cx="155448" cy="155448"/>
          </a:xfrm>
          <a:prstGeom prst="roundRect">
            <a:avLst>
              <a:gd name="adj" fmla="val 17647"/>
            </a:avLst>
          </a:prstGeom>
          <a:solidFill>
            <a:srgbClr val="2E74C6"/>
          </a:solidFill>
          <a:ln/>
        </p:spPr>
      </p:sp>
      <p:sp>
        <p:nvSpPr>
          <p:cNvPr id="9" name="Shape 7"/>
          <p:cNvSpPr/>
          <p:nvPr/>
        </p:nvSpPr>
        <p:spPr>
          <a:xfrm>
            <a:off x="1048817" y="2807208"/>
            <a:ext cx="155448" cy="155448"/>
          </a:xfrm>
          <a:prstGeom prst="roundRect">
            <a:avLst>
              <a:gd name="adj" fmla="val 17647"/>
            </a:avLst>
          </a:prstGeom>
          <a:solidFill>
            <a:srgbClr val="2E74C6"/>
          </a:solidFill>
          <a:ln/>
        </p:spPr>
      </p:sp>
      <p:sp>
        <p:nvSpPr>
          <p:cNvPr id="10" name="Shape 8"/>
          <p:cNvSpPr/>
          <p:nvPr/>
        </p:nvSpPr>
        <p:spPr>
          <a:xfrm>
            <a:off x="1295705" y="2807208"/>
            <a:ext cx="155448" cy="155448"/>
          </a:xfrm>
          <a:prstGeom prst="roundRect">
            <a:avLst>
              <a:gd name="adj" fmla="val 17647"/>
            </a:avLst>
          </a:prstGeom>
          <a:solidFill>
            <a:srgbClr val="1E2A5C"/>
          </a:solidFill>
          <a:ln/>
        </p:spPr>
      </p:sp>
      <p:sp>
        <p:nvSpPr>
          <p:cNvPr id="11" name="Shape 9"/>
          <p:cNvSpPr/>
          <p:nvPr/>
        </p:nvSpPr>
        <p:spPr>
          <a:xfrm>
            <a:off x="1487729" y="2807208"/>
            <a:ext cx="155448" cy="155448"/>
          </a:xfrm>
          <a:prstGeom prst="roundRect">
            <a:avLst>
              <a:gd name="adj" fmla="val 17647"/>
            </a:avLst>
          </a:prstGeom>
          <a:solidFill>
            <a:srgbClr val="1E2A5C"/>
          </a:solidFill>
          <a:ln/>
        </p:spPr>
      </p:sp>
      <p:sp>
        <p:nvSpPr>
          <p:cNvPr id="12" name="Shape 10"/>
          <p:cNvSpPr/>
          <p:nvPr/>
        </p:nvSpPr>
        <p:spPr>
          <a:xfrm>
            <a:off x="1679753" y="2807208"/>
            <a:ext cx="155448" cy="155448"/>
          </a:xfrm>
          <a:prstGeom prst="roundRect">
            <a:avLst>
              <a:gd name="adj" fmla="val 17647"/>
            </a:avLst>
          </a:prstGeom>
          <a:solidFill>
            <a:srgbClr val="1E2A5C"/>
          </a:solidFill>
          <a:ln/>
        </p:spPr>
      </p:sp>
      <p:sp>
        <p:nvSpPr>
          <p:cNvPr id="13" name="Shape 11"/>
          <p:cNvSpPr/>
          <p:nvPr/>
        </p:nvSpPr>
        <p:spPr>
          <a:xfrm>
            <a:off x="1926641" y="2807208"/>
            <a:ext cx="155448" cy="155448"/>
          </a:xfrm>
          <a:prstGeom prst="roundRect">
            <a:avLst>
              <a:gd name="adj" fmla="val 17647"/>
            </a:avLst>
          </a:prstGeom>
          <a:solidFill>
            <a:srgbClr val="404155"/>
          </a:solidFill>
          <a:ln/>
        </p:spPr>
      </p:sp>
      <p:sp>
        <p:nvSpPr>
          <p:cNvPr id="14" name="Shape 12"/>
          <p:cNvSpPr/>
          <p:nvPr/>
        </p:nvSpPr>
        <p:spPr>
          <a:xfrm>
            <a:off x="2118665" y="2807208"/>
            <a:ext cx="155448" cy="155448"/>
          </a:xfrm>
          <a:prstGeom prst="roundRect">
            <a:avLst>
              <a:gd name="adj" fmla="val 17647"/>
            </a:avLst>
          </a:prstGeom>
          <a:solidFill>
            <a:srgbClr val="404155"/>
          </a:solidFill>
          <a:ln/>
        </p:spPr>
      </p:sp>
      <p:sp>
        <p:nvSpPr>
          <p:cNvPr id="15" name="Shape 13"/>
          <p:cNvSpPr/>
          <p:nvPr/>
        </p:nvSpPr>
        <p:spPr>
          <a:xfrm>
            <a:off x="2310689" y="2807208"/>
            <a:ext cx="155448" cy="155448"/>
          </a:xfrm>
          <a:prstGeom prst="roundRect">
            <a:avLst>
              <a:gd name="adj" fmla="val 17647"/>
            </a:avLst>
          </a:prstGeom>
          <a:solidFill>
            <a:srgbClr val="404155"/>
          </a:solidFill>
          <a:ln/>
        </p:spPr>
      </p:sp>
      <p:sp>
        <p:nvSpPr>
          <p:cNvPr id="16" name="Text 14"/>
          <p:cNvSpPr txBox="1"/>
          <p:nvPr/>
        </p:nvSpPr>
        <p:spPr>
          <a:xfrm>
            <a:off x="646481" y="3227832"/>
            <a:ext cx="182880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청크 경계는 미리 정함</a:t>
            </a:r>
            <a:endParaRPr lang="en-US" sz="1400" dirty="0"/>
          </a:p>
        </p:txBody>
      </p:sp>
      <p:sp>
        <p:nvSpPr>
          <p:cNvPr id="17" name="Shape 15"/>
          <p:cNvSpPr/>
          <p:nvPr/>
        </p:nvSpPr>
        <p:spPr>
          <a:xfrm>
            <a:off x="2703881" y="2788920"/>
            <a:ext cx="274320" cy="274320"/>
          </a:xfrm>
          <a:prstGeom prst="rightArrow">
            <a:avLst/>
          </a:prstGeom>
          <a:solidFill>
            <a:srgbClr val="2E74C6"/>
          </a:solidFill>
          <a:ln/>
        </p:spPr>
      </p:sp>
      <p:sp>
        <p:nvSpPr>
          <p:cNvPr id="18" name="Shape 16"/>
          <p:cNvSpPr/>
          <p:nvPr/>
        </p:nvSpPr>
        <p:spPr>
          <a:xfrm>
            <a:off x="3069641" y="2240280"/>
            <a:ext cx="1371600" cy="384048"/>
          </a:xfrm>
          <a:prstGeom prst="roundRect">
            <a:avLst>
              <a:gd name="adj" fmla="val 19048"/>
            </a:avLst>
          </a:prstGeom>
          <a:solidFill>
            <a:srgbClr val="EEF3FA"/>
          </a:solidFill>
          <a:ln w="12700">
            <a:solidFill>
              <a:srgbClr val="D9E0EC"/>
            </a:solidFill>
            <a:prstDash val="solid"/>
          </a:ln>
        </p:spPr>
      </p:sp>
      <p:sp>
        <p:nvSpPr>
          <p:cNvPr id="19" name="Shape 17"/>
          <p:cNvSpPr/>
          <p:nvPr/>
        </p:nvSpPr>
        <p:spPr>
          <a:xfrm>
            <a:off x="3179369" y="2354580"/>
            <a:ext cx="155448" cy="155448"/>
          </a:xfrm>
          <a:prstGeom prst="roundRect">
            <a:avLst>
              <a:gd name="adj" fmla="val 17647"/>
            </a:avLst>
          </a:prstGeom>
          <a:solidFill>
            <a:srgbClr val="2E74C6"/>
          </a:solidFill>
          <a:ln/>
        </p:spPr>
      </p:sp>
      <p:sp>
        <p:nvSpPr>
          <p:cNvPr id="20" name="Shape 18"/>
          <p:cNvSpPr/>
          <p:nvPr/>
        </p:nvSpPr>
        <p:spPr>
          <a:xfrm>
            <a:off x="3371393" y="2354580"/>
            <a:ext cx="155448" cy="155448"/>
          </a:xfrm>
          <a:prstGeom prst="roundRect">
            <a:avLst>
              <a:gd name="adj" fmla="val 17647"/>
            </a:avLst>
          </a:prstGeom>
          <a:solidFill>
            <a:srgbClr val="2E74C6"/>
          </a:solidFill>
          <a:ln/>
        </p:spPr>
      </p:sp>
      <p:sp>
        <p:nvSpPr>
          <p:cNvPr id="21" name="Shape 19"/>
          <p:cNvSpPr/>
          <p:nvPr/>
        </p:nvSpPr>
        <p:spPr>
          <a:xfrm>
            <a:off x="3563417" y="2354580"/>
            <a:ext cx="155448" cy="155448"/>
          </a:xfrm>
          <a:prstGeom prst="roundRect">
            <a:avLst>
              <a:gd name="adj" fmla="val 17647"/>
            </a:avLst>
          </a:prstGeom>
          <a:solidFill>
            <a:srgbClr val="2E74C6"/>
          </a:solidFill>
          <a:ln/>
        </p:spPr>
      </p:sp>
      <p:sp>
        <p:nvSpPr>
          <p:cNvPr id="22" name="Text 20"/>
          <p:cNvSpPr txBox="1"/>
          <p:nvPr/>
        </p:nvSpPr>
        <p:spPr>
          <a:xfrm>
            <a:off x="3782873" y="2240280"/>
            <a:ext cx="612648" cy="384048"/>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청크 1</a:t>
            </a:r>
            <a:endParaRPr lang="en-US" sz="1400" dirty="0"/>
          </a:p>
        </p:txBody>
      </p:sp>
      <p:sp>
        <p:nvSpPr>
          <p:cNvPr id="23" name="Shape 21"/>
          <p:cNvSpPr/>
          <p:nvPr/>
        </p:nvSpPr>
        <p:spPr>
          <a:xfrm>
            <a:off x="4505249" y="2295144"/>
            <a:ext cx="274320" cy="274320"/>
          </a:xfrm>
          <a:prstGeom prst="rightArrow">
            <a:avLst/>
          </a:prstGeom>
          <a:solidFill>
            <a:srgbClr val="2E74C6"/>
          </a:solidFill>
          <a:ln/>
        </p:spPr>
      </p:sp>
      <p:sp>
        <p:nvSpPr>
          <p:cNvPr id="24" name="Text 22"/>
          <p:cNvSpPr/>
          <p:nvPr/>
        </p:nvSpPr>
        <p:spPr>
          <a:xfrm>
            <a:off x="4843577" y="2240280"/>
            <a:ext cx="1188720" cy="384048"/>
          </a:xfrm>
          <a:prstGeom prst="roundRect">
            <a:avLst>
              <a:gd name="adj" fmla="val 19048"/>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임베딩 모델</a:t>
            </a:r>
            <a:endParaRPr lang="en-US" sz="1400" dirty="0"/>
          </a:p>
        </p:txBody>
      </p:sp>
      <p:sp>
        <p:nvSpPr>
          <p:cNvPr id="25" name="Shape 23"/>
          <p:cNvSpPr/>
          <p:nvPr/>
        </p:nvSpPr>
        <p:spPr>
          <a:xfrm>
            <a:off x="6096305" y="2295144"/>
            <a:ext cx="274320" cy="274320"/>
          </a:xfrm>
          <a:prstGeom prst="rightArrow">
            <a:avLst/>
          </a:prstGeom>
          <a:solidFill>
            <a:srgbClr val="2E74C6"/>
          </a:solidFill>
          <a:ln/>
        </p:spPr>
      </p:sp>
      <p:sp>
        <p:nvSpPr>
          <p:cNvPr id="26" name="Text 24"/>
          <p:cNvSpPr/>
          <p:nvPr/>
        </p:nvSpPr>
        <p:spPr>
          <a:xfrm>
            <a:off x="6434633" y="2240280"/>
            <a:ext cx="868680" cy="384048"/>
          </a:xfrm>
          <a:prstGeom prst="roundRect">
            <a:avLst>
              <a:gd name="adj" fmla="val 19048"/>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토큰 평균</a:t>
            </a:r>
            <a:endParaRPr lang="en-US" sz="1400" dirty="0"/>
          </a:p>
        </p:txBody>
      </p:sp>
      <p:sp>
        <p:nvSpPr>
          <p:cNvPr id="27" name="Shape 25"/>
          <p:cNvSpPr/>
          <p:nvPr/>
        </p:nvSpPr>
        <p:spPr>
          <a:xfrm>
            <a:off x="7367321" y="2295144"/>
            <a:ext cx="274320" cy="274320"/>
          </a:xfrm>
          <a:prstGeom prst="rightArrow">
            <a:avLst/>
          </a:prstGeom>
          <a:solidFill>
            <a:srgbClr val="2E74C6"/>
          </a:solidFill>
          <a:ln/>
        </p:spPr>
      </p:sp>
      <p:sp>
        <p:nvSpPr>
          <p:cNvPr id="28" name="Text 26"/>
          <p:cNvSpPr/>
          <p:nvPr/>
        </p:nvSpPr>
        <p:spPr>
          <a:xfrm>
            <a:off x="7705649" y="2240280"/>
            <a:ext cx="914400" cy="384048"/>
          </a:xfrm>
          <a:prstGeom prst="roundRect">
            <a:avLst>
              <a:gd name="adj" fmla="val 19048"/>
            </a:avLst>
          </a:prstGeom>
          <a:solidFill>
            <a:srgbClr val="2E74C6"/>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 1</a:t>
            </a:r>
            <a:endParaRPr lang="en-US" sz="1400" dirty="0"/>
          </a:p>
        </p:txBody>
      </p:sp>
      <p:sp>
        <p:nvSpPr>
          <p:cNvPr id="29" name="Text 27"/>
          <p:cNvSpPr txBox="1"/>
          <p:nvPr/>
        </p:nvSpPr>
        <p:spPr>
          <a:xfrm>
            <a:off x="8757209" y="2240280"/>
            <a:ext cx="1307592" cy="137160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같은 모델을 3회 호출. 청크끼리 서로 못 봄</a:t>
            </a:r>
            <a:endParaRPr lang="en-US" sz="1400" dirty="0"/>
          </a:p>
        </p:txBody>
      </p:sp>
      <p:sp>
        <p:nvSpPr>
          <p:cNvPr id="30" name="Shape 28"/>
          <p:cNvSpPr/>
          <p:nvPr/>
        </p:nvSpPr>
        <p:spPr>
          <a:xfrm>
            <a:off x="3069641" y="2734056"/>
            <a:ext cx="1371600" cy="384048"/>
          </a:xfrm>
          <a:prstGeom prst="roundRect">
            <a:avLst>
              <a:gd name="adj" fmla="val 19048"/>
            </a:avLst>
          </a:prstGeom>
          <a:solidFill>
            <a:srgbClr val="EEF3FA"/>
          </a:solidFill>
          <a:ln w="12700">
            <a:solidFill>
              <a:srgbClr val="D9E0EC"/>
            </a:solidFill>
            <a:prstDash val="solid"/>
          </a:ln>
        </p:spPr>
      </p:sp>
      <p:sp>
        <p:nvSpPr>
          <p:cNvPr id="31" name="Shape 29"/>
          <p:cNvSpPr/>
          <p:nvPr/>
        </p:nvSpPr>
        <p:spPr>
          <a:xfrm>
            <a:off x="3179369" y="2848356"/>
            <a:ext cx="155448" cy="155448"/>
          </a:xfrm>
          <a:prstGeom prst="roundRect">
            <a:avLst>
              <a:gd name="adj" fmla="val 17647"/>
            </a:avLst>
          </a:prstGeom>
          <a:solidFill>
            <a:srgbClr val="1E2A5C"/>
          </a:solidFill>
          <a:ln/>
        </p:spPr>
      </p:sp>
      <p:sp>
        <p:nvSpPr>
          <p:cNvPr id="32" name="Shape 30"/>
          <p:cNvSpPr/>
          <p:nvPr/>
        </p:nvSpPr>
        <p:spPr>
          <a:xfrm>
            <a:off x="3371393" y="2848356"/>
            <a:ext cx="155448" cy="155448"/>
          </a:xfrm>
          <a:prstGeom prst="roundRect">
            <a:avLst>
              <a:gd name="adj" fmla="val 17647"/>
            </a:avLst>
          </a:prstGeom>
          <a:solidFill>
            <a:srgbClr val="1E2A5C"/>
          </a:solidFill>
          <a:ln/>
        </p:spPr>
      </p:sp>
      <p:sp>
        <p:nvSpPr>
          <p:cNvPr id="33" name="Shape 31"/>
          <p:cNvSpPr/>
          <p:nvPr/>
        </p:nvSpPr>
        <p:spPr>
          <a:xfrm>
            <a:off x="3563417" y="2848356"/>
            <a:ext cx="155448" cy="155448"/>
          </a:xfrm>
          <a:prstGeom prst="roundRect">
            <a:avLst>
              <a:gd name="adj" fmla="val 17647"/>
            </a:avLst>
          </a:prstGeom>
          <a:solidFill>
            <a:srgbClr val="1E2A5C"/>
          </a:solidFill>
          <a:ln/>
        </p:spPr>
      </p:sp>
      <p:sp>
        <p:nvSpPr>
          <p:cNvPr id="34" name="Text 32"/>
          <p:cNvSpPr txBox="1"/>
          <p:nvPr/>
        </p:nvSpPr>
        <p:spPr>
          <a:xfrm>
            <a:off x="3782873" y="2734056"/>
            <a:ext cx="612648" cy="384048"/>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청크 2</a:t>
            </a:r>
            <a:endParaRPr lang="en-US" sz="1400" dirty="0"/>
          </a:p>
        </p:txBody>
      </p:sp>
      <p:sp>
        <p:nvSpPr>
          <p:cNvPr id="35" name="Shape 33"/>
          <p:cNvSpPr/>
          <p:nvPr/>
        </p:nvSpPr>
        <p:spPr>
          <a:xfrm>
            <a:off x="4505249" y="2788920"/>
            <a:ext cx="274320" cy="274320"/>
          </a:xfrm>
          <a:prstGeom prst="rightArrow">
            <a:avLst/>
          </a:prstGeom>
          <a:solidFill>
            <a:srgbClr val="2E74C6"/>
          </a:solidFill>
          <a:ln/>
        </p:spPr>
      </p:sp>
      <p:sp>
        <p:nvSpPr>
          <p:cNvPr id="36" name="Text 34"/>
          <p:cNvSpPr/>
          <p:nvPr/>
        </p:nvSpPr>
        <p:spPr>
          <a:xfrm>
            <a:off x="4843577" y="2734056"/>
            <a:ext cx="1188720" cy="384048"/>
          </a:xfrm>
          <a:prstGeom prst="roundRect">
            <a:avLst>
              <a:gd name="adj" fmla="val 19048"/>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임베딩 모델</a:t>
            </a:r>
            <a:endParaRPr lang="en-US" sz="1400" dirty="0"/>
          </a:p>
        </p:txBody>
      </p:sp>
      <p:sp>
        <p:nvSpPr>
          <p:cNvPr id="37" name="Shape 35"/>
          <p:cNvSpPr/>
          <p:nvPr/>
        </p:nvSpPr>
        <p:spPr>
          <a:xfrm>
            <a:off x="6096305" y="2788920"/>
            <a:ext cx="274320" cy="274320"/>
          </a:xfrm>
          <a:prstGeom prst="rightArrow">
            <a:avLst/>
          </a:prstGeom>
          <a:solidFill>
            <a:srgbClr val="2E74C6"/>
          </a:solidFill>
          <a:ln/>
        </p:spPr>
      </p:sp>
      <p:sp>
        <p:nvSpPr>
          <p:cNvPr id="38" name="Text 36"/>
          <p:cNvSpPr/>
          <p:nvPr/>
        </p:nvSpPr>
        <p:spPr>
          <a:xfrm>
            <a:off x="6434633" y="2734056"/>
            <a:ext cx="868680" cy="384048"/>
          </a:xfrm>
          <a:prstGeom prst="roundRect">
            <a:avLst>
              <a:gd name="adj" fmla="val 19048"/>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토큰 평균</a:t>
            </a:r>
            <a:endParaRPr lang="en-US" sz="1400" dirty="0"/>
          </a:p>
        </p:txBody>
      </p:sp>
      <p:sp>
        <p:nvSpPr>
          <p:cNvPr id="39" name="Shape 37"/>
          <p:cNvSpPr/>
          <p:nvPr/>
        </p:nvSpPr>
        <p:spPr>
          <a:xfrm>
            <a:off x="7367321" y="2788920"/>
            <a:ext cx="274320" cy="274320"/>
          </a:xfrm>
          <a:prstGeom prst="rightArrow">
            <a:avLst/>
          </a:prstGeom>
          <a:solidFill>
            <a:srgbClr val="2E74C6"/>
          </a:solidFill>
          <a:ln/>
        </p:spPr>
      </p:sp>
      <p:sp>
        <p:nvSpPr>
          <p:cNvPr id="40" name="Text 38"/>
          <p:cNvSpPr/>
          <p:nvPr/>
        </p:nvSpPr>
        <p:spPr>
          <a:xfrm>
            <a:off x="7705649" y="2734056"/>
            <a:ext cx="914400" cy="384048"/>
          </a:xfrm>
          <a:prstGeom prst="roundRect">
            <a:avLst>
              <a:gd name="adj" fmla="val 19048"/>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 2</a:t>
            </a:r>
            <a:endParaRPr lang="en-US" sz="1400" dirty="0"/>
          </a:p>
        </p:txBody>
      </p:sp>
      <p:sp>
        <p:nvSpPr>
          <p:cNvPr id="41" name="Shape 39"/>
          <p:cNvSpPr/>
          <p:nvPr/>
        </p:nvSpPr>
        <p:spPr>
          <a:xfrm>
            <a:off x="3069641" y="3227832"/>
            <a:ext cx="1371600" cy="384048"/>
          </a:xfrm>
          <a:prstGeom prst="roundRect">
            <a:avLst>
              <a:gd name="adj" fmla="val 19048"/>
            </a:avLst>
          </a:prstGeom>
          <a:solidFill>
            <a:srgbClr val="EEF3FA"/>
          </a:solidFill>
          <a:ln w="12700">
            <a:solidFill>
              <a:srgbClr val="D9E0EC"/>
            </a:solidFill>
            <a:prstDash val="solid"/>
          </a:ln>
        </p:spPr>
      </p:sp>
      <p:sp>
        <p:nvSpPr>
          <p:cNvPr id="42" name="Shape 40"/>
          <p:cNvSpPr/>
          <p:nvPr/>
        </p:nvSpPr>
        <p:spPr>
          <a:xfrm>
            <a:off x="3179369" y="3342132"/>
            <a:ext cx="155448" cy="155448"/>
          </a:xfrm>
          <a:prstGeom prst="roundRect">
            <a:avLst>
              <a:gd name="adj" fmla="val 17647"/>
            </a:avLst>
          </a:prstGeom>
          <a:solidFill>
            <a:srgbClr val="404155"/>
          </a:solidFill>
          <a:ln/>
        </p:spPr>
      </p:sp>
      <p:sp>
        <p:nvSpPr>
          <p:cNvPr id="43" name="Shape 41"/>
          <p:cNvSpPr/>
          <p:nvPr/>
        </p:nvSpPr>
        <p:spPr>
          <a:xfrm>
            <a:off x="3371393" y="3342132"/>
            <a:ext cx="155448" cy="155448"/>
          </a:xfrm>
          <a:prstGeom prst="roundRect">
            <a:avLst>
              <a:gd name="adj" fmla="val 17647"/>
            </a:avLst>
          </a:prstGeom>
          <a:solidFill>
            <a:srgbClr val="404155"/>
          </a:solidFill>
          <a:ln/>
        </p:spPr>
      </p:sp>
      <p:sp>
        <p:nvSpPr>
          <p:cNvPr id="44" name="Shape 42"/>
          <p:cNvSpPr/>
          <p:nvPr/>
        </p:nvSpPr>
        <p:spPr>
          <a:xfrm>
            <a:off x="3563417" y="3342132"/>
            <a:ext cx="155448" cy="155448"/>
          </a:xfrm>
          <a:prstGeom prst="roundRect">
            <a:avLst>
              <a:gd name="adj" fmla="val 17647"/>
            </a:avLst>
          </a:prstGeom>
          <a:solidFill>
            <a:srgbClr val="404155"/>
          </a:solidFill>
          <a:ln/>
        </p:spPr>
      </p:sp>
      <p:sp>
        <p:nvSpPr>
          <p:cNvPr id="45" name="Text 43"/>
          <p:cNvSpPr txBox="1"/>
          <p:nvPr/>
        </p:nvSpPr>
        <p:spPr>
          <a:xfrm>
            <a:off x="3782873" y="3227832"/>
            <a:ext cx="612648" cy="384048"/>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청크 3</a:t>
            </a:r>
            <a:endParaRPr lang="en-US" sz="1400" dirty="0"/>
          </a:p>
        </p:txBody>
      </p:sp>
      <p:sp>
        <p:nvSpPr>
          <p:cNvPr id="46" name="Shape 44"/>
          <p:cNvSpPr/>
          <p:nvPr/>
        </p:nvSpPr>
        <p:spPr>
          <a:xfrm>
            <a:off x="4505249" y="3282696"/>
            <a:ext cx="274320" cy="274320"/>
          </a:xfrm>
          <a:prstGeom prst="rightArrow">
            <a:avLst/>
          </a:prstGeom>
          <a:solidFill>
            <a:srgbClr val="2E74C6"/>
          </a:solidFill>
          <a:ln/>
        </p:spPr>
      </p:sp>
      <p:sp>
        <p:nvSpPr>
          <p:cNvPr id="47" name="Text 45"/>
          <p:cNvSpPr/>
          <p:nvPr/>
        </p:nvSpPr>
        <p:spPr>
          <a:xfrm>
            <a:off x="4843577" y="3227832"/>
            <a:ext cx="1188720" cy="384048"/>
          </a:xfrm>
          <a:prstGeom prst="roundRect">
            <a:avLst>
              <a:gd name="adj" fmla="val 19048"/>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임베딩 모델</a:t>
            </a:r>
            <a:endParaRPr lang="en-US" sz="1400" dirty="0"/>
          </a:p>
        </p:txBody>
      </p:sp>
      <p:sp>
        <p:nvSpPr>
          <p:cNvPr id="48" name="Shape 46"/>
          <p:cNvSpPr/>
          <p:nvPr/>
        </p:nvSpPr>
        <p:spPr>
          <a:xfrm>
            <a:off x="6096305" y="3282696"/>
            <a:ext cx="274320" cy="274320"/>
          </a:xfrm>
          <a:prstGeom prst="rightArrow">
            <a:avLst/>
          </a:prstGeom>
          <a:solidFill>
            <a:srgbClr val="2E74C6"/>
          </a:solidFill>
          <a:ln/>
        </p:spPr>
      </p:sp>
      <p:sp>
        <p:nvSpPr>
          <p:cNvPr id="49" name="Text 47"/>
          <p:cNvSpPr/>
          <p:nvPr/>
        </p:nvSpPr>
        <p:spPr>
          <a:xfrm>
            <a:off x="6434633" y="3227832"/>
            <a:ext cx="868680" cy="384048"/>
          </a:xfrm>
          <a:prstGeom prst="roundRect">
            <a:avLst>
              <a:gd name="adj" fmla="val 19048"/>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토큰 평균</a:t>
            </a:r>
            <a:endParaRPr lang="en-US" sz="1400" dirty="0"/>
          </a:p>
        </p:txBody>
      </p:sp>
      <p:sp>
        <p:nvSpPr>
          <p:cNvPr id="50" name="Shape 48"/>
          <p:cNvSpPr/>
          <p:nvPr/>
        </p:nvSpPr>
        <p:spPr>
          <a:xfrm>
            <a:off x="7367321" y="3282696"/>
            <a:ext cx="274320" cy="274320"/>
          </a:xfrm>
          <a:prstGeom prst="rightArrow">
            <a:avLst/>
          </a:prstGeom>
          <a:solidFill>
            <a:srgbClr val="2E74C6"/>
          </a:solidFill>
          <a:ln/>
        </p:spPr>
      </p:sp>
      <p:sp>
        <p:nvSpPr>
          <p:cNvPr id="51" name="Text 49"/>
          <p:cNvSpPr/>
          <p:nvPr/>
        </p:nvSpPr>
        <p:spPr>
          <a:xfrm>
            <a:off x="7705649" y="3227832"/>
            <a:ext cx="914400" cy="384048"/>
          </a:xfrm>
          <a:prstGeom prst="roundRect">
            <a:avLst>
              <a:gd name="adj" fmla="val 19048"/>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 3</a:t>
            </a:r>
            <a:endParaRPr lang="en-US" sz="1400" dirty="0"/>
          </a:p>
        </p:txBody>
      </p:sp>
      <p:sp>
        <p:nvSpPr>
          <p:cNvPr id="52" name="Text 50"/>
          <p:cNvSpPr txBox="1"/>
          <p:nvPr/>
        </p:nvSpPr>
        <p:spPr>
          <a:xfrm>
            <a:off x="509321" y="3657600"/>
            <a:ext cx="955548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"Its more than 3.85 million..." 청크만 보면 모델은 "Its"가 무엇인지 알 수 없음</a:t>
            </a:r>
            <a:endParaRPr lang="en-US" sz="1400" dirty="0"/>
          </a:p>
        </p:txBody>
      </p:sp>
      <p:sp>
        <p:nvSpPr>
          <p:cNvPr id="53" name="Text 51"/>
          <p:cNvSpPr/>
          <p:nvPr/>
        </p:nvSpPr>
        <p:spPr>
          <a:xfrm>
            <a:off x="509321" y="3977640"/>
            <a:ext cx="95554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Late Chunking: 임베딩하고 나서 자르기 (embed → chunk)</a:t>
            </a:r>
            <a:endParaRPr lang="en-US" sz="1800" dirty="0"/>
          </a:p>
        </p:txBody>
      </p:sp>
      <p:sp>
        <p:nvSpPr>
          <p:cNvPr id="54" name="Shape 52"/>
          <p:cNvSpPr/>
          <p:nvPr/>
        </p:nvSpPr>
        <p:spPr>
          <a:xfrm>
            <a:off x="509321" y="4480560"/>
            <a:ext cx="2103120" cy="1371600"/>
          </a:xfrm>
          <a:prstGeom prst="roundRect">
            <a:avLst>
              <a:gd name="adj" fmla="val 5333"/>
            </a:avLst>
          </a:prstGeom>
          <a:solidFill>
            <a:srgbClr val="F5F8FC"/>
          </a:solidFill>
          <a:ln w="12700">
            <a:solidFill>
              <a:srgbClr val="D9E0EC"/>
            </a:solidFill>
            <a:prstDash val="solid"/>
          </a:ln>
        </p:spPr>
      </p:sp>
      <p:sp>
        <p:nvSpPr>
          <p:cNvPr id="55" name="Text 53"/>
          <p:cNvSpPr txBox="1"/>
          <p:nvPr/>
        </p:nvSpPr>
        <p:spPr>
          <a:xfrm>
            <a:off x="646481" y="4572000"/>
            <a:ext cx="182880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문서 (토큰 9개로 단순화)</a:t>
            </a:r>
            <a:endParaRPr lang="en-US" sz="1400" dirty="0"/>
          </a:p>
        </p:txBody>
      </p:sp>
      <p:sp>
        <p:nvSpPr>
          <p:cNvPr id="56" name="Shape 54"/>
          <p:cNvSpPr/>
          <p:nvPr/>
        </p:nvSpPr>
        <p:spPr>
          <a:xfrm>
            <a:off x="664769" y="5047488"/>
            <a:ext cx="155448" cy="155448"/>
          </a:xfrm>
          <a:prstGeom prst="roundRect">
            <a:avLst>
              <a:gd name="adj" fmla="val 17647"/>
            </a:avLst>
          </a:prstGeom>
          <a:solidFill>
            <a:srgbClr val="2E74C6"/>
          </a:solidFill>
          <a:ln/>
        </p:spPr>
      </p:sp>
      <p:sp>
        <p:nvSpPr>
          <p:cNvPr id="57" name="Shape 55"/>
          <p:cNvSpPr/>
          <p:nvPr/>
        </p:nvSpPr>
        <p:spPr>
          <a:xfrm>
            <a:off x="856793" y="5047488"/>
            <a:ext cx="155448" cy="155448"/>
          </a:xfrm>
          <a:prstGeom prst="roundRect">
            <a:avLst>
              <a:gd name="adj" fmla="val 17647"/>
            </a:avLst>
          </a:prstGeom>
          <a:solidFill>
            <a:srgbClr val="2E74C6"/>
          </a:solidFill>
          <a:ln/>
        </p:spPr>
      </p:sp>
      <p:sp>
        <p:nvSpPr>
          <p:cNvPr id="58" name="Shape 56"/>
          <p:cNvSpPr/>
          <p:nvPr/>
        </p:nvSpPr>
        <p:spPr>
          <a:xfrm>
            <a:off x="1048817" y="5047488"/>
            <a:ext cx="155448" cy="155448"/>
          </a:xfrm>
          <a:prstGeom prst="roundRect">
            <a:avLst>
              <a:gd name="adj" fmla="val 17647"/>
            </a:avLst>
          </a:prstGeom>
          <a:solidFill>
            <a:srgbClr val="2E74C6"/>
          </a:solidFill>
          <a:ln/>
        </p:spPr>
      </p:sp>
      <p:sp>
        <p:nvSpPr>
          <p:cNvPr id="59" name="Shape 57"/>
          <p:cNvSpPr/>
          <p:nvPr/>
        </p:nvSpPr>
        <p:spPr>
          <a:xfrm>
            <a:off x="1295705" y="5047488"/>
            <a:ext cx="155448" cy="155448"/>
          </a:xfrm>
          <a:prstGeom prst="roundRect">
            <a:avLst>
              <a:gd name="adj" fmla="val 17647"/>
            </a:avLst>
          </a:prstGeom>
          <a:solidFill>
            <a:srgbClr val="1E2A5C"/>
          </a:solidFill>
          <a:ln/>
        </p:spPr>
      </p:sp>
      <p:sp>
        <p:nvSpPr>
          <p:cNvPr id="60" name="Shape 58"/>
          <p:cNvSpPr/>
          <p:nvPr/>
        </p:nvSpPr>
        <p:spPr>
          <a:xfrm>
            <a:off x="1487729" y="5047488"/>
            <a:ext cx="155448" cy="155448"/>
          </a:xfrm>
          <a:prstGeom prst="roundRect">
            <a:avLst>
              <a:gd name="adj" fmla="val 17647"/>
            </a:avLst>
          </a:prstGeom>
          <a:solidFill>
            <a:srgbClr val="1E2A5C"/>
          </a:solidFill>
          <a:ln/>
        </p:spPr>
      </p:sp>
      <p:sp>
        <p:nvSpPr>
          <p:cNvPr id="61" name="Shape 59"/>
          <p:cNvSpPr/>
          <p:nvPr/>
        </p:nvSpPr>
        <p:spPr>
          <a:xfrm>
            <a:off x="1679753" y="5047488"/>
            <a:ext cx="155448" cy="155448"/>
          </a:xfrm>
          <a:prstGeom prst="roundRect">
            <a:avLst>
              <a:gd name="adj" fmla="val 17647"/>
            </a:avLst>
          </a:prstGeom>
          <a:solidFill>
            <a:srgbClr val="1E2A5C"/>
          </a:solidFill>
          <a:ln/>
        </p:spPr>
      </p:sp>
      <p:sp>
        <p:nvSpPr>
          <p:cNvPr id="62" name="Shape 60"/>
          <p:cNvSpPr/>
          <p:nvPr/>
        </p:nvSpPr>
        <p:spPr>
          <a:xfrm>
            <a:off x="1926641" y="5047488"/>
            <a:ext cx="155448" cy="155448"/>
          </a:xfrm>
          <a:prstGeom prst="roundRect">
            <a:avLst>
              <a:gd name="adj" fmla="val 17647"/>
            </a:avLst>
          </a:prstGeom>
          <a:solidFill>
            <a:srgbClr val="404155"/>
          </a:solidFill>
          <a:ln/>
        </p:spPr>
      </p:sp>
      <p:sp>
        <p:nvSpPr>
          <p:cNvPr id="63" name="Shape 61"/>
          <p:cNvSpPr/>
          <p:nvPr/>
        </p:nvSpPr>
        <p:spPr>
          <a:xfrm>
            <a:off x="2118665" y="5047488"/>
            <a:ext cx="155448" cy="155448"/>
          </a:xfrm>
          <a:prstGeom prst="roundRect">
            <a:avLst>
              <a:gd name="adj" fmla="val 17647"/>
            </a:avLst>
          </a:prstGeom>
          <a:solidFill>
            <a:srgbClr val="404155"/>
          </a:solidFill>
          <a:ln/>
        </p:spPr>
      </p:sp>
      <p:sp>
        <p:nvSpPr>
          <p:cNvPr id="64" name="Shape 62"/>
          <p:cNvSpPr/>
          <p:nvPr/>
        </p:nvSpPr>
        <p:spPr>
          <a:xfrm>
            <a:off x="2310689" y="5047488"/>
            <a:ext cx="155448" cy="155448"/>
          </a:xfrm>
          <a:prstGeom prst="roundRect">
            <a:avLst>
              <a:gd name="adj" fmla="val 17647"/>
            </a:avLst>
          </a:prstGeom>
          <a:solidFill>
            <a:srgbClr val="404155"/>
          </a:solidFill>
          <a:ln/>
        </p:spPr>
      </p:sp>
      <p:sp>
        <p:nvSpPr>
          <p:cNvPr id="65" name="Text 63"/>
          <p:cNvSpPr txBox="1"/>
          <p:nvPr/>
        </p:nvSpPr>
        <p:spPr>
          <a:xfrm>
            <a:off x="646481" y="5468112"/>
            <a:ext cx="182880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같은 경계, 적용만 나중에</a:t>
            </a:r>
            <a:endParaRPr lang="en-US" sz="1400" dirty="0"/>
          </a:p>
        </p:txBody>
      </p:sp>
      <p:sp>
        <p:nvSpPr>
          <p:cNvPr id="66" name="Shape 64"/>
          <p:cNvSpPr/>
          <p:nvPr/>
        </p:nvSpPr>
        <p:spPr>
          <a:xfrm>
            <a:off x="2703881" y="5029200"/>
            <a:ext cx="274320" cy="274320"/>
          </a:xfrm>
          <a:prstGeom prst="rightArrow">
            <a:avLst/>
          </a:prstGeom>
          <a:solidFill>
            <a:srgbClr val="2E74C6"/>
          </a:solidFill>
          <a:ln/>
        </p:spPr>
      </p:sp>
      <p:sp>
        <p:nvSpPr>
          <p:cNvPr id="67" name="Text 65"/>
          <p:cNvSpPr/>
          <p:nvPr/>
        </p:nvSpPr>
        <p:spPr>
          <a:xfrm>
            <a:off x="3069641" y="4480560"/>
            <a:ext cx="1463040" cy="1371600"/>
          </a:xfrm>
          <a:prstGeom prst="roundRect">
            <a:avLst>
              <a:gd name="adj" fmla="val 5333"/>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임베딩 모델 1회 통과 (긴 문맥 모델 필요)</a:t>
            </a:r>
            <a:endParaRPr lang="en-US" sz="1400" dirty="0"/>
          </a:p>
        </p:txBody>
      </p:sp>
      <p:sp>
        <p:nvSpPr>
          <p:cNvPr id="68" name="Shape 66"/>
          <p:cNvSpPr/>
          <p:nvPr/>
        </p:nvSpPr>
        <p:spPr>
          <a:xfrm>
            <a:off x="4596689" y="5029200"/>
            <a:ext cx="274320" cy="274320"/>
          </a:xfrm>
          <a:prstGeom prst="rightArrow">
            <a:avLst/>
          </a:prstGeom>
          <a:solidFill>
            <a:srgbClr val="2E74C6"/>
          </a:solidFill>
          <a:ln/>
        </p:spPr>
      </p:sp>
      <p:sp>
        <p:nvSpPr>
          <p:cNvPr id="69" name="Shape 67"/>
          <p:cNvSpPr/>
          <p:nvPr/>
        </p:nvSpPr>
        <p:spPr>
          <a:xfrm>
            <a:off x="4935017" y="4480560"/>
            <a:ext cx="2377440" cy="1371600"/>
          </a:xfrm>
          <a:prstGeom prst="roundRect">
            <a:avLst>
              <a:gd name="adj" fmla="val 5333"/>
            </a:avLst>
          </a:prstGeom>
          <a:solidFill>
            <a:srgbClr val="EEF3FA"/>
          </a:solidFill>
          <a:ln w="12700">
            <a:solidFill>
              <a:srgbClr val="D9E0EC"/>
            </a:solidFill>
            <a:prstDash val="solid"/>
          </a:ln>
        </p:spPr>
      </p:sp>
      <p:sp>
        <p:nvSpPr>
          <p:cNvPr id="70" name="Text 68"/>
          <p:cNvSpPr txBox="1"/>
          <p:nvPr/>
        </p:nvSpPr>
        <p:spPr>
          <a:xfrm>
            <a:off x="5072177" y="4572000"/>
            <a:ext cx="210312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토큰 벡터 9개</a:t>
            </a:r>
            <a:endParaRPr lang="en-US" sz="1400" dirty="0"/>
          </a:p>
        </p:txBody>
      </p:sp>
      <p:sp>
        <p:nvSpPr>
          <p:cNvPr id="71" name="Shape 69"/>
          <p:cNvSpPr/>
          <p:nvPr/>
        </p:nvSpPr>
        <p:spPr>
          <a:xfrm>
            <a:off x="5090465" y="5047488"/>
            <a:ext cx="173736" cy="173736"/>
          </a:xfrm>
          <a:prstGeom prst="roundRect">
            <a:avLst>
              <a:gd name="adj" fmla="val 15789"/>
            </a:avLst>
          </a:prstGeom>
          <a:solidFill>
            <a:srgbClr val="2E74C6"/>
          </a:solidFill>
          <a:ln/>
        </p:spPr>
      </p:sp>
      <p:sp>
        <p:nvSpPr>
          <p:cNvPr id="72" name="Shape 70"/>
          <p:cNvSpPr/>
          <p:nvPr/>
        </p:nvSpPr>
        <p:spPr>
          <a:xfrm>
            <a:off x="5309921" y="5047488"/>
            <a:ext cx="173736" cy="173736"/>
          </a:xfrm>
          <a:prstGeom prst="roundRect">
            <a:avLst>
              <a:gd name="adj" fmla="val 15789"/>
            </a:avLst>
          </a:prstGeom>
          <a:solidFill>
            <a:srgbClr val="2E74C6"/>
          </a:solidFill>
          <a:ln/>
        </p:spPr>
      </p:sp>
      <p:sp>
        <p:nvSpPr>
          <p:cNvPr id="73" name="Shape 71"/>
          <p:cNvSpPr/>
          <p:nvPr/>
        </p:nvSpPr>
        <p:spPr>
          <a:xfrm>
            <a:off x="5529377" y="5047488"/>
            <a:ext cx="173736" cy="173736"/>
          </a:xfrm>
          <a:prstGeom prst="roundRect">
            <a:avLst>
              <a:gd name="adj" fmla="val 15789"/>
            </a:avLst>
          </a:prstGeom>
          <a:solidFill>
            <a:srgbClr val="2E74C6"/>
          </a:solidFill>
          <a:ln/>
        </p:spPr>
      </p:sp>
      <p:sp>
        <p:nvSpPr>
          <p:cNvPr id="74" name="Shape 72"/>
          <p:cNvSpPr/>
          <p:nvPr/>
        </p:nvSpPr>
        <p:spPr>
          <a:xfrm>
            <a:off x="5812841" y="5047488"/>
            <a:ext cx="173736" cy="173736"/>
          </a:xfrm>
          <a:prstGeom prst="roundRect">
            <a:avLst>
              <a:gd name="adj" fmla="val 15789"/>
            </a:avLst>
          </a:prstGeom>
          <a:solidFill>
            <a:srgbClr val="1E2A5C"/>
          </a:solidFill>
          <a:ln/>
        </p:spPr>
      </p:sp>
      <p:sp>
        <p:nvSpPr>
          <p:cNvPr id="75" name="Shape 73"/>
          <p:cNvSpPr/>
          <p:nvPr/>
        </p:nvSpPr>
        <p:spPr>
          <a:xfrm>
            <a:off x="6032297" y="5047488"/>
            <a:ext cx="173736" cy="173736"/>
          </a:xfrm>
          <a:prstGeom prst="roundRect">
            <a:avLst>
              <a:gd name="adj" fmla="val 15789"/>
            </a:avLst>
          </a:prstGeom>
          <a:solidFill>
            <a:srgbClr val="1E2A5C"/>
          </a:solidFill>
          <a:ln/>
        </p:spPr>
      </p:sp>
      <p:sp>
        <p:nvSpPr>
          <p:cNvPr id="76" name="Shape 74"/>
          <p:cNvSpPr/>
          <p:nvPr/>
        </p:nvSpPr>
        <p:spPr>
          <a:xfrm>
            <a:off x="6251753" y="5047488"/>
            <a:ext cx="173736" cy="173736"/>
          </a:xfrm>
          <a:prstGeom prst="roundRect">
            <a:avLst>
              <a:gd name="adj" fmla="val 15789"/>
            </a:avLst>
          </a:prstGeom>
          <a:solidFill>
            <a:srgbClr val="1E2A5C"/>
          </a:solidFill>
          <a:ln/>
        </p:spPr>
      </p:sp>
      <p:sp>
        <p:nvSpPr>
          <p:cNvPr id="77" name="Shape 75"/>
          <p:cNvSpPr/>
          <p:nvPr/>
        </p:nvSpPr>
        <p:spPr>
          <a:xfrm>
            <a:off x="6535217" y="5047488"/>
            <a:ext cx="173736" cy="173736"/>
          </a:xfrm>
          <a:prstGeom prst="roundRect">
            <a:avLst>
              <a:gd name="adj" fmla="val 15789"/>
            </a:avLst>
          </a:prstGeom>
          <a:solidFill>
            <a:srgbClr val="404155"/>
          </a:solidFill>
          <a:ln/>
        </p:spPr>
      </p:sp>
      <p:sp>
        <p:nvSpPr>
          <p:cNvPr id="78" name="Shape 76"/>
          <p:cNvSpPr/>
          <p:nvPr/>
        </p:nvSpPr>
        <p:spPr>
          <a:xfrm>
            <a:off x="6754673" y="5047488"/>
            <a:ext cx="173736" cy="173736"/>
          </a:xfrm>
          <a:prstGeom prst="roundRect">
            <a:avLst>
              <a:gd name="adj" fmla="val 15789"/>
            </a:avLst>
          </a:prstGeom>
          <a:solidFill>
            <a:srgbClr val="404155"/>
          </a:solidFill>
          <a:ln/>
        </p:spPr>
      </p:sp>
      <p:sp>
        <p:nvSpPr>
          <p:cNvPr id="79" name="Shape 77"/>
          <p:cNvSpPr/>
          <p:nvPr/>
        </p:nvSpPr>
        <p:spPr>
          <a:xfrm>
            <a:off x="6974129" y="5047488"/>
            <a:ext cx="173736" cy="173736"/>
          </a:xfrm>
          <a:prstGeom prst="roundRect">
            <a:avLst>
              <a:gd name="adj" fmla="val 15789"/>
            </a:avLst>
          </a:prstGeom>
          <a:solidFill>
            <a:srgbClr val="404155"/>
          </a:solidFill>
          <a:ln/>
        </p:spPr>
      </p:sp>
      <p:sp>
        <p:nvSpPr>
          <p:cNvPr id="80" name="Text 78"/>
          <p:cNvSpPr txBox="1"/>
          <p:nvPr/>
        </p:nvSpPr>
        <p:spPr>
          <a:xfrm>
            <a:off x="5072177" y="5468112"/>
            <a:ext cx="210312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각 토큰이 문서 전체를 봄 (양방향)</a:t>
            </a:r>
            <a:endParaRPr lang="en-US" sz="1400" dirty="0"/>
          </a:p>
        </p:txBody>
      </p:sp>
      <p:sp>
        <p:nvSpPr>
          <p:cNvPr id="81" name="Shape 79"/>
          <p:cNvSpPr/>
          <p:nvPr/>
        </p:nvSpPr>
        <p:spPr>
          <a:xfrm>
            <a:off x="7376465" y="5029200"/>
            <a:ext cx="274320" cy="274320"/>
          </a:xfrm>
          <a:prstGeom prst="rightArrow">
            <a:avLst/>
          </a:prstGeom>
          <a:solidFill>
            <a:srgbClr val="2E74C6"/>
          </a:solidFill>
          <a:ln/>
        </p:spPr>
      </p:sp>
      <p:sp>
        <p:nvSpPr>
          <p:cNvPr id="82" name="Text 80"/>
          <p:cNvSpPr/>
          <p:nvPr/>
        </p:nvSpPr>
        <p:spPr>
          <a:xfrm>
            <a:off x="7714793" y="4480560"/>
            <a:ext cx="914400" cy="1371600"/>
          </a:xfrm>
          <a:prstGeom prst="roundRect">
            <a:avLst>
              <a:gd name="adj" fmla="val 8000"/>
            </a:avLst>
          </a:prstGeom>
          <a:solidFill>
            <a:srgbClr val="F5F8FC"/>
          </a:solidFill>
          <a:ln w="12700">
            <a:solidFill>
              <a:srgbClr val="D9E0EC"/>
            </a:solidFill>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구간별 평균</a:t>
            </a:r>
            <a:endParaRPr lang="en-US" sz="1400" dirty="0"/>
          </a:p>
        </p:txBody>
      </p:sp>
      <p:sp>
        <p:nvSpPr>
          <p:cNvPr id="83" name="Shape 81"/>
          <p:cNvSpPr/>
          <p:nvPr/>
        </p:nvSpPr>
        <p:spPr>
          <a:xfrm>
            <a:off x="8693201" y="5029200"/>
            <a:ext cx="274320" cy="274320"/>
          </a:xfrm>
          <a:prstGeom prst="rightArrow">
            <a:avLst/>
          </a:prstGeom>
          <a:solidFill>
            <a:srgbClr val="2E74C6"/>
          </a:solidFill>
          <a:ln/>
        </p:spPr>
      </p:sp>
      <p:sp>
        <p:nvSpPr>
          <p:cNvPr id="84" name="Text 82"/>
          <p:cNvSpPr/>
          <p:nvPr/>
        </p:nvSpPr>
        <p:spPr>
          <a:xfrm>
            <a:off x="9031529" y="4480560"/>
            <a:ext cx="914400" cy="384048"/>
          </a:xfrm>
          <a:prstGeom prst="roundRect">
            <a:avLst>
              <a:gd name="adj" fmla="val 19048"/>
            </a:avLst>
          </a:prstGeom>
          <a:solidFill>
            <a:srgbClr val="2E74C6"/>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 1</a:t>
            </a:r>
            <a:endParaRPr lang="en-US" sz="1400" dirty="0"/>
          </a:p>
        </p:txBody>
      </p:sp>
      <p:sp>
        <p:nvSpPr>
          <p:cNvPr id="85" name="Text 83"/>
          <p:cNvSpPr/>
          <p:nvPr/>
        </p:nvSpPr>
        <p:spPr>
          <a:xfrm>
            <a:off x="9031529" y="4974336"/>
            <a:ext cx="914400" cy="384048"/>
          </a:xfrm>
          <a:prstGeom prst="roundRect">
            <a:avLst>
              <a:gd name="adj" fmla="val 19048"/>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 2</a:t>
            </a:r>
            <a:endParaRPr lang="en-US" sz="1400" dirty="0"/>
          </a:p>
        </p:txBody>
      </p:sp>
      <p:sp>
        <p:nvSpPr>
          <p:cNvPr id="86" name="Text 84"/>
          <p:cNvSpPr/>
          <p:nvPr/>
        </p:nvSpPr>
        <p:spPr>
          <a:xfrm>
            <a:off x="9031529" y="5468112"/>
            <a:ext cx="914400" cy="384048"/>
          </a:xfrm>
          <a:prstGeom prst="roundRect">
            <a:avLst>
              <a:gd name="adj" fmla="val 19048"/>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 3</a:t>
            </a:r>
            <a:endParaRPr lang="en-US" sz="1400" dirty="0"/>
          </a:p>
        </p:txBody>
      </p:sp>
      <p:sp>
        <p:nvSpPr>
          <p:cNvPr id="87" name="Text 85"/>
          <p:cNvSpPr txBox="1"/>
          <p:nvPr/>
        </p:nvSpPr>
        <p:spPr>
          <a:xfrm>
            <a:off x="509321" y="5897880"/>
            <a:ext cx="955548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저장하는 벡터 수와 검색 방식은 그대로. 바뀌는 것은 벡터에 담긴 문맥뿐</a:t>
            </a:r>
            <a:endParaRPr lang="en-US" sz="1400" dirty="0"/>
          </a:p>
        </p:txBody>
      </p:sp>
      <p:sp>
        <p:nvSpPr>
          <p:cNvPr id="88" name="Text 86"/>
          <p:cNvSpPr/>
          <p:nvPr/>
        </p:nvSpPr>
        <p:spPr>
          <a:xfrm>
            <a:off x="10339121" y="1737360"/>
            <a:ext cx="379476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예시: 베를린 문서를 문장 3개로 자름</a:t>
            </a:r>
            <a:endParaRPr lang="en-US" sz="1800" dirty="0"/>
          </a:p>
        </p:txBody>
      </p:sp>
      <p:sp>
        <p:nvSpPr>
          <p:cNvPr id="89" name="Text 87"/>
          <p:cNvSpPr/>
          <p:nvPr/>
        </p:nvSpPr>
        <p:spPr>
          <a:xfrm>
            <a:off x="10339121" y="2240280"/>
            <a:ext cx="3794760" cy="1783080"/>
          </a:xfrm>
          <a:prstGeom prst="roundRect">
            <a:avLst>
              <a:gd name="adj" fmla="val 5128"/>
            </a:avLst>
          </a:prstGeom>
          <a:solidFill>
            <a:srgbClr val="EEF3FA"/>
          </a:solidFill>
          <a:ln w="12700">
            <a:solidFill>
              <a:srgbClr val="D9E0EC"/>
            </a:solidFill>
          </a:ln>
        </p:spPr>
        <p:txBody>
          <a:bodyPr wrap="square" lIns="182880" tIns="128016" rIns="182880" bIns="91440" rtlCol="0" anchor="t"/>
          <a:lstStyle/>
          <a:p>
            <a:pPr algn="l" indent="0" marL="0">
              <a:spcAft>
                <a:spcPts val="600"/>
              </a:spcAft>
              <a:buNone/>
            </a:pPr>
            <a:r>
              <a:rPr lang="en-US" sz="1400" dirty="0">
                <a:solidFill>
                  <a:srgbClr val="2B3242"/>
                </a:solidFill>
                <a:latin typeface="Pretendard" pitchFamily="34" charset="0"/>
                <a:ea typeface="Pretendard" pitchFamily="34" charset="-122"/>
                <a:cs typeface="Pretendard" pitchFamily="34" charset="-120"/>
              </a:rPr>
              <a:t>문장 1: "Berlin is the capital and largest city..."</a:t>
            </a:r>
            <a:endParaRPr lang="en-US" sz="1400" dirty="0"/>
          </a:p>
          <a:p>
            <a:pPr algn="l" indent="0" marL="0">
              <a:spcAft>
                <a:spcPts val="600"/>
              </a:spcAft>
              <a:buNone/>
            </a:pPr>
            <a:r>
              <a:rPr lang="en-US" sz="1400" dirty="0">
                <a:solidFill>
                  <a:srgbClr val="2B3242"/>
                </a:solidFill>
                <a:latin typeface="Pretendard" pitchFamily="34" charset="0"/>
                <a:ea typeface="Pretendard" pitchFamily="34" charset="-122"/>
                <a:cs typeface="Pretendard" pitchFamily="34" charset="-120"/>
              </a:rPr>
              <a:t>문장 2: "Its more than 3.85 million inhabitants..."</a:t>
            </a:r>
            <a:endParaRPr lang="en-US" sz="1400" dirty="0"/>
          </a:p>
          <a:p>
            <a:pPr algn="l" indent="0" marL="0">
              <a:spcAft>
                <a:spcPts val="600"/>
              </a:spcAft>
              <a:buNone/>
            </a:pPr>
            <a:r>
              <a:rPr lang="en-US" sz="1400" dirty="0">
                <a:solidFill>
                  <a:srgbClr val="2B3242"/>
                </a:solidFill>
                <a:latin typeface="Pretendard" pitchFamily="34" charset="0"/>
                <a:ea typeface="Pretendard" pitchFamily="34" charset="-122"/>
                <a:cs typeface="Pretendard" pitchFamily="34" charset="-120"/>
              </a:rPr>
              <a:t>문장 3: "The city is also one of the states..."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0339121" y="4160520"/>
          <a:ext cx="3794760" cy="914400"/>
        </p:xfrm>
        <a:graphic>
          <a:graphicData uri="http://schemas.openxmlformats.org/drawingml/2006/table">
            <a:tbl>
              <a:tblPr/>
              <a:tblGrid>
                <a:gridCol w="1606601"/>
                <a:gridCol w="1097280"/>
                <a:gridCol w="1097280"/>
              </a:tblGrid>
              <a:tr h="41148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문장</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기존</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Late</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문장 1</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0.8486</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0.8495</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문장 2</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0.7084</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0.8249</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문장 3</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0.7535</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0.8498</a:t>
                      </a:r>
                      <a:endParaRPr lang="en-US" sz="1400" dirty="0">
                        <a:latin typeface="Pretendard" charset="0"/>
                        <a:ea typeface="Pretendard" charset="0"/>
                        <a:cs typeface="Pretendard" charset="0"/>
                      </a:endParaRPr>
                    </a:p>
                  </a:txBody>
                  <a:tcPr marL="73152" marR="73152" marT="45720" marB="45720"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91" name="Text 88"/>
          <p:cNvSpPr txBox="1"/>
          <p:nvPr/>
        </p:nvSpPr>
        <p:spPr>
          <a:xfrm>
            <a:off x="10339121" y="5989320"/>
            <a:ext cx="379476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"Berlin"과의 코사인 유사도 (Jina 논문 표 1)</a:t>
            </a:r>
            <a:endParaRPr lang="en-US" sz="1400" dirty="0"/>
          </a:p>
        </p:txBody>
      </p:sp>
      <p:sp>
        <p:nvSpPr>
          <p:cNvPr id="92" name="Shape 89"/>
          <p:cNvSpPr/>
          <p:nvPr/>
        </p:nvSpPr>
        <p:spPr>
          <a:xfrm>
            <a:off x="509321" y="6355080"/>
            <a:ext cx="64008" cy="365760"/>
          </a:xfrm>
          <a:prstGeom prst="rect">
            <a:avLst/>
          </a:prstGeom>
          <a:solidFill>
            <a:srgbClr val="2E74C6"/>
          </a:solidFill>
          <a:ln/>
        </p:spPr>
      </p:sp>
      <p:sp>
        <p:nvSpPr>
          <p:cNvPr id="93" name="Text 90"/>
          <p:cNvSpPr txBox="1"/>
          <p:nvPr/>
        </p:nvSpPr>
        <p:spPr>
          <a:xfrm>
            <a:off x="692201" y="6355080"/>
            <a:ext cx="10920679" cy="365760"/>
          </a:xfrm>
          <a:prstGeom prst="rect">
            <a:avLst/>
          </a:prstGeom>
          <a:noFill/>
          <a:ln/>
        </p:spPr>
        <p:txBody>
          <a:bodyPr wrap="square" lIns="0" tIns="0" rIns="0" bIns="0" rtlCol="0" anchor="ctr"/>
          <a:lstStyle/>
          <a:p>
            <a:pPr indent="0" marL="0">
              <a:buNone/>
            </a:pPr>
            <a:r>
              <a:rPr lang="en-US" sz="1600" b="1" i="1" dirty="0">
                <a:solidFill>
                  <a:srgbClr val="1E2A5C"/>
                </a:solidFill>
                <a:latin typeface="Pretendard" pitchFamily="34" charset="0"/>
                <a:ea typeface="Pretendard" pitchFamily="34" charset="-122"/>
                <a:cs typeface="Pretendard" pitchFamily="34" charset="-120"/>
              </a:rPr>
              <a:t>경계는 같고, 모델을 자르기 전에 통과시키느냐 뒤에 통과시키느냐가 다릅니다. 모델 한도(예: 8192토큰)를 넘는 문서는 나눠 처리합니다.</a:t>
            </a:r>
            <a:endParaRPr lang="en-US" sz="1600" dirty="0"/>
          </a:p>
        </p:txBody>
      </p:sp>
      <p:sp>
        <p:nvSpPr>
          <p:cNvPr id="94" name="Shape 91"/>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95" name="Text 92">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96" name="Shape 93"/>
          <p:cNvSpPr/>
          <p:nvPr/>
        </p:nvSpPr>
        <p:spPr>
          <a:xfrm>
            <a:off x="509321" y="7388352"/>
            <a:ext cx="13624560" cy="0"/>
          </a:xfrm>
          <a:prstGeom prst="line">
            <a:avLst/>
          </a:prstGeom>
          <a:noFill/>
          <a:ln w="12700">
            <a:solidFill>
              <a:srgbClr val="E9ECF3"/>
            </a:solidFill>
            <a:prstDash val="solid"/>
          </a:ln>
        </p:spPr>
      </p:sp>
      <p:sp>
        <p:nvSpPr>
          <p:cNvPr id="97" name="Text 94"/>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Günther 외, Late Chunking (arXiv 2409.04701 v3) 표 1과 알고리즘 1. Jina AI 블로그 2편(2024-10-03)</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 Chunking: 문서 전체를 먼저 임베딩하고 나중에 자르기</dc:title>
  <dc:subject>PptxGenJS Presentation</dc:subject>
  <dc:creator>hybrid-ai 교육팀</dc:creator>
  <cp:lastModifiedBy>hybrid-ai 교육팀</cp:lastModifiedBy>
  <cp:revision>1</cp:revision>
  <dcterms:created xsi:type="dcterms:W3CDTF">2026-10-21T15:49:28Z</dcterms:created>
  <dcterms:modified xsi:type="dcterms:W3CDTF">2026-10-21T15:49:28Z</dcterms:modified>
</cp:coreProperties>
</file>