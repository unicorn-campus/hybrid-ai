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4630400" cy="8229600"/>
  <p:notesSz cx="8229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Relationship Id="rIdSource1" Type="http://schemas.openxmlformats.org/officeDocument/2006/relationships/hyperlink" Target="https://github.com/unicorn-campus/hybrid-ai/blob/main/research/rag-trends-2026.md#1-&#54620;&#45576;&#50640;-&#48372;&#44592;" TargetMode="External"/></Relationships>
</file>

<file path=ppt/notesSlides/_rels/notesSlide2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Relationship Id="rIdSource2" Type="http://schemas.openxmlformats.org/officeDocument/2006/relationships/hyperlink" Target="https://www.anthropic.com/news/contextual-retrieval" TargetMode="External"/><Relationship Id="rIdSource3" Type="http://schemas.openxmlformats.org/officeDocument/2006/relationships/hyperlink" Target="https://docs.cohere.com/v1/changelog/embed-v5" TargetMode="External"/><Relationship Id="rIdSource4" Type="http://schemas.openxmlformats.org/officeDocument/2006/relationships/hyperlink" Target="https://blog.voyageai.com/2026/01/15/voyage-4/" TargetMode="External"/><Relationship Id="rIdSource5" Type="http://schemas.openxmlformats.org/officeDocument/2006/relationships/hyperlink" Target="https://neo4j.com/docs/neo4j-graphrag-python/current/user_guide_rag.html" TargetMode="External"/><Relationship Id="rIdSource6" Type="http://schemas.openxmlformats.org/officeDocument/2006/relationships/hyperlink" Target="https://github.com/unicorn-campus/hybrid-ai/blob/main/research/rag-trends-2026.md#2-&#53360;-&#55120;&#47492;-7&#44032;&#51648;" TargetMode="External"/></Relationships>
</file>

<file path=ppt/notesSlides/_rels/notesSlide3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Relationship Id="rIdSource7" Type="http://schemas.openxmlformats.org/officeDocument/2006/relationships/hyperlink" Target="https://docs.cohere.com/v1/changelog/embed-v5" TargetMode="External"/><Relationship Id="rIdSource8" Type="http://schemas.openxmlformats.org/officeDocument/2006/relationships/hyperlink" Target="https://docs.cohere.com/v2/docs/cohere-embed" TargetMode="External"/><Relationship Id="rIdSource9" Type="http://schemas.openxmlformats.org/officeDocument/2006/relationships/hyperlink" Target="https://platform.openai.com/docs/guides/embeddings" TargetMode="External"/><Relationship Id="rIdSource10" Type="http://schemas.openxmlformats.org/officeDocument/2006/relationships/hyperlink" Target="https://blog.voyageai.com/2026/01/15/voyage-4/" TargetMode="External"/><Relationship Id="rIdSource11" Type="http://schemas.openxmlformats.org/officeDocument/2006/relationships/hyperlink" Target="https://blog.google/innovation-and-ai/models-and-research/gemini-models/gemini-embedding-2/" TargetMode="External"/><Relationship Id="rIdSource12" Type="http://schemas.openxmlformats.org/officeDocument/2006/relationships/hyperlink" Target="https://github.com/QwenLM/Qwen3-Embedding" TargetMode="External"/><Relationship Id="rIdSource13" Type="http://schemas.openxmlformats.org/officeDocument/2006/relationships/hyperlink" Target="https://huggingface.co/BAAI/bge-m3" TargetMode="External"/><Relationship Id="rIdSource14" Type="http://schemas.openxmlformats.org/officeDocument/2006/relationships/hyperlink" Target="https://arxiv.org/abs/2602.15547" TargetMode="External"/><Relationship Id="rIdSource15" Type="http://schemas.openxmlformats.org/officeDocument/2006/relationships/hyperlink" Target="https://arxiv.org/abs/2605.08384" TargetMode="External"/><Relationship Id="rIdSource16" Type="http://schemas.openxmlformats.org/officeDocument/2006/relationships/hyperlink" Target="https://github.com/nlpai-lab/KURE" TargetMode="External"/><Relationship Id="rIdSource17" Type="http://schemas.openxmlformats.org/officeDocument/2006/relationships/hyperlink" Target="https://github.com/pgvector/pgvector" TargetMode="External"/><Relationship Id="rIdSource18" Type="http://schemas.openxmlformats.org/officeDocument/2006/relationships/hyperlink" Target="https://github.com/lancedb/lancedb" TargetMode="External"/><Relationship Id="rIdSource19" Type="http://schemas.openxmlformats.org/officeDocument/2006/relationships/hyperlink" Target="https://github.com/unicorn-campus/hybrid-ai/blob/main/research/rag-trends-2026.md#3-&#48289;&#53552;-&#44160;&#49353;&#44284;-&#51076;&#48288;&#46377;" TargetMode="External"/></Relationships>
</file>

<file path=ppt/notesSlides/_rels/notesSlide4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Relationship Id="rIdSource20" Type="http://schemas.openxmlformats.org/officeDocument/2006/relationships/hyperlink" Target="https://www.anthropic.com/news/contextual-retrieval" TargetMode="External"/><Relationship Id="rIdSource21" Type="http://schemas.openxmlformats.org/officeDocument/2006/relationships/hyperlink" Target="https://arxiv.org/abs/2407.03618v1" TargetMode="External"/><Relationship Id="rIdSource22" Type="http://schemas.openxmlformats.org/officeDocument/2006/relationships/hyperlink" Target="https://github.com/naver/splade" TargetMode="External"/><Relationship Id="rIdSource23" Type="http://schemas.openxmlformats.org/officeDocument/2006/relationships/hyperlink" Target="https://docs.opensearch.org/latest/vector-search/ai-search/hybrid-search/index/" TargetMode="External"/><Relationship Id="rIdSource24" Type="http://schemas.openxmlformats.org/officeDocument/2006/relationships/hyperlink" Target="https://github.com/unicorn-campus/hybrid-ai/blob/main/research/rag-trends-2026.md#4-bm25&#50752;-&#55148;&#49548;-&#44160;&#49353;" TargetMode="External"/></Relationships>
</file>

<file path=ppt/notesSlides/_rels/notesSlide5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Relationship Id="rIdSource25" Type="http://schemas.openxmlformats.org/officeDocument/2006/relationships/hyperlink" Target="https://www.anthropic.com/news/contextual-retrieval" TargetMode="External"/><Relationship Id="rIdSource26" Type="http://schemas.openxmlformats.org/officeDocument/2006/relationships/hyperlink" Target="https://docs.cohere.com/changelog/rerank-v4.0" TargetMode="External"/><Relationship Id="rIdSource27" Type="http://schemas.openxmlformats.org/officeDocument/2006/relationships/hyperlink" Target="https://github.com/QwenLM/Qwen3-Embedding" TargetMode="External"/><Relationship Id="rIdSource28" Type="http://schemas.openxmlformats.org/officeDocument/2006/relationships/hyperlink" Target="https://docs.weaviate.io/weaviate/concepts/search/hybrid-search" TargetMode="External"/><Relationship Id="rIdSource29" Type="http://schemas.openxmlformats.org/officeDocument/2006/relationships/hyperlink" Target="https://github.com/unicorn-campus/hybrid-ai/blob/main/research/rag-trends-2026.md#5-&#54616;&#51060;&#48652;&#47532;&#46300;-&#44160;&#49353;&#44284;-&#47532;&#47021;&#53433;" TargetMode="External"/></Relationships>
</file>

<file path=ppt/notesSlides/_rels/notesSlide6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Relationship Id="rIdSource30" Type="http://schemas.openxmlformats.org/officeDocument/2006/relationships/hyperlink" Target="https://www.anthropic.com/news/contextual-retrieval" TargetMode="External"/><Relationship Id="rIdSource31" Type="http://schemas.openxmlformats.org/officeDocument/2006/relationships/hyperlink" Target="https://arxiv.org/html/2409.04701v1" TargetMode="External"/><Relationship Id="rIdSource32" Type="http://schemas.openxmlformats.org/officeDocument/2006/relationships/hyperlink" Target="https://github.com/unicorn-campus/hybrid-ai/blob/main/research/rag-trends-2026.md#6-&#52397;&#53433;-&#51064;&#45937;&#49905;-&#53244;&#47532;-&#48320;&#54872;" TargetMode="External"/></Relationships>
</file>

<file path=ppt/notesSlides/_rels/notesSlide7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Relationship Id="rIdSource33" Type="http://schemas.openxmlformats.org/officeDocument/2006/relationships/hyperlink" Target="https://neo4j.com/docs/neo4j-graphrag-python/current/user_guide_rag.html" TargetMode="External"/><Relationship Id="rIdSource34" Type="http://schemas.openxmlformats.org/officeDocument/2006/relationships/hyperlink" Target="https://neo4j.com/customer-stories/klarna/" TargetMode="External"/><Relationship Id="rIdSource35" Type="http://schemas.openxmlformats.org/officeDocument/2006/relationships/hyperlink" Target="https://microsoft.github.io/graphrag/query/overview/" TargetMode="External"/><Relationship Id="rIdSource36" Type="http://schemas.openxmlformats.org/officeDocument/2006/relationships/hyperlink" Target="https://www.microsoft.com/en-us/research/blog/lazygraphrag/" TargetMode="External"/><Relationship Id="rIdSource37" Type="http://schemas.openxmlformats.org/officeDocument/2006/relationships/hyperlink" Target="https://arxiv.org/abs/2506.05690" TargetMode="External"/><Relationship Id="rIdSource38" Type="http://schemas.openxmlformats.org/officeDocument/2006/relationships/hyperlink" Target="https://arxiv.org/abs/2609.18099" TargetMode="External"/><Relationship Id="rIdSource39" Type="http://schemas.openxmlformats.org/officeDocument/2006/relationships/hyperlink" Target="https://arxiv.org/abs/2502.14802" TargetMode="External"/><Relationship Id="rIdSource40" Type="http://schemas.openxmlformats.org/officeDocument/2006/relationships/hyperlink" Target="https://github.com/getzep/graphiti" TargetMode="External"/><Relationship Id="rIdSource41" Type="http://schemas.openxmlformats.org/officeDocument/2006/relationships/hyperlink" Target="https://github.com/unicorn-campus/hybrid-ai/blob/main/research/rag-trends-2026.md#7-&#44536;&#47000;&#54532;-&#44160;&#49353;-graphrag" TargetMode="External"/></Relationships>
</file>

<file path=ppt/notesSlides/_rels/notesSlide8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Relationship Id="rIdSource42" Type="http://schemas.openxmlformats.org/officeDocument/2006/relationships/hyperlink" Target="https://aclanthology.org/2025.emnlp-main.1674.pdf" TargetMode="External"/><Relationship Id="rIdSource43" Type="http://schemas.openxmlformats.org/officeDocument/2006/relationships/hyperlink" Target="https://docs.getdbt.com/blog/semantic-layer-vs-text-to-sql-2026?version=2" TargetMode="External"/><Relationship Id="rIdSource44" Type="http://schemas.openxmlformats.org/officeDocument/2006/relationships/hyperlink" Target="https://github.com/unicorn-campus/hybrid-ai/blob/main/research/rag-trends-2026.md#8-&#50728;&#53672;&#47196;&#51648;&#50752;-&#51648;&#49885;&#44536;&#47000;&#54532;" TargetMode="External"/></Relationships>
</file>

<file path=ppt/notesSlides/_rels/notesSlide9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Relationship Id="rIdSource45" Type="http://schemas.openxmlformats.org/officeDocument/2006/relationships/hyperlink" Target="https://spider2-sql.github.io/" TargetMode="External"/><Relationship Id="rIdSource46" Type="http://schemas.openxmlformats.org/officeDocument/2006/relationships/hyperlink" Target="https://bird-bench.github.io/" TargetMode="External"/><Relationship Id="rIdSource47" Type="http://schemas.openxmlformats.org/officeDocument/2006/relationships/hyperlink" Target="https://docs.getdbt.com/blog/semantic-layer-vs-text-to-sql-2026?version=2" TargetMode="External"/><Relationship Id="rIdSource48" Type="http://schemas.openxmlformats.org/officeDocument/2006/relationships/hyperlink" Target="https://github.com/unicorn-campus/hybrid-ai/blob/main/research/rag-trends-2026.md#9-nl2sql&#44284;-&#49884;&#47592;&#54001;-&#47112;&#51060;&#50612;" TargetMode="External"/></Relationships>
</file>

<file path=ppt/notesSlides/_rels/notesSlide10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Relationship Id="rIdSource49" Type="http://schemas.openxmlformats.org/officeDocument/2006/relationships/hyperlink" Target="https://www.anthropic.com/engineering/multi-agent-research-system" TargetMode="External"/><Relationship Id="rIdSource50" Type="http://schemas.openxmlformats.org/officeDocument/2006/relationships/hyperlink" Target="https://arxiv.org/abs/2310.11511" TargetMode="External"/><Relationship Id="rIdSource51" Type="http://schemas.openxmlformats.org/officeDocument/2006/relationships/hyperlink" Target="https://arxiv.org/abs/2401.15884" TargetMode="External"/><Relationship Id="rIdSource52" Type="http://schemas.openxmlformats.org/officeDocument/2006/relationships/hyperlink" Target="https://learn.microsoft.com/en-us/Azure/search/agentic-retrieval-overview" TargetMode="External"/><Relationship Id="rIdSource53" Type="http://schemas.openxmlformats.org/officeDocument/2006/relationships/hyperlink" Target="https://github.com/unicorn-campus/hybrid-ai/blob/main/research/rag-trends-2026.md#10-&#50640;&#51060;&#51204;&#54001;-rag&#50752;-&#46373;-&#47532;&#49436;&#52824;" TargetMode="External"/></Relationships>
</file>

<file path=ppt/notesSlides/_rels/notesSlide11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Relationship Id="rIdSource54" Type="http://schemas.openxmlformats.org/officeDocument/2006/relationships/hyperlink" Target="https://proceedings.mlr.press/v267/li25dv.html" TargetMode="External"/><Relationship Id="rIdSource55" Type="http://schemas.openxmlformats.org/officeDocument/2006/relationships/hyperlink" Target="https://www.anthropic.com/engineering/effective-context-engineering-for-ai-agents" TargetMode="External"/><Relationship Id="rIdSource56" Type="http://schemas.openxmlformats.org/officeDocument/2006/relationships/hyperlink" Target="https://docs.claude.com/en/docs/build-with-claude/prompt-caching" TargetMode="External"/><Relationship Id="rIdSource57" Type="http://schemas.openxmlformats.org/officeDocument/2006/relationships/hyperlink" Target="https://www.anthropic.com/engineering/code-execution-with-mcp" TargetMode="External"/><Relationship Id="rIdSource58" Type="http://schemas.openxmlformats.org/officeDocument/2006/relationships/hyperlink" Target="https://github.com/unicorn-campus/hybrid-ai/blob/main/research/rag-trends-2026.md#11-&#52968;&#53581;&#49828;&#53944;-&#50644;&#51648;&#45768;&#50612;&#47553;&#44284;-&#44596;-&#47928;&#47589;-&#45436;&#51137;" TargetMode="External"/></Relationships>
</file>

<file path=ppt/notesSlides/_rels/notesSlide12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Relationship Id="rIdSource59" Type="http://schemas.openxmlformats.org/officeDocument/2006/relationships/hyperlink" Target="https://docs.ragas.io/en/latest/concepts/test_data_generation/rag/" TargetMode="External"/><Relationship Id="rIdSource60" Type="http://schemas.openxmlformats.org/officeDocument/2006/relationships/hyperlink" Target="https://www.anthropic.com/engineering/multi-agent-research-system" TargetMode="External"/><Relationship Id="rIdSource61" Type="http://schemas.openxmlformats.org/officeDocument/2006/relationships/hyperlink" Target="https://github.com/unicorn-campus/hybrid-ai/blob/main/research/rag-trends-2026.md#12-rag-&#54217;&#44032;&#50752;-&#44288;&#52769;" TargetMode="External"/></Relationships>
</file>

<file path=ppt/notesSlides/_rels/notesSlide13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Relationship Id="rIdSource62" Type="http://schemas.openxmlformats.org/officeDocument/2006/relationships/hyperlink" Target="https://neo4j.com/docs/neo4j-graphrag-python/current/user_guide_rag.html" TargetMode="External"/><Relationship Id="rIdSource63" Type="http://schemas.openxmlformats.org/officeDocument/2006/relationships/hyperlink" Target="https://learn.microsoft.com/en-us/Azure/search/agentic-retrieval-overview" TargetMode="External"/><Relationship Id="rIdSource64" Type="http://schemas.openxmlformats.org/officeDocument/2006/relationships/hyperlink" Target="https://github.com/unicorn-campus/hybrid-ai/blob/main/research/rag-trends-2026.md#13-&#47680;&#54000;-&#49548;&#49828;-&#46972;&#50864;&#54021;-&#50500;&#53412;&#53581;&#52376;" TargetMode="External"/></Relationships>
</file>

<file path=ppt/notesSlides/_rels/notesSlide14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Relationship Id="rIdSource65" Type="http://schemas.openxmlformats.org/officeDocument/2006/relationships/hyperlink" Target="https://github.com/unicorn-campus/hybrid-ai/blob/main/research/rag-trends-2026.md#14-&#44368;&#50977;&#54016;-&#51201;&#50857;-&#51228;&#50504;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슬라이드 1: RAG 최신 트렌드 조사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넓은 의미의 RAG는 이 보고서의 범위 정의입니다. 모든 SQL 시스템을 학계에서 RAG로 분류한다는 뜻은 아닙니다.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최초 조사 기록은 WebSearch 68회와 공식 원문 15건입니다. Astra의 추가 검토와 수행 기록을 혼합하지 않습니다.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이 자료는 문헌 조사입니다. 한국어 기업 데이터에서 모델별 성능을 직접 측정한 결과는 아닙니다.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원문: 링크 기준 URL의 1절과 15절.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상세 보고서: </a:t>
            </a:r>
            <a:r>
              <a:rPr lang="ko-KR" sz="1400">
                <a:latin typeface="Pretendard"/>
                <a:ea typeface="Pretendard"/>
                <a:cs typeface="Pretendard"/>
                <a:hlinkClick r:id="rIdSource1"/>
              </a:rPr>
              <a:t>https://github.com/unicorn-campus/hybrid-ai/blob/main/research/rag-trends-2026.md#1-한눈에-보기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슬라이드 2: 2026년 RAG의 큰 흐름 7가지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하이브리드나 리랭킹을 모든 데이터의 고정된 기본값으로 단정하지 않습니다.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Cohere Embed 5와 Voyage 4는 제품군 안에서 색인용과 질의용 모델의 벡터 호환을 지원합니다.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dbt의 시맨틱 레이어 효과는 11개 보험 질문을 반복 실행한 벤더 실험에서 확인한 결과입니다.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2"/>
              </a:rPr>
              <a:t>https://www.anthropic.com/news/contextual-retrieval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3"/>
              </a:rPr>
              <a:t>https://docs.cohere.com/v1/changelog/embed-v5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4"/>
              </a:rPr>
              <a:t>https://blog.voyageai.com/2026/01/15/voyage-4/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5"/>
              </a:rPr>
              <a:t>https://neo4j.com/docs/neo4j-graphrag-python/current/user_guide_rag.html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상세 보고서: </a:t>
            </a:r>
            <a:r>
              <a:rPr lang="ko-KR" sz="1400">
                <a:latin typeface="Pretendard"/>
                <a:ea typeface="Pretendard"/>
                <a:cs typeface="Pretendard"/>
                <a:hlinkClick r:id="rIdSource6"/>
              </a:rPr>
              <a:t>https://github.com/unicorn-campus/hybrid-ai/blob/main/research/rag-trends-2026.md#2-큰-흐름-7가지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슬라이드 3: 임베딩 모델과 검색 저장소의 선택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표는 시장 점유율 순위나 전체 모델 목록이 아닙니다. API, 자체 배포, 한국어와 멀티모달을 고르게 다룹니다.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OpenAI 3은 text-embedding-3-small/large입니다. Qwen3는 Qwen3-Embedding 제품군입니다.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Cohere Embed 5는 2026-09-30 공개됐습니다. Pro로 색인하고 Fast로 질의하는 호환 조합을 지원합니다.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Cohere Embed 4는 기존 시스템의 비교 기준입니다. Embed 5와 자동 호환된다고 가정하지 않습니다.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Voyage 4는 2026-01-15 공개됐으며 large/기본/lite/nano의 벡터 공간을 공유합니다.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Jina v5-text는 2026-02, v5-omni는 2026-05 논문을 확인했습니다. 상업 이용 조건은 모델별로 확인합니다.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KURE-v1은 BGE-M3 기반 dense, v2는 late-interaction입니다. v3는 2026-10-20 공개 dense 모델입니다.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같은 차원의 벡터도 모델이 다르면 호환되지 않을 수 있습니다. 공식 호환 조합 외에는 재색인을 계획합니다.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7"/>
              </a:rPr>
              <a:t>https://docs.cohere.com/v1/changelog/embed-v5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8"/>
              </a:rPr>
              <a:t>https://docs.cohere.com/v2/docs/cohere-embed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9"/>
              </a:rPr>
              <a:t>https://platform.openai.com/docs/guides/embeddings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10"/>
              </a:rPr>
              <a:t>https://blog.voyageai.com/2026/01/15/voyage-4/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11"/>
              </a:rPr>
              <a:t>https://blog.google/innovation-and-ai/models-and-research/gemini-models/gemini-embedding-2/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12"/>
              </a:rPr>
              <a:t>https://github.com/QwenLM/Qwen3-Embedding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13"/>
              </a:rPr>
              <a:t>https://huggingface.co/BAAI/bge-m3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14"/>
              </a:rPr>
              <a:t>https://arxiv.org/abs/2602.15547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15"/>
              </a:rPr>
              <a:t>https://arxiv.org/abs/2605.08384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16"/>
              </a:rPr>
              <a:t>https://github.com/nlpai-lab/KURE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17"/>
              </a:rPr>
              <a:t>https://github.com/pgvector/pgvector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18"/>
              </a:rPr>
              <a:t>https://github.com/lancedb/lancedb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상세 보고서: </a:t>
            </a:r>
            <a:r>
              <a:rPr lang="ko-KR" sz="1400">
                <a:latin typeface="Pretendard"/>
                <a:ea typeface="Pretendard"/>
                <a:cs typeface="Pretendard"/>
                <a:hlinkClick r:id="rIdSource19"/>
              </a:rPr>
              <a:t>https://github.com/unicorn-campus/hybrid-ai/blob/main/research/rag-trends-2026.md#3-벡터-검색과-임베딩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슬라이드 4: BM25와 한국어 검색 기준선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형태소 분석은 도움이 될 수 있지만 모든 질문에서 품질을 높인다고 단정하지 않습니다.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OpenSearch는 키워드와 벡터 검색을 결합합니다. 모든 엔진의 융합 방식이 같다는 뜻은 아닙니다.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20"/>
              </a:rPr>
              <a:t>https://www.anthropic.com/news/contextual-retrieval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21"/>
              </a:rPr>
              <a:t>https://arxiv.org/abs/2407.03618v1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22"/>
              </a:rPr>
              <a:t>https://github.com/naver/splade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23"/>
              </a:rPr>
              <a:t>https://docs.opensearch.org/latest/vector-search/ai-search/hybrid-search/index/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상세 보고서: </a:t>
            </a:r>
            <a:r>
              <a:rPr lang="ko-KR" sz="1400">
                <a:latin typeface="Pretendard"/>
                <a:ea typeface="Pretendard"/>
                <a:cs typeface="Pretendard"/>
                <a:hlinkClick r:id="rIdSource24"/>
              </a:rPr>
              <a:t>https://github.com/unicorn-campus/hybrid-ai/blob/main/research/rag-trends-2026.md#4-bm25와-희소-검색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슬라이드 5: 검색 결합과 리랭킹의 효과를 따로 측정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상위 20개 검색 실패율은 기본 임베딩 5.7%, 문맥 보강과 BM25 적용 2.9%, 리랭킹 추가 1.9%입니다.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67%는 기본 임베딩 대비 전체 조합의 상대 감소율입니다. 리랭커만의 효과로 설명하지 않습니다.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RRF의 k=60은 설정 예시이며 필수값이 아닙니다. Weaviate는 v1.24부터 상대 점수 융합이 기본값입니다.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후보에 없는 문서를 리랭커가 복구할 수는 없습니다. listwise LLM 방식도 항상 가장 정확한 것은 아닙니다.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Cohere Rerank 4 공개일은 2025-12-11입니다. Embed와 Rerank는 각각 벡터 생성과 후보 정렬을 맡습니다.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25"/>
              </a:rPr>
              <a:t>https://www.anthropic.com/news/contextual-retrieval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26"/>
              </a:rPr>
              <a:t>https://docs.cohere.com/changelog/rerank-v4.0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27"/>
              </a:rPr>
              <a:t>https://github.com/QwenLM/Qwen3-Embedding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28"/>
              </a:rPr>
              <a:t>https://docs.weaviate.io/weaviate/concepts/search/hybrid-search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상세 보고서: </a:t>
            </a:r>
            <a:r>
              <a:rPr lang="ko-KR" sz="1400">
                <a:latin typeface="Pretendard"/>
                <a:ea typeface="Pretendard"/>
                <a:cs typeface="Pretendard"/>
                <a:hlinkClick r:id="rIdSource29"/>
              </a:rPr>
              <a:t>https://github.com/unicorn-campus/hybrid-ai/blob/main/research/rag-trends-2026.md#5-하이브리드-검색과-리랭킹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슬라이드 6: 청크의 문맥과 질문 표현 보완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청크 맥락 설명을 생성하는 방식과 토큰 벡터에 전체 문맥을 반영하는 late chunking은 서로 다른 방식입니다.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문서 이미지 검색은 표와 스캔 문서에서 평가할 후보입니다. 모든 문서 검색에서 우월하다는 뜻은 아닙니다.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HyDE의 가상 답변은 검증된 사실이 아닙니다. 잘못된 가정이 검색을 흐릴 수 있습니다.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30"/>
              </a:rPr>
              <a:t>https://www.anthropic.com/news/contextual-retrieval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31"/>
              </a:rPr>
              <a:t>https://arxiv.org/html/2409.04701v1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ColPali 공식 논문 링크는 보고서 6절과 16절을 참조합니다.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상세 보고서: </a:t>
            </a:r>
            <a:r>
              <a:rPr lang="ko-KR" sz="1400">
                <a:latin typeface="Pretendard"/>
                <a:ea typeface="Pretendard"/>
                <a:cs typeface="Pretendard"/>
                <a:hlinkClick r:id="rIdSource32"/>
              </a:rPr>
              <a:t>https://github.com/unicorn-campus/hybrid-ai/blob/main/research/rag-trends-2026.md#6-청킹-인덱싱-쿼리-변환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슬라이드 7: GraphRAG 방법론과 Neo4j 구현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GraphRAG는 넓은 방법군과 Microsoft 프로젝트 이름으로 함께 쓰입니다. Neo4j 사용 자체가 같은 방법을 뜻하지 않습니다.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VectorRetriever는 벡터 검색, HybridRetriever는 벡터와 전문 검색을 결합합니다.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VectorCypherRetriever와 HybridCypherRetriever는 찾은 노드에서 개발자가 정한 Cypher를 실행합니다.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Text2CypherRetriever는 모델이 질의를 생성하므로 권한, 허용 범위, 실행 시간과 결과 검증이 필요합니다.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Klarna Kiki는 고객 및 벤더가 공개한 실제 도입 사례입니다. 독립적인 정확도 비교나 점유율 근거는 아닙니다.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LazyGraphRAG는 LLM 요약 생성을 미룹니다. 0.1% 색인 비용은 Microsoft의 특정 비교 조건입니다.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EffiRAG의 57% 비용 절감은 UltraDomain 120개 질문에서 LightRAG-hybrid와 비교한 저자 실험입니다.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HippoRAG 2는 별도 비용 측정 없이 저비용 구축 기법으로 분류하지 않습니다.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Graphiti처럼 시간 모델을 갖춘 구현도 있으므로 그래프 전체가 시간 질문에 약하다고 단정하지 않습니다.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33"/>
              </a:rPr>
              <a:t>https://neo4j.com/docs/neo4j-graphrag-python/current/user_guide_rag.html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34"/>
              </a:rPr>
              <a:t>https://neo4j.com/customer-stories/klarna/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35"/>
              </a:rPr>
              <a:t>https://microsoft.github.io/graphrag/query/overview/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36"/>
              </a:rPr>
              <a:t>https://www.microsoft.com/en-us/research/blog/lazygraphrag/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37"/>
              </a:rPr>
              <a:t>https://arxiv.org/abs/2506.05690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38"/>
              </a:rPr>
              <a:t>https://arxiv.org/abs/2609.18099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39"/>
              </a:rPr>
              <a:t>https://arxiv.org/abs/2502.14802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40"/>
              </a:rPr>
              <a:t>https://github.com/getzep/graphiti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상세 보고서: </a:t>
            </a:r>
            <a:r>
              <a:rPr lang="ko-KR" sz="1400">
                <a:latin typeface="Pretendard"/>
                <a:ea typeface="Pretendard"/>
                <a:cs typeface="Pretendard"/>
                <a:hlinkClick r:id="rIdSource41"/>
              </a:rPr>
              <a:t>https://github.com/unicorn-campus/hybrid-ai/blob/main/research/rag-trends-2026.md#7-그래프-검색-graphrag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슬라이드 8: 업무 개념과 관계를 명시하는 방법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온톨로지는 개념과 관계의 약속입니다. 시맨틱 레이어는 업무 지표를 데이터와 계산식에 연결합니다.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GraphRAG 구현에 반드시 OWL이 필요한 것은 아니며, OWL이 불필요해졌다는 뜻도 아닙니다.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시맨틱 레이어의 존재만으로 접근 권한이 보장되지는 않습니다. 테이블과 뷰의 권한을 함께 설계합니다.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OG-RAG는 문서를 온톨로지에 맞춘 사실 블록과 하이퍼엣지로 검색하는 연구입니다.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42"/>
              </a:rPr>
              <a:t>https://aclanthology.org/2025.emnlp-main.1674.pdf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43"/>
              </a:rPr>
              <a:t>https://docs.getdbt.com/blog/semantic-layer-vs-text-to-sql-2026?version=2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상세 보고서: </a:t>
            </a:r>
            <a:r>
              <a:rPr lang="ko-KR" sz="1400">
                <a:latin typeface="Pretendard"/>
                <a:ea typeface="Pretendard"/>
                <a:cs typeface="Pretendard"/>
                <a:hlinkClick r:id="rIdSource44"/>
              </a:rPr>
              <a:t>https://github.com/unicorn-campus/hybrid-ai/blob/main/research/rag-trends-2026.md#8-온톨로지와-지식그래프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슬라이드 9: NL2SQL의 평가 조건과 업무 지표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Spider Snow와 Lite는 547문제, DBT는 68문제입니다. Lite는 메타데이터와 문서를 제공하는 설정입니다.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BIRD의 사람과 제출 시스템 간 차이는 해당 평가 내 10.01%p입니다. 모든 SQL 업무의 격차를 뜻하지 않습니다.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dbt는 claude-sonnet-4-6 90.0% → 98.2%, gpt-5.3-codex 84.1% → 100.0%를 보고했습니다.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같은 11개 질문을 반복 실행한 결과이며, 시맨틱 레이어에 정의되지 않은 신규 지표까지 보장하지 않습니다.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45"/>
              </a:rPr>
              <a:t>https://spider2-sql.github.io/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46"/>
              </a:rPr>
              <a:t>https://bird-bench.github.io/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47"/>
              </a:rPr>
              <a:t>https://docs.getdbt.com/blog/semantic-layer-vs-text-to-sql-2026?version=2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상세 보고서: </a:t>
            </a:r>
            <a:r>
              <a:rPr lang="ko-KR" sz="1400">
                <a:latin typeface="Pretendard"/>
                <a:ea typeface="Pretendard"/>
                <a:cs typeface="Pretendard"/>
                <a:hlinkClick r:id="rIdSource48"/>
              </a:rPr>
              <a:t>https://github.com/unicorn-campus/hybrid-ai/blob/main/research/rag-trends-2026.md#9-nl2sql과-시맨틱-레이어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슬라이드 10: 검색을 반복하는 에이전트 실행 흐름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Anthropic의 90.2% 성능 향상과 일반 채팅 대비 약 15배 토큰 사용은 해당 시스템의 내부 평가입니다.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이 비율을 모든 멀티 에이전트의 성능이나 비용 계수로 사용하지 않습니다.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작업 간 의존 관계와 공유할 문맥이 많으면 병렬화 이득이 줄어들 수 있습니다.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49"/>
              </a:rPr>
              <a:t>https://www.anthropic.com/engineering/multi-agent-research-system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50"/>
              </a:rPr>
              <a:t>https://arxiv.org/abs/2310.11511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51"/>
              </a:rPr>
              <a:t>https://arxiv.org/abs/2401.15884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52"/>
              </a:rPr>
              <a:t>https://learn.microsoft.com/en-us/Azure/search/agentic-retrieval-overview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상세 보고서: </a:t>
            </a:r>
            <a:r>
              <a:rPr lang="ko-KR" sz="1400">
                <a:latin typeface="Pretendard"/>
                <a:ea typeface="Pretendard"/>
                <a:cs typeface="Pretendard"/>
                <a:hlinkClick r:id="rIdSource53"/>
              </a:rPr>
              <a:t>https://github.com/unicorn-campus/hybrid-ai/blob/main/research/rag-trends-2026.md#10-에이전틱-rag와-딥-리서치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슬라이드 11: 검색, 긴 문맥과 캐싱의 선택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LaRA의 결론은 과제와 모델에 따라 결과가 달라진다는 것입니다. 표는 실험할 후보를 제시합니다.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2026-10-21 열람한 Sonnet 5.5 기본 입력은 $2/MTok, 캐시 적중은 $0.10/MTok입니다.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최초 캐시 쓰기와 만료, 적중하지 않은 입력 및 출력 비용까지 포함해야 합니다. 가격은 도입 시 재확인합니다.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MCP 코드 실행 글의 150,000 → 2,000 토큰 감소는 해당 도구 노출 예시의 결과입니다.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54"/>
              </a:rPr>
              <a:t>https://proceedings.mlr.press/v267/li25dv.html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55"/>
              </a:rPr>
              <a:t>https://www.anthropic.com/engineering/effective-context-engineering-for-ai-agents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56"/>
              </a:rPr>
              <a:t>https://docs.claude.com/en/docs/build-with-claude/prompt-caching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57"/>
              </a:rPr>
              <a:t>https://www.anthropic.com/engineering/code-execution-with-mcp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상세 보고서: </a:t>
            </a:r>
            <a:r>
              <a:rPr lang="ko-KR" sz="1400">
                <a:latin typeface="Pretendard"/>
                <a:ea typeface="Pretendard"/>
                <a:cs typeface="Pretendard"/>
                <a:hlinkClick r:id="rIdSource58"/>
              </a:rPr>
              <a:t>https://github.com/unicorn-campus/hybrid-ai/blob/main/research/rag-trends-2026.md#11-컨텍스트-엔지니어링과-긴-문맥-논쟁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슬라이드 12: 검색, 답변과 실행 과정을 함께 평가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답변 관련성이 높다고 사실이 맞는 것은 아닙니다. 정답 여부와 근거성을 따로 평가합니다.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RAGAS로 만든 질문도 사람이 검토해야 하며, 실제 운영 실패 질문으로 보완합니다.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평가 환경의 RAGAS 버전과 모델 설정을 고정하고, 업그레이드 시 같은 평가셋으로 결과를 비교합니다.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OpenTelemetry 사용만으로 모든 관측 도구의 기능과 이전 작업이 동일해지는 것은 아닙니다.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59"/>
              </a:rPr>
              <a:t>https://docs.ragas.io/en/latest/concepts/test_data_generation/rag/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60"/>
              </a:rPr>
              <a:t>https://www.anthropic.com/engineering/multi-agent-research-system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상세 보고서: </a:t>
            </a:r>
            <a:r>
              <a:rPr lang="ko-KR" sz="1400">
                <a:latin typeface="Pretendard"/>
                <a:ea typeface="Pretendard"/>
                <a:cs typeface="Pretendard"/>
                <a:hlinkClick r:id="rIdSource61"/>
              </a:rPr>
              <a:t>https://github.com/unicorn-campus/hybrid-ai/blob/main/research/rag-trends-2026.md#12-rag-평가와-관측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슬라이드 13: 질문과 결과 유형에 맞는 검색 경로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숫자 집계값 자체를 RRF의 검색 순위처럼 합치지 않습니다. 출처, 단위, 기준 시점과 계산 조건을 확인합니다.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SQL 결과에서 문서를 추가 검색하는 복합 흐름도 가능하지만, 결과의 의미를 보존하는 결합이 필요합니다.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긴 문맥 경로는 표에서 선택지로 보여 줍니다. 모든 경로를 억지로 리랭커 하나에 연결하지 않습니다.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62"/>
              </a:rPr>
              <a:t>https://neo4j.com/docs/neo4j-graphrag-python/current/user_guide_rag.html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  <a:hlinkClick r:id="rIdSource63"/>
              </a:rPr>
              <a:t>https://learn.microsoft.com/en-us/Azure/search/agentic-retrieval-overview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상세 보고서: </a:t>
            </a:r>
            <a:r>
              <a:rPr lang="ko-KR" sz="1400">
                <a:latin typeface="Pretendard"/>
                <a:ea typeface="Pretendard"/>
                <a:cs typeface="Pretendard"/>
                <a:hlinkClick r:id="rIdSource64"/>
              </a:rPr>
              <a:t>https://github.com/unicorn-campus/hybrid-ai/blob/main/research/rag-trends-2026.md#13-멀티-소스-라우팅-아키텍처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슬라이드 14: 비교 실험으로 확장하는 6단계 실습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관련 저장소: hands-on/solutions/rag, hands-on/solutions/sql-retriever.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그래프 실습은 관계 확장과 원문 근거를 먼저 확인하고, 연구 기법의 구축 비용을 별도 비교합니다.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단계별 정답 근거와 실패 질문을 유지하면 다음 기법의 이득과 퇴행을 같은 조건에서 확인할 수 있습니다.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원문: 링크 기준 URL의 14절.</a:t>
            </a:r>
          </a:p>
          <a:p>
            <a:pPr>
              <a:spcAft>
                <a:spcPts val="600"/>
              </a:spcAft>
            </a:pPr>
            <a:r>
              <a:rPr lang="ko-KR" sz="1400">
                <a:latin typeface="Pretendard"/>
                <a:ea typeface="Pretendard"/>
                <a:cs typeface="Pretendard"/>
              </a:rPr>
              <a:t>상세 보고서: </a:t>
            </a:r>
            <a:r>
              <a:rPr lang="ko-KR" sz="1400">
                <a:latin typeface="Pretendard"/>
                <a:ea typeface="Pretendard"/>
                <a:cs typeface="Pretendard"/>
                <a:hlinkClick r:id="rIdSource65"/>
              </a:rPr>
              <a:t>https://github.com/unicorn-campus/hybrid-ai/blob/main/research/rag-trends-2026.md#14-교육팀-적용-제안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내용_단쪽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8406" y="868680"/>
            <a:ext cx="13613587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45770" y="7787945"/>
            <a:ext cx="15316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6A6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무단전재 및 배포 금지</a:t>
            </a:r>
            <a:endParaRPr lang="en-US" sz="12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icorn-campus/hybrid-ai/blob/main/research/rag-trends-2026.md#2-&#53360;-&#55120;&#47492;-7&#44032;&#51648;" TargetMode="External"/><Relationship Id="rId2" Type="http://schemas.openxmlformats.org/officeDocument/2006/relationships/hyperlink" Target="https://github.com/unicorn-campus/hybrid-ai/blob/main/research/rag-trends-2026.md#3-&#48289;&#53552;-&#44160;&#49353;&#44284;-&#51076;&#48288;&#46377;" TargetMode="External"/><Relationship Id="rId3" Type="http://schemas.openxmlformats.org/officeDocument/2006/relationships/hyperlink" Target="https://github.com/unicorn-campus/hybrid-ai/blob/main/research/rag-trends-2026.md#4-bm25&#50752;-&#55148;&#49548;-&#44160;&#49353;" TargetMode="External"/><Relationship Id="rId4" Type="http://schemas.openxmlformats.org/officeDocument/2006/relationships/hyperlink" Target="https://github.com/unicorn-campus/hybrid-ai/blob/main/research/rag-trends-2026.md#5-&#54616;&#51060;&#48652;&#47532;&#46300;-&#44160;&#49353;&#44284;-&#47532;&#47021;&#53433;" TargetMode="External"/><Relationship Id="rId5" Type="http://schemas.openxmlformats.org/officeDocument/2006/relationships/hyperlink" Target="https://github.com/unicorn-campus/hybrid-ai/blob/main/research/rag-trends-2026.md#6-&#52397;&#53433;-&#51064;&#45937;&#49905;-&#53244;&#47532;-&#48320;&#54872;" TargetMode="External"/><Relationship Id="rId6" Type="http://schemas.openxmlformats.org/officeDocument/2006/relationships/hyperlink" Target="https://github.com/unicorn-campus/hybrid-ai/blob/main/research/rag-trends-2026.md#7-&#44536;&#47000;&#54532;-&#44160;&#49353;-graphrag" TargetMode="External"/><Relationship Id="rId7" Type="http://schemas.openxmlformats.org/officeDocument/2006/relationships/hyperlink" Target="https://github.com/unicorn-campus/hybrid-ai/blob/main/research/rag-trends-2026.md#8-&#50728;&#53672;&#47196;&#51648;&#50752;-&#51648;&#49885;&#44536;&#47000;&#54532;" TargetMode="External"/><Relationship Id="rId8" Type="http://schemas.openxmlformats.org/officeDocument/2006/relationships/hyperlink" Target="https://github.com/unicorn-campus/hybrid-ai/blob/main/research/rag-trends-2026.md#9-nl2sql&#44284;-&#49884;&#47592;&#54001;-&#47112;&#51060;&#50612;" TargetMode="External"/><Relationship Id="rId9" Type="http://schemas.openxmlformats.org/officeDocument/2006/relationships/hyperlink" Target="https://github.com/unicorn-campus/hybrid-ai/blob/main/research/rag-trends-2026.md#10-&#50640;&#51060;&#51204;&#54001;-rag&#50752;-&#46373;-&#47532;&#49436;&#52824;" TargetMode="External"/><Relationship Id="rId10" Type="http://schemas.openxmlformats.org/officeDocument/2006/relationships/hyperlink" Target="https://github.com/unicorn-campus/hybrid-ai/blob/main/research/rag-trends-2026.md#11-&#52968;&#53581;&#49828;&#53944;-&#50644;&#51648;&#45768;&#50612;&#47553;&#44284;-&#44596;-&#47928;&#47589;-&#45436;&#51137;" TargetMode="External"/><Relationship Id="rId11" Type="http://schemas.openxmlformats.org/officeDocument/2006/relationships/hyperlink" Target="https://github.com/unicorn-campus/hybrid-ai/blob/main/research/rag-trends-2026.md#12-rag-&#54217;&#44032;&#50752;-&#44288;&#52769;" TargetMode="External"/><Relationship Id="rId12" Type="http://schemas.openxmlformats.org/officeDocument/2006/relationships/hyperlink" Target="https://github.com/unicorn-campus/hybrid-ai/blob/main/research/rag-trends-2026.md#13-&#47680;&#54000;-&#49548;&#49828;-&#46972;&#50864;&#54021;-&#50500;&#53412;&#53581;&#52376;" TargetMode="External"/><Relationship Id="rId13" Type="http://schemas.openxmlformats.org/officeDocument/2006/relationships/hyperlink" Target="https://github.com/unicorn-campus/hybrid-ai/blob/main/research/rag-trends-2026.md#14-&#44368;&#50977;&#54016;-&#51201;&#50857;-&#51228;&#50504;" TargetMode="External"/><Relationship Id="rId14" Type="http://schemas.openxmlformats.org/officeDocument/2006/relationships/hyperlink" Target="https://github.com/unicorn-campus/hybrid-ai/blob/main/research/rag-trends-2026.md#1-&#54620;&#45576;&#50640;-&#48372;&#44592;" TargetMode="External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icorn-campus/hybrid-ai/blob/main/research/rag-trends-2026.md#2-&#53360;-&#55120;&#47492;-7&#44032;&#51648;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icorn-campus/hybrid-ai/blob/main/research/rag-trends-2026.md#3-&#48289;&#53552;-&#44160;&#49353;&#44284;-&#51076;&#48288;&#46377;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icorn-campus/hybrid-ai/blob/main/research/rag-trends-2026.md#4-bm25&#50752;-&#55148;&#49548;-&#44160;&#49353;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icorn-campus/hybrid-ai/blob/main/research/rag-trends-2026.md#5-&#54616;&#51060;&#48652;&#47532;&#46300;-&#44160;&#49353;&#44284;-&#47532;&#47021;&#53433;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icorn-campus/hybrid-ai/blob/main/research/rag-trends-2026.md#6-&#52397;&#53433;-&#51064;&#45937;&#49905;-&#53244;&#47532;-&#48320;&#54872;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icorn-campus/hybrid-ai/blob/main/research/rag-trends-2026.md#7-&#44536;&#47000;&#54532;-&#44160;&#49353;-graphrag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icorn-campus/hybrid-ai/blob/main/research/rag-trends-2026.md#8-&#50728;&#53672;&#47196;&#51648;&#50752;-&#51648;&#49885;&#44536;&#47000;&#54532;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icorn-campus/hybrid-ai/blob/main/research/rag-trends-2026.md#9-nl2sql&#44284;-&#49884;&#47592;&#54001;-&#47112;&#51060;&#50612;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icorn-campus/hybrid-ai/blob/main/research/rag-trends-2026.md#10-&#50640;&#51060;&#51204;&#54001;-rag&#50752;-&#46373;-&#47532;&#49436;&#52824;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icorn-campus/hybrid-ai/blob/main/research/rag-trends-2026.md#11-&#52968;&#53581;&#49828;&#53944;-&#50644;&#51648;&#45768;&#50612;&#47553;&#44284;-&#44596;-&#47928;&#47589;-&#45436;&#51137;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icorn-campus/hybrid-ai/blob/main/research/rag-trends-2026.md#12-rag-&#54217;&#44032;&#50752;-&#44288;&#52769;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icorn-campus/hybrid-ai/blob/main/research/rag-trends-2026.md#13-&#47680;&#54000;-&#49548;&#49828;-&#46972;&#50864;&#54021;-&#50500;&#53412;&#53581;&#52376;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icorn-campus/hybrid-ai/blob/main/research/rag-trends-2026.md#14-&#44368;&#50977;&#54016;-&#51201;&#50857;-&#51228;&#50504;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RAG 최신 트렌드 조사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질문에 맞는 검색 경로를 선택해 검증 가능한 근거를 답변에 전달합니다.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09321" y="1737360"/>
            <a:ext cx="4206240" cy="4983480"/>
          </a:xfrm>
          <a:prstGeom prst="roundRect">
            <a:avLst>
              <a:gd name="adj" fmla="val 2174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 범위</a:t>
            </a:r>
            <a:endParaRPr lang="en-US" sz="2400" dirty="0"/>
          </a:p>
          <a:p>
            <a:pPr algn="l" marL="228600" indent="-228600">
              <a:spcAft>
                <a:spcPts val="3600"/>
              </a:spcAft>
              <a:buSzPct val="100000"/>
              <a:buChar char="•"/>
            </a:pPr>
            <a:r>
              <a:rPr lang="en-US" sz="20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기준일: 2026-10-21</a:t>
            </a:r>
            <a:endParaRPr lang="en-US" sz="2400" dirty="0"/>
          </a:p>
          <a:p>
            <a:pPr algn="l" marL="228600" indent="-228600">
              <a:spcAft>
                <a:spcPts val="3600"/>
              </a:spcAft>
              <a:buSzPct val="100000"/>
              <a:buChar char="•"/>
            </a:pPr>
            <a:r>
              <a:rPr lang="en-US" sz="20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문서, SQL, 그래프와 에이전트 검색</a:t>
            </a:r>
            <a:endParaRPr lang="en-US" sz="2400" dirty="0"/>
          </a:p>
          <a:p>
            <a:pPr algn="l" marL="228600" indent="-228600">
              <a:spcAft>
                <a:spcPts val="3600"/>
              </a:spcAft>
              <a:buSzPct val="100000"/>
              <a:buChar char="•"/>
            </a:pPr>
            <a:r>
              <a:rPr lang="en-US" sz="20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기능과 연구 결과를 구분</a:t>
            </a:r>
            <a:endParaRPr lang="en-US" sz="2400" dirty="0"/>
          </a:p>
          <a:p>
            <a:pPr algn="l" marL="228600" indent="-228600">
              <a:spcAft>
                <a:spcPts val="3600"/>
              </a:spcAft>
              <a:buSzPct val="100000"/>
              <a:buChar char="•"/>
            </a:pPr>
            <a:r>
              <a:rPr lang="en-US" sz="20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자사 품질, 지연과 비용으로 선택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937760" y="1737360"/>
            <a:ext cx="2971800" cy="114300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74920" y="208026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2E74C6"/>
          </a:solidFill>
          <a:ln/>
        </p:spPr>
      </p:sp>
      <p:sp>
        <p:nvSpPr>
          <p:cNvPr id="7" name="Text 5"/>
          <p:cNvSpPr/>
          <p:nvPr/>
        </p:nvSpPr>
        <p:spPr>
          <a:xfrm>
            <a:off x="5074920" y="20802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14416" y="1737360"/>
            <a:ext cx="22219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큰 흐름 7가지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937760" y="3017520"/>
            <a:ext cx="2971800" cy="114300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74920" y="336042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2E74C6"/>
          </a:solidFill>
          <a:ln/>
        </p:spPr>
      </p:sp>
      <p:sp>
        <p:nvSpPr>
          <p:cNvPr id="11" name="Text 9"/>
          <p:cNvSpPr/>
          <p:nvPr/>
        </p:nvSpPr>
        <p:spPr>
          <a:xfrm>
            <a:off x="5074920" y="33604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614416" y="3017520"/>
            <a:ext cx="22219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벡터 검색과 임베딩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937760" y="4297680"/>
            <a:ext cx="2971800" cy="114300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74920" y="464058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2E74C6"/>
          </a:solidFill>
          <a:ln/>
        </p:spPr>
      </p:sp>
      <p:sp>
        <p:nvSpPr>
          <p:cNvPr id="15" name="Text 13"/>
          <p:cNvSpPr/>
          <p:nvPr/>
        </p:nvSpPr>
        <p:spPr>
          <a:xfrm>
            <a:off x="5074920" y="46405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614416" y="4297680"/>
            <a:ext cx="22219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BM25와 희소 검색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937760" y="5577840"/>
            <a:ext cx="2971800" cy="114300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74920" y="59207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2E74C6"/>
          </a:solidFill>
          <a:ln/>
        </p:spPr>
      </p:sp>
      <p:sp>
        <p:nvSpPr>
          <p:cNvPr id="19" name="Text 17"/>
          <p:cNvSpPr/>
          <p:nvPr/>
        </p:nvSpPr>
        <p:spPr>
          <a:xfrm>
            <a:off x="5074920" y="59207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614416" y="5577840"/>
            <a:ext cx="22219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하이브리드와 리랭킹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046720" y="1737360"/>
            <a:ext cx="2971800" cy="114300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83880" y="208026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2E74C6"/>
          </a:solidFill>
          <a:ln/>
        </p:spPr>
      </p:sp>
      <p:sp>
        <p:nvSpPr>
          <p:cNvPr id="23" name="Text 21"/>
          <p:cNvSpPr/>
          <p:nvPr/>
        </p:nvSpPr>
        <p:spPr>
          <a:xfrm>
            <a:off x="8183880" y="20802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723376" y="1737360"/>
            <a:ext cx="22219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청킹, 인덱싱, 쿼리 변환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046720" y="3017520"/>
            <a:ext cx="2971800" cy="114300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83880" y="336042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2E74C6"/>
          </a:solidFill>
          <a:ln/>
        </p:spPr>
      </p:sp>
      <p:sp>
        <p:nvSpPr>
          <p:cNvPr id="27" name="Text 25"/>
          <p:cNvSpPr/>
          <p:nvPr/>
        </p:nvSpPr>
        <p:spPr>
          <a:xfrm>
            <a:off x="8183880" y="33604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723376" y="3017520"/>
            <a:ext cx="22219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그래프 검색 GraphRAG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8046720" y="4297680"/>
            <a:ext cx="2971800" cy="114300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83880" y="464058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2E74C6"/>
          </a:solidFill>
          <a:ln/>
        </p:spPr>
      </p:sp>
      <p:sp>
        <p:nvSpPr>
          <p:cNvPr id="31" name="Text 29"/>
          <p:cNvSpPr/>
          <p:nvPr/>
        </p:nvSpPr>
        <p:spPr>
          <a:xfrm>
            <a:off x="8183880" y="46405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723376" y="4297680"/>
            <a:ext cx="22219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온톨로지와 지식그래프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8046720" y="5577840"/>
            <a:ext cx="2971800" cy="114300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3880" y="59207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2E74C6"/>
          </a:solidFill>
          <a:ln/>
        </p:spPr>
      </p:sp>
      <p:sp>
        <p:nvSpPr>
          <p:cNvPr id="35" name="Text 33"/>
          <p:cNvSpPr/>
          <p:nvPr/>
        </p:nvSpPr>
        <p:spPr>
          <a:xfrm>
            <a:off x="8183880" y="59207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8723376" y="5577840"/>
            <a:ext cx="22219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NL2SQL과 시맨틱 레이어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11155680" y="1737360"/>
            <a:ext cx="2971800" cy="114300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1292840" y="208026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2E74C6"/>
          </a:solidFill>
          <a:ln/>
        </p:spPr>
      </p:sp>
      <p:sp>
        <p:nvSpPr>
          <p:cNvPr id="39" name="Text 37"/>
          <p:cNvSpPr/>
          <p:nvPr/>
        </p:nvSpPr>
        <p:spPr>
          <a:xfrm>
            <a:off x="11292840" y="20802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1832336" y="1737360"/>
            <a:ext cx="22219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에이전틱 RAG와 딥 리서치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11155680" y="3017520"/>
            <a:ext cx="2971800" cy="114300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292840" y="336042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2E74C6"/>
          </a:solidFill>
          <a:ln/>
        </p:spPr>
      </p:sp>
      <p:sp>
        <p:nvSpPr>
          <p:cNvPr id="43" name="Text 41"/>
          <p:cNvSpPr/>
          <p:nvPr/>
        </p:nvSpPr>
        <p:spPr>
          <a:xfrm>
            <a:off x="11292840" y="33604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1832336" y="3017520"/>
            <a:ext cx="22219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컨텍스트 엔지니어링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11155680" y="4297680"/>
            <a:ext cx="2971800" cy="114300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1292840" y="464058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2E74C6"/>
          </a:solidFill>
          <a:ln/>
        </p:spPr>
      </p:sp>
      <p:sp>
        <p:nvSpPr>
          <p:cNvPr id="47" name="Text 45"/>
          <p:cNvSpPr/>
          <p:nvPr/>
        </p:nvSpPr>
        <p:spPr>
          <a:xfrm>
            <a:off x="11292840" y="46405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11832336" y="4297680"/>
            <a:ext cx="22219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평가와 관측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11155680" y="5577840"/>
            <a:ext cx="2971800" cy="114300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1292840" y="59207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2E74C6"/>
          </a:solidFill>
          <a:ln/>
        </p:spPr>
      </p:sp>
      <p:sp>
        <p:nvSpPr>
          <p:cNvPr id="51" name="Text 49"/>
          <p:cNvSpPr/>
          <p:nvPr/>
        </p:nvSpPr>
        <p:spPr>
          <a:xfrm>
            <a:off x="11292840" y="59207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11832336" y="5577840"/>
            <a:ext cx="22219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멀티 소스 라우팅</a:t>
            </a:r>
            <a:pPr indent="0" marL="0">
              <a:buNone/>
            </a:pPr>
            <a:r>
              <a:rPr lang="en-US" sz="15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/ 적용 제안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11795760" y="68122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3CEE0"/>
            </a:solidFill>
            <a:prstDash val="solid"/>
          </a:ln>
        </p:spPr>
      </p:sp>
      <p:sp>
        <p:nvSpPr>
          <p:cNvPr id="54" name="Text 52">
            <a:hlinkClick r:id="rId14" tooltip=""/>
          </p:cNvPr>
          <p:cNvSpPr/>
          <p:nvPr/>
        </p:nvSpPr>
        <p:spPr>
          <a:xfrm>
            <a:off x="11795760" y="6812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 →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hybrid-ai 교육팀 RAG 동향 보고서, 2026-10-21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RAG의 큰 흐름 7가지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검색 품질과 함께 배포 조건, 반복 탐색 비용과 평가 방법을 설계합니다.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6675120" cy="1108710"/>
          </a:xfrm>
          <a:prstGeom prst="roundRect">
            <a:avLst>
              <a:gd name="adj" fmla="val 8247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2201" y="2017395"/>
            <a:ext cx="548640" cy="548640"/>
          </a:xfrm>
          <a:prstGeom prst="roundRect">
            <a:avLst>
              <a:gd name="adj" fmla="val 8333"/>
            </a:avLst>
          </a:prstGeom>
          <a:solidFill>
            <a:srgbClr val="2E74C6"/>
          </a:solidFill>
          <a:ln/>
        </p:spPr>
      </p:sp>
      <p:sp>
        <p:nvSpPr>
          <p:cNvPr id="6" name="Text 4"/>
          <p:cNvSpPr/>
          <p:nvPr/>
        </p:nvSpPr>
        <p:spPr>
          <a:xfrm>
            <a:off x="692201" y="2017395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23721" y="1737360"/>
            <a:ext cx="557784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 결합</a:t>
            </a:r>
            <a:endParaRPr lang="en-US" sz="2200" dirty="0"/>
          </a:p>
          <a:p>
            <a:pPr indent="0" marL="0">
              <a:buNone/>
            </a:pPr>
            <a:r>
              <a:rPr lang="en-US" sz="18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벡터와 키워드의 효과를 각각 측정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9321" y="3028950"/>
            <a:ext cx="6675120" cy="1108710"/>
          </a:xfrm>
          <a:prstGeom prst="roundRect">
            <a:avLst>
              <a:gd name="adj" fmla="val 8247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2201" y="3308985"/>
            <a:ext cx="548640" cy="548640"/>
          </a:xfrm>
          <a:prstGeom prst="roundRect">
            <a:avLst>
              <a:gd name="adj" fmla="val 8333"/>
            </a:avLst>
          </a:prstGeom>
          <a:solidFill>
            <a:srgbClr val="2E74C6"/>
          </a:solidFill>
          <a:ln/>
        </p:spPr>
      </p:sp>
      <p:sp>
        <p:nvSpPr>
          <p:cNvPr id="10" name="Text 8"/>
          <p:cNvSpPr/>
          <p:nvPr/>
        </p:nvSpPr>
        <p:spPr>
          <a:xfrm>
            <a:off x="692201" y="3308985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23721" y="3028950"/>
            <a:ext cx="557784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임베딩 선택</a:t>
            </a:r>
            <a:endParaRPr lang="en-US" sz="2200" dirty="0"/>
          </a:p>
          <a:p>
            <a:pPr indent="0" marL="0">
              <a:buNone/>
            </a:pPr>
            <a:r>
              <a:rPr lang="en-US" sz="18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API, 자체 배포, 한국어와 멀티모달 비교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09321" y="4320540"/>
            <a:ext cx="6675120" cy="1108710"/>
          </a:xfrm>
          <a:prstGeom prst="roundRect">
            <a:avLst>
              <a:gd name="adj" fmla="val 8247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92201" y="4600575"/>
            <a:ext cx="548640" cy="548640"/>
          </a:xfrm>
          <a:prstGeom prst="roundRect">
            <a:avLst>
              <a:gd name="adj" fmla="val 8333"/>
            </a:avLst>
          </a:prstGeom>
          <a:solidFill>
            <a:srgbClr val="2E74C6"/>
          </a:solidFill>
          <a:ln/>
        </p:spPr>
      </p:sp>
      <p:sp>
        <p:nvSpPr>
          <p:cNvPr id="14" name="Text 12"/>
          <p:cNvSpPr/>
          <p:nvPr/>
        </p:nvSpPr>
        <p:spPr>
          <a:xfrm>
            <a:off x="692201" y="4600575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23721" y="4320540"/>
            <a:ext cx="557784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검색</a:t>
            </a:r>
            <a:endParaRPr lang="en-US" sz="2200" dirty="0"/>
          </a:p>
          <a:p>
            <a:pPr indent="0" marL="0">
              <a:buNone/>
            </a:pPr>
            <a:r>
              <a:rPr lang="en-US" sz="18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 질문에서 도구 호출과 종료 조건 설계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9321" y="5612130"/>
            <a:ext cx="6675120" cy="1108710"/>
          </a:xfrm>
          <a:prstGeom prst="roundRect">
            <a:avLst>
              <a:gd name="adj" fmla="val 8247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2201" y="5892165"/>
            <a:ext cx="548640" cy="548640"/>
          </a:xfrm>
          <a:prstGeom prst="roundRect">
            <a:avLst>
              <a:gd name="adj" fmla="val 8333"/>
            </a:avLst>
          </a:prstGeom>
          <a:solidFill>
            <a:srgbClr val="2E74C6"/>
          </a:solidFill>
          <a:ln/>
        </p:spPr>
      </p:sp>
      <p:sp>
        <p:nvSpPr>
          <p:cNvPr id="18" name="Text 16"/>
          <p:cNvSpPr/>
          <p:nvPr/>
        </p:nvSpPr>
        <p:spPr>
          <a:xfrm>
            <a:off x="692201" y="5892165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23721" y="5612130"/>
            <a:ext cx="5577840" cy="1108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의미</a:t>
            </a:r>
            <a:endParaRPr lang="en-US" sz="2200" dirty="0"/>
          </a:p>
          <a:p>
            <a:pPr indent="0" marL="0">
              <a:buNone/>
            </a:pPr>
            <a:r>
              <a:rPr lang="en-US" sz="18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정의와 스키마로 해석 범위 명시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7458761" y="1737360"/>
            <a:ext cx="6675120" cy="1539240"/>
          </a:xfrm>
          <a:prstGeom prst="roundRect">
            <a:avLst>
              <a:gd name="adj" fmla="val 5941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41641" y="2232660"/>
            <a:ext cx="548640" cy="548640"/>
          </a:xfrm>
          <a:prstGeom prst="roundRect">
            <a:avLst>
              <a:gd name="adj" fmla="val 8333"/>
            </a:avLst>
          </a:prstGeom>
          <a:solidFill>
            <a:srgbClr val="2E74C6"/>
          </a:solidFill>
          <a:ln/>
        </p:spPr>
      </p:sp>
      <p:sp>
        <p:nvSpPr>
          <p:cNvPr id="22" name="Text 20"/>
          <p:cNvSpPr/>
          <p:nvPr/>
        </p:nvSpPr>
        <p:spPr>
          <a:xfrm>
            <a:off x="7641641" y="2232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373161" y="1737360"/>
            <a:ext cx="5577840" cy="1539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그래프 활용</a:t>
            </a:r>
            <a:endParaRPr lang="en-US" sz="2200" dirty="0"/>
          </a:p>
          <a:p>
            <a:pPr indent="0" marL="0">
              <a:buNone/>
            </a:pPr>
            <a:r>
              <a:rPr lang="en-US" sz="18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기법과 Neo4j 구현 기반을 구분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7458761" y="3459480"/>
            <a:ext cx="6675120" cy="1539240"/>
          </a:xfrm>
          <a:prstGeom prst="roundRect">
            <a:avLst>
              <a:gd name="adj" fmla="val 5941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41641" y="3954780"/>
            <a:ext cx="548640" cy="548640"/>
          </a:xfrm>
          <a:prstGeom prst="roundRect">
            <a:avLst>
              <a:gd name="adj" fmla="val 8333"/>
            </a:avLst>
          </a:prstGeom>
          <a:solidFill>
            <a:srgbClr val="2E74C6"/>
          </a:solidFill>
          <a:ln/>
        </p:spPr>
      </p:sp>
      <p:sp>
        <p:nvSpPr>
          <p:cNvPr id="26" name="Text 24"/>
          <p:cNvSpPr/>
          <p:nvPr/>
        </p:nvSpPr>
        <p:spPr>
          <a:xfrm>
            <a:off x="7641641" y="39547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373161" y="3459480"/>
            <a:ext cx="5577840" cy="1539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구축 비용</a:t>
            </a:r>
            <a:endParaRPr lang="en-US" sz="2200" dirty="0"/>
          </a:p>
          <a:p>
            <a:pPr indent="0" marL="0">
              <a:buNone/>
            </a:pPr>
            <a:r>
              <a:rPr lang="en-US" sz="18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색인, 질의와 갱신 비용을 함께 측정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7458761" y="5181600"/>
            <a:ext cx="6675120" cy="1539240"/>
          </a:xfrm>
          <a:prstGeom prst="roundRect">
            <a:avLst>
              <a:gd name="adj" fmla="val 5941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1641" y="5676900"/>
            <a:ext cx="548640" cy="548640"/>
          </a:xfrm>
          <a:prstGeom prst="roundRect">
            <a:avLst>
              <a:gd name="adj" fmla="val 8333"/>
            </a:avLst>
          </a:prstGeom>
          <a:solidFill>
            <a:srgbClr val="2E74C6"/>
          </a:solidFill>
          <a:ln/>
        </p:spPr>
      </p:sp>
      <p:sp>
        <p:nvSpPr>
          <p:cNvPr id="30" name="Text 28"/>
          <p:cNvSpPr/>
          <p:nvPr/>
        </p:nvSpPr>
        <p:spPr>
          <a:xfrm>
            <a:off x="7641641" y="56769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373161" y="5181600"/>
            <a:ext cx="5577840" cy="1539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자체 평가</a:t>
            </a:r>
            <a:endParaRPr lang="en-US" sz="2200" dirty="0"/>
          </a:p>
          <a:p>
            <a:pPr indent="0" marL="0">
              <a:buNone/>
            </a:pPr>
            <a:r>
              <a:rPr lang="en-US" sz="18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질문으로 근거 품질과 지연 비교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11795760" y="68122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3CEE0"/>
            </a:solidFill>
            <a:prstDash val="solid"/>
          </a:ln>
        </p:spPr>
      </p:sp>
      <p:sp>
        <p:nvSpPr>
          <p:cNvPr id="33" name="Text 31">
            <a:hlinkClick r:id="rId1" tooltip=""/>
          </p:cNvPr>
          <p:cNvSpPr/>
          <p:nvPr/>
        </p:nvSpPr>
        <p:spPr>
          <a:xfrm>
            <a:off x="11795760" y="6812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 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Anthropic, Cohere, Voyage, Neo4j 공식 자료. 실무 제안은 교육팀 판단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임베딩 모델과 검색 저장소의 선택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배포 방식과 데이터 유형으로 후보를 고르고, 같은 질문으로 품질과 비용을 비교합니다.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09321" y="1737360"/>
            <a:ext cx="3657600" cy="457200"/>
          </a:xfrm>
          <a:prstGeom prst="roundRect">
            <a:avLst>
              <a:gd name="adj" fmla="val 12000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후보 예시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2286000"/>
          <a:ext cx="836676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3474720"/>
                <a:gridCol w="3017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 기준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후보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살펴볼 차이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관리형 텍스트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Cohere Embed 5/4, OpenAI 3, Voyage 4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품질, 질의 지연과 API 비용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멀티모달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Gemini Embedding 2, Cohere Embed, Jina v5-omni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문서 이미지와 음성 등 입력 유형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자체 배포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Qwen3, BGE-M3, Jina v5-text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모델 크기와 운영 조건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한국어 단일 벡터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KURE-v1 / v3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한국어 검색 품질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한국어 다중 벡터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KURE-v2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품질과 색인 크기 함께 비교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9098280" y="1737360"/>
            <a:ext cx="5029200" cy="411480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서로 다른 선택</a:t>
            </a:r>
            <a:endParaRPr lang="en-US" sz="2200" dirty="0"/>
          </a:p>
          <a:p>
            <a:pPr algn="l" marL="228600" indent="-228600">
              <a:spcAft>
                <a:spcPts val="3100"/>
              </a:spcAft>
              <a:buSzPct val="100000"/>
              <a:buChar char="•"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모델: 문서와 질문을 벡터로 변환</a:t>
            </a:r>
            <a:endParaRPr lang="en-US" sz="2200" dirty="0"/>
          </a:p>
          <a:p>
            <a:pPr algn="l" marL="228600" indent="-228600">
              <a:spcAft>
                <a:spcPts val="3100"/>
              </a:spcAft>
              <a:buSzPct val="100000"/>
              <a:buChar char="•"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저장소: 벡터를 저장하고 후보 검색</a:t>
            </a:r>
            <a:endParaRPr lang="en-US" sz="2200" dirty="0"/>
          </a:p>
          <a:p>
            <a:pPr algn="l" marL="228600" indent="-228600">
              <a:spcAft>
                <a:spcPts val="3100"/>
              </a:spcAft>
              <a:buSzPct val="100000"/>
              <a:buChar char="•"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pgvector: PostgreSQL과 함께 운영</a:t>
            </a:r>
            <a:endParaRPr lang="en-US" sz="2200" dirty="0"/>
          </a:p>
          <a:p>
            <a:pPr algn="l" marL="228600" indent="-228600">
              <a:spcAft>
                <a:spcPts val="3100"/>
              </a:spcAft>
              <a:buSzPct val="100000"/>
              <a:buChar char="•"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LanceDB: 임베디드 검색과 데이터 관리</a:t>
            </a:r>
            <a:endParaRPr lang="en-US" sz="2200" dirty="0"/>
          </a:p>
          <a:p>
            <a:pPr algn="l" marL="228600" indent="-228600">
              <a:spcAft>
                <a:spcPts val="3100"/>
              </a:spcAft>
              <a:buSzPct val="100000"/>
              <a:buChar char="•"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Neo4j: 벡터 후보에서 관계 탐색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509321" y="6172200"/>
            <a:ext cx="64008" cy="457200"/>
          </a:xfrm>
          <a:prstGeom prst="rect">
            <a:avLst/>
          </a:prstGeom>
          <a:solidFill>
            <a:srgbClr val="2E74C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92201" y="6172200"/>
            <a:ext cx="1344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조건 고정 → 검색 품질, p95 지연, 색인 크기와 총비용 측정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11795760" y="68122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3CEE0"/>
            </a:solidFill>
            <a:prstDash val="solid"/>
          </a:ln>
        </p:spPr>
      </p:sp>
      <p:sp>
        <p:nvSpPr>
          <p:cNvPr id="10" name="Text 7">
            <a:hlinkClick r:id="rId1" tooltip=""/>
          </p:cNvPr>
          <p:cNvSpPr/>
          <p:nvPr/>
        </p:nvSpPr>
        <p:spPr>
          <a:xfrm>
            <a:off x="11795760" y="6812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 →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Cohere, OpenAI, Voyage, Google, Qwen, Jina, KURE 공식 자료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BM25와 한국어 검색 기준선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식별자와 고유명사 질문을 기준으로 키워드 검색과 한국어 분석기의 효과를 확인합니다.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1E2A5C"/>
          </a:solidFill>
          <a:ln/>
        </p:spPr>
      </p:sp>
      <p:sp>
        <p:nvSpPr>
          <p:cNvPr id="5" name="Text 3"/>
          <p:cNvSpPr/>
          <p:nvPr/>
        </p:nvSpPr>
        <p:spPr>
          <a:xfrm>
            <a:off x="509321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키워드 검색의 역할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09321" y="2286000"/>
            <a:ext cx="6583680" cy="4434840"/>
          </a:xfrm>
          <a:prstGeom prst="roundRect">
            <a:avLst>
              <a:gd name="adj" fmla="val 2062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2900"/>
              </a:spcAft>
              <a:buSzPct val="100000"/>
              <a:buChar char="•"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BM25: 단어 일치와 희소성으로 후보 검색</a:t>
            </a:r>
            <a:endParaRPr lang="en-US" sz="1600" dirty="0"/>
          </a:p>
          <a:p>
            <a:pPr algn="l" marL="228600" indent="-228600">
              <a:spcAft>
                <a:spcPts val="2900"/>
              </a:spcAft>
              <a:buSzPct val="100000"/>
              <a:buChar char="•"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오류 코드와 제품번호를 질문 집합에 포함</a:t>
            </a:r>
            <a:endParaRPr lang="en-US" sz="1600" dirty="0"/>
          </a:p>
          <a:p>
            <a:pPr algn="l" marL="228600" indent="-228600">
              <a:spcAft>
                <a:spcPts val="2900"/>
              </a:spcAft>
              <a:buSzPct val="100000"/>
              <a:buChar char="•"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벡터 검색이 놓친 근거를 보완하는지 측정</a:t>
            </a:r>
            <a:endParaRPr lang="en-US" sz="1600" dirty="0"/>
          </a:p>
          <a:p>
            <a:pPr algn="l" marL="228600" indent="-228600">
              <a:spcAft>
                <a:spcPts val="2900"/>
              </a:spcAft>
              <a:buSzPct val="100000"/>
              <a:buChar char="•"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BM25S와 학습형 희소 검색을 추가 후보로 비교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50201" y="173736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2E74C6"/>
          </a:solidFill>
          <a:ln/>
        </p:spPr>
      </p:sp>
      <p:sp>
        <p:nvSpPr>
          <p:cNvPr id="8" name="Text 6"/>
          <p:cNvSpPr/>
          <p:nvPr/>
        </p:nvSpPr>
        <p:spPr>
          <a:xfrm>
            <a:off x="7550201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한국어에서 확인할 것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550201" y="2286000"/>
            <a:ext cx="6583680" cy="1040130"/>
          </a:xfrm>
          <a:prstGeom prst="roundRect">
            <a:avLst>
              <a:gd name="adj" fmla="val 7033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87361" y="2604897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1" name="Text 9"/>
          <p:cNvSpPr/>
          <p:nvPr/>
        </p:nvSpPr>
        <p:spPr>
          <a:xfrm>
            <a:off x="7687361" y="260489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190281" y="2286000"/>
            <a:ext cx="580644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공백 분리와 형태소 분석을 같은 질문으로 비교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550201" y="3417570"/>
            <a:ext cx="6583680" cy="1040130"/>
          </a:xfrm>
          <a:prstGeom prst="roundRect">
            <a:avLst>
              <a:gd name="adj" fmla="val 7033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87361" y="3736467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5" name="Text 13"/>
          <p:cNvSpPr/>
          <p:nvPr/>
        </p:nvSpPr>
        <p:spPr>
          <a:xfrm>
            <a:off x="7687361" y="373646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190281" y="3417570"/>
            <a:ext cx="580644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사내 약어, 한영 혼합과 제품 코드를 별도 점검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550201" y="4549140"/>
            <a:ext cx="6583680" cy="1040130"/>
          </a:xfrm>
          <a:prstGeom prst="roundRect">
            <a:avLst>
              <a:gd name="adj" fmla="val 7033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87361" y="4868037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9" name="Text 17"/>
          <p:cNvSpPr/>
          <p:nvPr/>
        </p:nvSpPr>
        <p:spPr>
          <a:xfrm>
            <a:off x="7687361" y="486803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190281" y="4549140"/>
            <a:ext cx="580644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분석기 버전을 고정하고 교체 시 재색인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7550201" y="5680710"/>
            <a:ext cx="6583680" cy="1040130"/>
          </a:xfrm>
          <a:prstGeom prst="roundRect">
            <a:avLst>
              <a:gd name="adj" fmla="val 7033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87361" y="5999607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23" name="Text 21"/>
          <p:cNvSpPr/>
          <p:nvPr/>
        </p:nvSpPr>
        <p:spPr>
          <a:xfrm>
            <a:off x="7687361" y="599960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8190281" y="5680710"/>
            <a:ext cx="580644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하이브리드 결합 전후의 재현율과 지연 측정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11795760" y="68122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3CEE0"/>
            </a:solidFill>
            <a:prstDash val="solid"/>
          </a:ln>
        </p:spPr>
      </p:sp>
      <p:sp>
        <p:nvSpPr>
          <p:cNvPr id="26" name="Text 24">
            <a:hlinkClick r:id="rId1" tooltip=""/>
          </p:cNvPr>
          <p:cNvSpPr/>
          <p:nvPr/>
        </p:nvSpPr>
        <p:spPr>
          <a:xfrm>
            <a:off x="11795760" y="6812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 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Anthropic Contextual Retrieval, BM25S 논문, SPLADE와 OpenSearch 공식 자료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 결합과 리랭킹의 효과를 따로 측정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먼저 근거를 후보에 포함하고, 그다음 상위 근거의 순서를 정밀하게 조정합니다.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09321" y="1737360"/>
            <a:ext cx="1371600" cy="1051560"/>
          </a:xfrm>
          <a:prstGeom prst="roundRect">
            <a:avLst>
              <a:gd name="adj" fmla="val 10435"/>
            </a:avLst>
          </a:prstGeom>
          <a:solidFill>
            <a:srgbClr val="404155"/>
          </a:solidFill>
          <a:ln/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040941" y="2098548"/>
            <a:ext cx="320040" cy="329184"/>
          </a:xfrm>
          <a:prstGeom prst="rightArrow">
            <a:avLst/>
          </a:prstGeom>
          <a:solidFill>
            <a:srgbClr val="2E74C6"/>
          </a:solidFill>
          <a:ln/>
        </p:spPr>
      </p:sp>
      <p:sp>
        <p:nvSpPr>
          <p:cNvPr id="6" name="Text 4"/>
          <p:cNvSpPr/>
          <p:nvPr/>
        </p:nvSpPr>
        <p:spPr>
          <a:xfrm>
            <a:off x="2521001" y="1737360"/>
            <a:ext cx="2286000" cy="411480"/>
          </a:xfrm>
          <a:prstGeom prst="roundRect">
            <a:avLst>
              <a:gd name="adj" fmla="val 26667"/>
            </a:avLst>
          </a:prstGeom>
          <a:solidFill>
            <a:srgbClr val="EEF3FA"/>
          </a:solidFill>
          <a:ln w="12700">
            <a:solidFill>
              <a:srgbClr val="C3CEE0"/>
            </a:solidFill>
          </a:ln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BM25 검색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521001" y="21488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4C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521001" y="2377440"/>
            <a:ext cx="2286000" cy="411480"/>
          </a:xfrm>
          <a:prstGeom prst="roundRect">
            <a:avLst>
              <a:gd name="adj" fmla="val 26667"/>
            </a:avLst>
          </a:prstGeom>
          <a:solidFill>
            <a:srgbClr val="EEF3FA"/>
          </a:solidFill>
          <a:ln w="12700">
            <a:solidFill>
              <a:srgbClr val="C3CEE0"/>
            </a:solidFill>
          </a:ln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벡터 검색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967021" y="2098548"/>
            <a:ext cx="320040" cy="329184"/>
          </a:xfrm>
          <a:prstGeom prst="rightArrow">
            <a:avLst/>
          </a:prstGeom>
          <a:solidFill>
            <a:srgbClr val="2E74C6"/>
          </a:solidFill>
          <a:ln/>
        </p:spPr>
      </p:sp>
      <p:sp>
        <p:nvSpPr>
          <p:cNvPr id="10" name="Text 8"/>
          <p:cNvSpPr/>
          <p:nvPr/>
        </p:nvSpPr>
        <p:spPr>
          <a:xfrm>
            <a:off x="5447081" y="1737360"/>
            <a:ext cx="2468880" cy="1051560"/>
          </a:xfrm>
          <a:prstGeom prst="roundRect">
            <a:avLst>
              <a:gd name="adj" fmla="val 10435"/>
            </a:avLst>
          </a:prstGeom>
          <a:solidFill>
            <a:srgbClr val="1E2A5C"/>
          </a:solidFill>
          <a:ln/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융합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075981" y="2098548"/>
            <a:ext cx="320040" cy="329184"/>
          </a:xfrm>
          <a:prstGeom prst="rightArrow">
            <a:avLst/>
          </a:prstGeom>
          <a:solidFill>
            <a:srgbClr val="2E74C6"/>
          </a:solidFill>
          <a:ln/>
        </p:spPr>
      </p:sp>
      <p:sp>
        <p:nvSpPr>
          <p:cNvPr id="12" name="Text 10"/>
          <p:cNvSpPr/>
          <p:nvPr/>
        </p:nvSpPr>
        <p:spPr>
          <a:xfrm>
            <a:off x="8556041" y="1737360"/>
            <a:ext cx="3108960" cy="1051560"/>
          </a:xfrm>
          <a:prstGeom prst="roundRect">
            <a:avLst>
              <a:gd name="adj" fmla="val 10435"/>
            </a:avLst>
          </a:prstGeom>
          <a:solidFill>
            <a:srgbClr val="2E74C6"/>
          </a:solidFill>
          <a:ln/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리랭킹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1825021" y="2098548"/>
            <a:ext cx="320040" cy="329184"/>
          </a:xfrm>
          <a:prstGeom prst="rightArrow">
            <a:avLst/>
          </a:prstGeom>
          <a:solidFill>
            <a:srgbClr val="2E74C6"/>
          </a:solidFill>
          <a:ln/>
        </p:spPr>
      </p:sp>
      <p:sp>
        <p:nvSpPr>
          <p:cNvPr id="14" name="Text 12"/>
          <p:cNvSpPr/>
          <p:nvPr/>
        </p:nvSpPr>
        <p:spPr>
          <a:xfrm>
            <a:off x="12305081" y="1737360"/>
            <a:ext cx="1828800" cy="1051560"/>
          </a:xfrm>
          <a:prstGeom prst="roundRect">
            <a:avLst>
              <a:gd name="adj" fmla="val 10435"/>
            </a:avLst>
          </a:prstGeom>
          <a:solidFill>
            <a:srgbClr val="EEF3FA"/>
          </a:solidFill>
          <a:ln w="12700">
            <a:solidFill>
              <a:srgbClr val="C3CEE0"/>
            </a:solidFill>
          </a:ln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상위 근거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09321" y="3063240"/>
            <a:ext cx="365760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단계의 역할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3566160"/>
          <a:ext cx="65836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49834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하는 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융합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서로 다른 검색기의 후보 결합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RRF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점수 대신 순위로 결합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점수 융합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정규화와 가중치 설정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리랭커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 찾은 후보의 순서 조정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7550201" y="3063240"/>
            <a:ext cx="384048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조건으로 비교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7550201" y="3566160"/>
            <a:ext cx="6583680" cy="2587752"/>
          </a:xfrm>
          <a:prstGeom prst="roundRect">
            <a:avLst>
              <a:gd name="adj" fmla="val 3534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502920" bIns="91440" rtlCol="0" anchor="t"/>
          <a:lstStyle/>
          <a:p>
            <a:pPr algn="l" marL="228600" indent="-228600">
              <a:spcAft>
                <a:spcPts val="2400"/>
              </a:spcAft>
              <a:buSzPct val="100000"/>
              <a:buChar char="•"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관리형: Cohere Rerank 4 Pro/Fast</a:t>
            </a:r>
            <a:endParaRPr lang="en-US" sz="1700" dirty="0"/>
          </a:p>
          <a:p>
            <a:pPr algn="l" marL="228600" indent="-228600">
              <a:spcAft>
                <a:spcPts val="2400"/>
              </a:spcAft>
              <a:buSzPct val="100000"/>
              <a:buChar char="•"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자체 배포: Qwen3-Reranker, BGE 계열</a:t>
            </a:r>
            <a:endParaRPr lang="en-US" sz="1700" dirty="0"/>
          </a:p>
          <a:p>
            <a:pPr algn="l" marL="228600" indent="-228600">
              <a:spcAft>
                <a:spcPts val="2400"/>
              </a:spcAft>
              <a:buSzPct val="100000"/>
              <a:buChar char="•"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수와 문서 길이를 고정</a:t>
            </a:r>
            <a:endParaRPr lang="en-US" sz="1700" dirty="0"/>
          </a:p>
          <a:p>
            <a:pPr algn="l" marL="228600" indent="-228600">
              <a:spcAft>
                <a:spcPts val="2400"/>
              </a:spcAft>
              <a:buSzPct val="100000"/>
              <a:buChar char="•"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답변 품질, 질문당 비용과 p95 지연 측정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509321" y="6309360"/>
            <a:ext cx="64008" cy="320040"/>
          </a:xfrm>
          <a:prstGeom prst="rect">
            <a:avLst/>
          </a:prstGeom>
          <a:solidFill>
            <a:srgbClr val="2E74C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92201" y="6309360"/>
            <a:ext cx="1344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Anthropic 실험 5.7% → 1.9%: 문맥 보강, BM25와 리랭킹 전체 조합의 효과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11795760" y="68122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3CEE0"/>
            </a:solidFill>
            <a:prstDash val="solid"/>
          </a:ln>
        </p:spPr>
      </p:sp>
      <p:sp>
        <p:nvSpPr>
          <p:cNvPr id="22" name="Text 19">
            <a:hlinkClick r:id="rId1" tooltip=""/>
          </p:cNvPr>
          <p:cNvSpPr/>
          <p:nvPr/>
        </p:nvSpPr>
        <p:spPr>
          <a:xfrm>
            <a:off x="11795760" y="6812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 →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Anthropic 벤더 실험(2024), Cohere Rerank 4, Qwen 공식 자료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청크의 문맥과 질문 표현 보완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문서 구조와 원문 맥락을 보존하고, 질문과 문서의 표현 차이를 줄입니다.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09321" y="173736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청킹과 인덱싱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2240280"/>
          <a:ext cx="65836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114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기법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하는 일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Contextual Retrieval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청크 앞에 원문 맥락 설명 추가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Late chunking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전체 문맥 반영 후 청크 단위 풀링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Docling HybridChunker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문서의 제목, 표와 절 구조 활용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ColPali / ColQwen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문서 페이지 이미지를 다중 벡터로 검색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RAPTOR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요약을 계층화해 긴 문서 탐색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550201" y="173736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쿼리 변환</a:t>
            </a:r>
            <a:endParaRPr lang="en-US" sz="18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50201" y="2240280"/>
          <a:ext cx="65836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297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기법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하는 일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HyDE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가상의 답을 만들어 검색 표현으로 사용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Multi-query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질문을 여러 표현으로 바꿔 검색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Step-back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더 추상적인 질문을 함께 검색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Decomposition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하위 질문으로 나눠 검색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09321" y="6309360"/>
            <a:ext cx="64008" cy="320040"/>
          </a:xfrm>
          <a:prstGeom prst="rect">
            <a:avLst/>
          </a:prstGeom>
          <a:solidFill>
            <a:srgbClr val="2E74C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92201" y="6309360"/>
            <a:ext cx="1344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번에 여러 기법을 겹치기 전에 추가 호출 비용과 근거 품질을 측정합니다.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11795760" y="68122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3CEE0"/>
            </a:solidFill>
            <a:prstDash val="solid"/>
          </a:ln>
        </p:spPr>
      </p:sp>
      <p:sp>
        <p:nvSpPr>
          <p:cNvPr id="11" name="Text 7">
            <a:hlinkClick r:id="rId1" tooltip=""/>
          </p:cNvPr>
          <p:cNvSpPr/>
          <p:nvPr/>
        </p:nvSpPr>
        <p:spPr>
          <a:xfrm>
            <a:off x="11795760" y="6812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 →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Anthropic Contextual Retrieval, Jina late chunking, ColPali 논문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GraphRAG 방법론과 Neo4j 구현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벡터로 후보를 찾고 관계를 확장한 뒤, 같은 질문으로 원문 근거와 비용을 평가합니다.</a:t>
            </a:r>
            <a:endParaRPr lang="en-US" sz="1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1737360"/>
          <a:ext cx="136245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6949440"/>
                <a:gridCol w="47548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맡는 일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검색 방법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Microsoft GraphRAG, LightRAG, HippoRAG 2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구축과 검색 전략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그래프DB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Neo4j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노드, 관계와 색인 저장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개발 SDK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Neo4j GraphRAG Python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검색기와 답변 생성 연결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9321" y="361188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1E2A5C"/>
          </a:solidFill>
          <a:ln/>
        </p:spPr>
      </p:sp>
      <p:sp>
        <p:nvSpPr>
          <p:cNvPr id="6" name="Text 3"/>
          <p:cNvSpPr/>
          <p:nvPr/>
        </p:nvSpPr>
        <p:spPr>
          <a:xfrm>
            <a:off x="509321" y="3611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Neo4j 검색 흐름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509321" y="4160520"/>
            <a:ext cx="6583680" cy="429768"/>
          </a:xfrm>
          <a:prstGeom prst="roundRect">
            <a:avLst>
              <a:gd name="adj" fmla="val 17021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6481" y="417423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9" name="Text 6"/>
          <p:cNvSpPr/>
          <p:nvPr/>
        </p:nvSpPr>
        <p:spPr>
          <a:xfrm>
            <a:off x="646481" y="41742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149401" y="4160520"/>
            <a:ext cx="5806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벡터 또는 전문 검색으로 후보 찾기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09321" y="4663440"/>
            <a:ext cx="6583680" cy="429768"/>
          </a:xfrm>
          <a:prstGeom prst="roundRect">
            <a:avLst>
              <a:gd name="adj" fmla="val 17021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6481" y="467715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3" name="Text 10"/>
          <p:cNvSpPr/>
          <p:nvPr/>
        </p:nvSpPr>
        <p:spPr>
          <a:xfrm>
            <a:off x="646481" y="46771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149401" y="4663440"/>
            <a:ext cx="5806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정해 둔 Cypher로 관계와 원문 확장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509321" y="5166360"/>
            <a:ext cx="6583680" cy="429768"/>
          </a:xfrm>
          <a:prstGeom prst="roundRect">
            <a:avLst>
              <a:gd name="adj" fmla="val 17021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6481" y="518007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7" name="Text 14"/>
          <p:cNvSpPr/>
          <p:nvPr/>
        </p:nvSpPr>
        <p:spPr>
          <a:xfrm>
            <a:off x="646481" y="51800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149401" y="5166360"/>
            <a:ext cx="5806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자연어에서 Cypher를 생성하는 경로도 제공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509321" y="5669280"/>
            <a:ext cx="6583680" cy="429768"/>
          </a:xfrm>
          <a:prstGeom prst="roundRect">
            <a:avLst>
              <a:gd name="adj" fmla="val 17021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6481" y="568299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21" name="Text 18"/>
          <p:cNvSpPr/>
          <p:nvPr/>
        </p:nvSpPr>
        <p:spPr>
          <a:xfrm>
            <a:off x="646481" y="56829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1149401" y="5669280"/>
            <a:ext cx="5806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질의는 읽기 권한과 실행 제한 적용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7550201" y="361188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2E74C6"/>
          </a:solidFill>
          <a:ln/>
        </p:spPr>
      </p:sp>
      <p:sp>
        <p:nvSpPr>
          <p:cNvPr id="24" name="Text 21"/>
          <p:cNvSpPr/>
          <p:nvPr/>
        </p:nvSpPr>
        <p:spPr>
          <a:xfrm>
            <a:off x="7550201" y="3611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실무 사례와 평가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7550201" y="4160520"/>
            <a:ext cx="6583680" cy="1938528"/>
          </a:xfrm>
          <a:prstGeom prst="roundRect">
            <a:avLst>
              <a:gd name="adj" fmla="val 4717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Klarna Kiki: 사내 지식 도우미 사례 공개</a:t>
            </a:r>
            <a:endParaRPr lang="en-US" sz="1600" dirty="0"/>
          </a:p>
          <a:p>
            <a:pPr algn="l" marL="228600" indent="-228600"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단순 조회와 관계 질문을 나눠 비교</a:t>
            </a:r>
            <a:endParaRPr lang="en-US" sz="1600" dirty="0"/>
          </a:p>
          <a:p>
            <a:pPr algn="l" marL="228600" indent="-228600"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원문 추적, 관계 오류와 시간 정보 확인</a:t>
            </a:r>
            <a:endParaRPr lang="en-US" sz="1600" dirty="0"/>
          </a:p>
          <a:p>
            <a:pPr algn="l" marL="228600" indent="-228600"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구축, 질의와 갱신 비용 함께 측정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509321" y="6309360"/>
            <a:ext cx="64008" cy="320040"/>
          </a:xfrm>
          <a:prstGeom prst="rect">
            <a:avLst/>
          </a:prstGeom>
          <a:solidFill>
            <a:srgbClr val="2E74C6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92201" y="6309360"/>
            <a:ext cx="1344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특정 연구의 성능과 절감률을 모든 Neo4j 또는 GraphRAG 구현에 적용하지 않습니다.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11795760" y="68122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3CEE0"/>
            </a:solidFill>
            <a:prstDash val="solid"/>
          </a:ln>
        </p:spPr>
      </p:sp>
      <p:sp>
        <p:nvSpPr>
          <p:cNvPr id="29" name="Text 26">
            <a:hlinkClick r:id="rId1" tooltip=""/>
          </p:cNvPr>
          <p:cNvSpPr/>
          <p:nvPr/>
        </p:nvSpPr>
        <p:spPr>
          <a:xfrm>
            <a:off x="11795760" y="6812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 →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Neo4j 공식 문서와 Klarna 고객 사례, Microsoft Research, GraphRAG-Bench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개념과 관계를 명시하는 방법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같은 용어를 같은 뜻으로 해석하도록 개념, 관계와 지표 정의를 연결합니다.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09321" y="1737360"/>
            <a:ext cx="2194560" cy="1508760"/>
          </a:xfrm>
          <a:prstGeom prst="roundRect">
            <a:avLst>
              <a:gd name="adj" fmla="val 4848"/>
            </a:avLst>
          </a:prstGeom>
          <a:solidFill>
            <a:srgbClr val="1E2A5C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</a:t>
            </a:r>
            <a:endParaRPr lang="en-US" sz="30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필요한가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795321" y="1737360"/>
            <a:ext cx="5394960" cy="1508760"/>
          </a:xfrm>
          <a:prstGeom prst="roundRect">
            <a:avLst>
              <a:gd name="adj" fmla="val 4848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77800" tIns="177800" rIns="177800" bIns="1778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조직마다 다른 고객, 계약과 매출의 의미를 맞추기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9321" y="3474720"/>
            <a:ext cx="2194560" cy="1508760"/>
          </a:xfrm>
          <a:prstGeom prst="roundRect">
            <a:avLst>
              <a:gd name="adj" fmla="val 4848"/>
            </a:avLst>
          </a:prstGeom>
          <a:solidFill>
            <a:srgbClr val="2E74C6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</a:t>
            </a:r>
            <a:endParaRPr lang="en-US" sz="30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만드나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795321" y="3474720"/>
            <a:ext cx="5394960" cy="1508760"/>
          </a:xfrm>
          <a:prstGeom prst="roundRect">
            <a:avLst>
              <a:gd name="adj" fmla="val 4848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77800" tIns="177800" rIns="177800" bIns="1778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답해야 할 질문 → 최소 스키마 → 추출 → 질문으로 검증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09321" y="5212080"/>
            <a:ext cx="2194560" cy="1508760"/>
          </a:xfrm>
          <a:prstGeom prst="roundRect">
            <a:avLst>
              <a:gd name="adj" fmla="val 4848"/>
            </a:avLst>
          </a:prstGeom>
          <a:solidFill>
            <a:srgbClr val="404155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WHAT</a:t>
            </a:r>
            <a:endParaRPr lang="en-US" sz="30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나오나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795321" y="5212080"/>
            <a:ext cx="5394960" cy="1508760"/>
          </a:xfrm>
          <a:prstGeom prst="roundRect">
            <a:avLst>
              <a:gd name="adj" fmla="val 4848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77800" tIns="177800" rIns="177800" bIns="1778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개념과 관계 정의, 지표 계산식, 검증할 질문 목록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647481" y="173736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2E74C6"/>
          </a:solidFill>
          <a:ln/>
        </p:spPr>
      </p:sp>
      <p:sp>
        <p:nvSpPr>
          <p:cNvPr id="11" name="Text 9"/>
          <p:cNvSpPr/>
          <p:nvPr/>
        </p:nvSpPr>
        <p:spPr>
          <a:xfrm>
            <a:off x="8647481" y="17373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실무 원칙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647481" y="2286000"/>
            <a:ext cx="5486400" cy="4434840"/>
          </a:xfrm>
          <a:prstGeom prst="roundRect">
            <a:avLst>
              <a:gd name="adj" fmla="val 2062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3600"/>
              </a:spcAft>
              <a:buSzPct val="100000"/>
              <a:buChar char="•"/>
            </a:pPr>
            <a:r>
              <a:rPr lang="en-US" sz="20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CQ: 반드시 답해야 할 질문을 먼저 작성</a:t>
            </a:r>
            <a:endParaRPr lang="en-US" sz="2000" dirty="0"/>
          </a:p>
          <a:p>
            <a:pPr algn="l" marL="228600" indent="-228600">
              <a:spcAft>
                <a:spcPts val="3600"/>
              </a:spcAft>
              <a:buSzPct val="100000"/>
              <a:buChar char="•"/>
            </a:pPr>
            <a:r>
              <a:rPr lang="en-US" sz="20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추출 결과를 원문과 대조</a:t>
            </a:r>
            <a:endParaRPr lang="en-US" sz="2000" dirty="0"/>
          </a:p>
          <a:p>
            <a:pPr algn="l" marL="228600" indent="-228600">
              <a:spcAft>
                <a:spcPts val="3600"/>
              </a:spcAft>
              <a:buSzPct val="100000"/>
              <a:buChar char="•"/>
            </a:pPr>
            <a:r>
              <a:rPr lang="en-US" sz="20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사용자별 접근 권한은 별도로 적용</a:t>
            </a:r>
            <a:endParaRPr lang="en-US" sz="2000" dirty="0"/>
          </a:p>
          <a:p>
            <a:pPr algn="l" marL="228600" indent="-228600">
              <a:spcAft>
                <a:spcPts val="3600"/>
              </a:spcAft>
              <a:buSzPct val="100000"/>
              <a:buChar char="•"/>
            </a:pPr>
            <a:r>
              <a:rPr lang="en-US" sz="20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스키마와 업무 정의 변경을 회귀 검증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1795760" y="68122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3CEE0"/>
            </a:solidFill>
            <a:prstDash val="solid"/>
          </a:ln>
        </p:spPr>
      </p:sp>
      <p:sp>
        <p:nvSpPr>
          <p:cNvPr id="14" name="Text 12">
            <a:hlinkClick r:id="rId1" tooltip=""/>
          </p:cNvPr>
          <p:cNvSpPr/>
          <p:nvPr/>
        </p:nvSpPr>
        <p:spPr>
          <a:xfrm>
            <a:off x="11795760" y="6812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 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OG-RAG 논문, dbt 시맨틱 레이어 실험. 설계 순서는 교육팀 제안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NL2SQL의 평가 조건과 업무 지표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공개 벤치마크 점수와 자사 업무 정확도를 구분하고, 지표 정의의 효과를 확인합니다.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09321" y="1737360"/>
            <a:ext cx="5120640" cy="457200"/>
          </a:xfrm>
          <a:prstGeom prst="roundRect">
            <a:avLst>
              <a:gd name="adj" fmla="val 12000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리더보드 열람값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2286000"/>
          <a:ext cx="73152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47472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평가셋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제출 시스템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점수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Spider 2.0-Snow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Genloop Sentinel v2 Pro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96.70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Spider 2.0-Lite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Tianqiong + GLM 5.2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76.23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Spider 2.0-DBT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SignalPilot Agent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65.6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BIRD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GrainSQL / 사람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82.95 / 92.96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9321" y="5852160"/>
            <a:ext cx="64008" cy="868680"/>
          </a:xfrm>
          <a:prstGeom prst="rect">
            <a:avLst/>
          </a:prstGeom>
          <a:solidFill>
            <a:srgbClr val="2E74C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92201" y="585216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2026-10-21 열람. 서로 다른 과제의 점수는 직접 비교하지 않습니다.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281721" y="1737360"/>
            <a:ext cx="5852160" cy="457200"/>
          </a:xfrm>
          <a:prstGeom prst="roundRect">
            <a:avLst>
              <a:gd name="adj" fmla="val 12000"/>
            </a:avLst>
          </a:prstGeom>
          <a:solidFill>
            <a:srgbClr val="2E74C6"/>
          </a:solidFill>
          <a:ln/>
        </p:spPr>
      </p:sp>
      <p:sp>
        <p:nvSpPr>
          <p:cNvPr id="9" name="Text 6"/>
          <p:cNvSpPr/>
          <p:nvPr/>
        </p:nvSpPr>
        <p:spPr>
          <a:xfrm>
            <a:off x="8281721" y="17373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조건과 실무 원칙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8281721" y="2286000"/>
            <a:ext cx="5852160" cy="813816"/>
          </a:xfrm>
          <a:prstGeom prst="roundRect">
            <a:avLst>
              <a:gd name="adj" fmla="val 8989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8881" y="2491740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2" name="Text 9"/>
          <p:cNvSpPr/>
          <p:nvPr/>
        </p:nvSpPr>
        <p:spPr>
          <a:xfrm>
            <a:off x="8418881" y="24917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8921801" y="2286000"/>
            <a:ext cx="507492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Spider Lite: 메타데이터와 문서 제공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281721" y="3191256"/>
            <a:ext cx="5852160" cy="813816"/>
          </a:xfrm>
          <a:prstGeom prst="roundRect">
            <a:avLst>
              <a:gd name="adj" fmla="val 8989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418881" y="339699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6" name="Text 13"/>
          <p:cNvSpPr/>
          <p:nvPr/>
        </p:nvSpPr>
        <p:spPr>
          <a:xfrm>
            <a:off x="8418881" y="33969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921801" y="3191256"/>
            <a:ext cx="507492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dbt 실험: 보험 질문 11개, 각 20회 실행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8281721" y="4096512"/>
            <a:ext cx="5852160" cy="813816"/>
          </a:xfrm>
          <a:prstGeom prst="roundRect">
            <a:avLst>
              <a:gd name="adj" fmla="val 8989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418881" y="430225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20" name="Text 17"/>
          <p:cNvSpPr/>
          <p:nvPr/>
        </p:nvSpPr>
        <p:spPr>
          <a:xfrm>
            <a:off x="8418881" y="43022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921801" y="4096512"/>
            <a:ext cx="507492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Sonnet 4.6: 90.0% → 98.2% (벤더 발표)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8281721" y="5001768"/>
            <a:ext cx="5852160" cy="813816"/>
          </a:xfrm>
          <a:prstGeom prst="roundRect">
            <a:avLst>
              <a:gd name="adj" fmla="val 8989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418881" y="5207508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24" name="Text 21"/>
          <p:cNvSpPr/>
          <p:nvPr/>
        </p:nvSpPr>
        <p:spPr>
          <a:xfrm>
            <a:off x="8418881" y="52075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21801" y="5001768"/>
            <a:ext cx="507492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지표, 용어집과 예시 SQL을 정의</a:t>
            </a:r>
            <a:endParaRPr lang="en-US" sz="2000" dirty="0"/>
          </a:p>
        </p:txBody>
      </p:sp>
      <p:sp>
        <p:nvSpPr>
          <p:cNvPr id="26" name="Shape 23"/>
          <p:cNvSpPr/>
          <p:nvPr/>
        </p:nvSpPr>
        <p:spPr>
          <a:xfrm>
            <a:off x="8281721" y="5907024"/>
            <a:ext cx="5852160" cy="813816"/>
          </a:xfrm>
          <a:prstGeom prst="roundRect">
            <a:avLst>
              <a:gd name="adj" fmla="val 8989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418881" y="6112764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28" name="Text 25"/>
          <p:cNvSpPr/>
          <p:nvPr/>
        </p:nvSpPr>
        <p:spPr>
          <a:xfrm>
            <a:off x="8418881" y="61127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8921801" y="5907024"/>
            <a:ext cx="507492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읽기 권한, 루프 상한과 실행 시간 제한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11795760" y="68122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3CEE0"/>
            </a:solidFill>
            <a:prstDash val="solid"/>
          </a:ln>
        </p:spPr>
      </p:sp>
      <p:sp>
        <p:nvSpPr>
          <p:cNvPr id="31" name="Text 28">
            <a:hlinkClick r:id="rId1" tooltip=""/>
          </p:cNvPr>
          <p:cNvSpPr/>
          <p:nvPr/>
        </p:nvSpPr>
        <p:spPr>
          <a:xfrm>
            <a:off x="11795760" y="6812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 →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Spider 2.0, BIRD 공식 리더보드, dbt 벤더 실험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검색을 반복하는 에이전트 실행 흐름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복합 질문에서는 검색 결과를 보고 다음 질의를 바꾸며, 종료 조건과 예산을 함께 설정합니다.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09321" y="1737360"/>
            <a:ext cx="1737360" cy="914400"/>
          </a:xfrm>
          <a:prstGeom prst="roundRect">
            <a:avLst>
              <a:gd name="adj" fmla="val 12000"/>
            </a:avLst>
          </a:prstGeom>
          <a:solidFill>
            <a:srgbClr val="1E2A5C"/>
          </a:solidFill>
          <a:ln/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 분석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292401" y="2029968"/>
            <a:ext cx="320040" cy="329184"/>
          </a:xfrm>
          <a:prstGeom prst="rightArrow">
            <a:avLst/>
          </a:prstGeom>
          <a:solidFill>
            <a:srgbClr val="2E74C6"/>
          </a:solidFill>
          <a:ln/>
        </p:spPr>
      </p:sp>
      <p:sp>
        <p:nvSpPr>
          <p:cNvPr id="6" name="Text 4"/>
          <p:cNvSpPr/>
          <p:nvPr/>
        </p:nvSpPr>
        <p:spPr>
          <a:xfrm>
            <a:off x="2658161" y="1737360"/>
            <a:ext cx="2926080" cy="914400"/>
          </a:xfrm>
          <a:prstGeom prst="roundRect">
            <a:avLst>
              <a:gd name="adj" fmla="val 12000"/>
            </a:avLst>
          </a:prstGeom>
          <a:solidFill>
            <a:srgbClr val="2E74C6"/>
          </a:solidFill>
          <a:ln/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 호출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629961" y="2029968"/>
            <a:ext cx="320040" cy="329184"/>
          </a:xfrm>
          <a:prstGeom prst="rightArrow">
            <a:avLst/>
          </a:prstGeom>
          <a:solidFill>
            <a:srgbClr val="2E74C6"/>
          </a:solidFill>
          <a:ln/>
        </p:spPr>
      </p:sp>
      <p:sp>
        <p:nvSpPr>
          <p:cNvPr id="8" name="Text 6"/>
          <p:cNvSpPr/>
          <p:nvPr/>
        </p:nvSpPr>
        <p:spPr>
          <a:xfrm>
            <a:off x="5995721" y="1737360"/>
            <a:ext cx="2011680" cy="914400"/>
          </a:xfrm>
          <a:prstGeom prst="roundRect">
            <a:avLst>
              <a:gd name="adj" fmla="val 12000"/>
            </a:avLst>
          </a:prstGeom>
          <a:solidFill>
            <a:srgbClr val="1E2A5C"/>
          </a:solidFill>
          <a:ln/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 평가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053121" y="2029968"/>
            <a:ext cx="320040" cy="329184"/>
          </a:xfrm>
          <a:prstGeom prst="rightArrow">
            <a:avLst/>
          </a:prstGeom>
          <a:solidFill>
            <a:srgbClr val="2E74C6"/>
          </a:solidFill>
          <a:ln/>
        </p:spPr>
      </p:sp>
      <p:sp>
        <p:nvSpPr>
          <p:cNvPr id="10" name="Text 8"/>
          <p:cNvSpPr/>
          <p:nvPr/>
        </p:nvSpPr>
        <p:spPr>
          <a:xfrm>
            <a:off x="8418881" y="173736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2E74C6"/>
          </a:solidFill>
          <a:ln/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부족하면 재검색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1299241" y="2029968"/>
            <a:ext cx="320040" cy="329184"/>
          </a:xfrm>
          <a:prstGeom prst="rightArrow">
            <a:avLst/>
          </a:prstGeom>
          <a:solidFill>
            <a:srgbClr val="2E74C6"/>
          </a:solidFill>
          <a:ln/>
        </p:spPr>
      </p:sp>
      <p:sp>
        <p:nvSpPr>
          <p:cNvPr id="12" name="Text 10"/>
          <p:cNvSpPr/>
          <p:nvPr/>
        </p:nvSpPr>
        <p:spPr>
          <a:xfrm>
            <a:off x="11665001" y="173736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1E2A5C"/>
          </a:solidFill>
          <a:ln/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답변과 인용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836201" y="2651760"/>
            <a:ext cx="0" cy="274320"/>
          </a:xfrm>
          <a:prstGeom prst="line">
            <a:avLst/>
          </a:prstGeom>
          <a:noFill/>
          <a:ln w="28575">
            <a:solidFill>
              <a:srgbClr val="2E74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21201" y="2926080"/>
            <a:ext cx="5715000" cy="0"/>
          </a:xfrm>
          <a:prstGeom prst="line">
            <a:avLst/>
          </a:prstGeom>
          <a:noFill/>
          <a:ln w="28575">
            <a:solidFill>
              <a:srgbClr val="2E74C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121201" y="2651760"/>
            <a:ext cx="0" cy="274320"/>
          </a:xfrm>
          <a:prstGeom prst="line">
            <a:avLst/>
          </a:prstGeom>
          <a:noFill/>
          <a:ln w="28575">
            <a:solidFill>
              <a:srgbClr val="2E74C6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509321" y="3200400"/>
            <a:ext cx="384048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연구와 구현 예시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3703320"/>
          <a:ext cx="65836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297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하는 일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Self-RAG / CRAG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검색과 근거의 상태 판단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LangGraph Adaptive RAG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재작성과 검사 루프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Azure agentic retrieval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하위 질의 검색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딥 리서치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계획, 조사와 종합을 연결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7550201" y="3200400"/>
            <a:ext cx="384048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운영에서 정할 것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7550201" y="3703320"/>
            <a:ext cx="6583680" cy="3017520"/>
          </a:xfrm>
          <a:prstGeom prst="roundRect">
            <a:avLst>
              <a:gd name="adj" fmla="val 3030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3100"/>
              </a:spcAft>
              <a:buSzPct val="100000"/>
              <a:buChar char="•"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 횟수, 시간과 토큰 예산</a:t>
            </a:r>
            <a:endParaRPr lang="en-US" sz="1800" dirty="0"/>
          </a:p>
          <a:p>
            <a:pPr algn="l" marL="228600" indent="-228600">
              <a:spcAft>
                <a:spcPts val="3100"/>
              </a:spcAft>
              <a:buSzPct val="100000"/>
              <a:buChar char="•"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충분한 근거와 답변 보류 기준</a:t>
            </a:r>
            <a:endParaRPr lang="en-US" sz="1800" dirty="0"/>
          </a:p>
          <a:p>
            <a:pPr algn="l" marL="228600" indent="-228600">
              <a:spcAft>
                <a:spcPts val="3100"/>
              </a:spcAft>
              <a:buSzPct val="100000"/>
              <a:buChar char="•"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하위 작업의 범위와 출력 형식</a:t>
            </a:r>
            <a:endParaRPr lang="en-US" sz="1800" dirty="0"/>
          </a:p>
          <a:p>
            <a:pPr algn="l" marL="228600" indent="-228600">
              <a:spcAft>
                <a:spcPts val="3100"/>
              </a:spcAft>
              <a:buSzPct val="100000"/>
              <a:buChar char="•"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재시도와 중복 탐색 기록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11795760" y="68122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3CEE0"/>
            </a:solidFill>
            <a:prstDash val="solid"/>
          </a:ln>
        </p:spPr>
      </p:sp>
      <p:sp>
        <p:nvSpPr>
          <p:cNvPr id="21" name="Text 18">
            <a:hlinkClick r:id="rId1" tooltip=""/>
          </p:cNvPr>
          <p:cNvSpPr/>
          <p:nvPr/>
        </p:nvSpPr>
        <p:spPr>
          <a:xfrm>
            <a:off x="11795760" y="6812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 →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Anthropic 멀티 에이전트 연구, Self-RAG, CRAG, Microsoft 공식 자료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검색, 긴 문맥과 캐싱의 선택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질문에 필요한 근거를 고르고, 반복 사용과 갱신 조건까지 포함해 비용을 계산합니다.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09321" y="1737360"/>
            <a:ext cx="4206240" cy="457200"/>
          </a:xfrm>
          <a:prstGeom prst="roundRect">
            <a:avLst>
              <a:gd name="adj" fmla="val 12000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상황별 비교 후보</a:t>
            </a:r>
            <a:endParaRPr lang="en-US" sz="1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2286000"/>
          <a:ext cx="6949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상황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비교할 접근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근거가 좁은 단순 조회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필요한 부분을 검색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여러 문서의 비교와 종합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긴 문맥과 검색을 함께 평가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자료를 반복 사용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캐싱의 적중률과 비용 확인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자주 바뀌거나 사용자별로 다른 자료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검색과 갱신 비용 확인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915961" y="1737360"/>
            <a:ext cx="6217920" cy="457200"/>
          </a:xfrm>
          <a:prstGeom prst="roundRect">
            <a:avLst>
              <a:gd name="adj" fmla="val 12000"/>
            </a:avLst>
          </a:prstGeom>
          <a:solidFill>
            <a:srgbClr val="2E74C6"/>
          </a:solidFill>
          <a:ln/>
        </p:spPr>
      </p:sp>
      <p:sp>
        <p:nvSpPr>
          <p:cNvPr id="7" name="Text 4"/>
          <p:cNvSpPr/>
          <p:nvPr/>
        </p:nvSpPr>
        <p:spPr>
          <a:xfrm>
            <a:off x="7915961" y="17373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문맥과 비용 관리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915961" y="2286000"/>
            <a:ext cx="6217920" cy="3703320"/>
          </a:xfrm>
          <a:prstGeom prst="roundRect">
            <a:avLst>
              <a:gd name="adj" fmla="val 2469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3400"/>
              </a:spcAft>
              <a:buSzPct val="100000"/>
              <a:buChar char="•"/>
            </a:pPr>
            <a:r>
              <a:rPr lang="en-US" sz="19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필요한 파일과 도구를 적시에 불러오기</a:t>
            </a:r>
            <a:endParaRPr lang="en-US" sz="1900" dirty="0"/>
          </a:p>
          <a:p>
            <a:pPr algn="l" marL="228600" indent="-228600">
              <a:spcAft>
                <a:spcPts val="3400"/>
              </a:spcAft>
              <a:buSzPct val="100000"/>
              <a:buChar char="•"/>
            </a:pPr>
            <a:r>
              <a:rPr lang="en-US" sz="19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긴 작업의 요약과 구조화된 메모 유지</a:t>
            </a:r>
            <a:endParaRPr lang="en-US" sz="1900" dirty="0"/>
          </a:p>
          <a:p>
            <a:pPr algn="l" marL="228600" indent="-228600">
              <a:spcAft>
                <a:spcPts val="3400"/>
              </a:spcAft>
              <a:buSzPct val="100000"/>
              <a:buChar char="•"/>
            </a:pPr>
            <a:r>
              <a:rPr lang="en-US" sz="19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캐시 쓰기, 읽기, 만료와 출력 비용 계산</a:t>
            </a:r>
            <a:endParaRPr lang="en-US" sz="1900" dirty="0"/>
          </a:p>
          <a:p>
            <a:pPr algn="l" marL="228600" indent="-228600">
              <a:spcAft>
                <a:spcPts val="3400"/>
              </a:spcAft>
              <a:buSzPct val="100000"/>
              <a:buChar char="•"/>
            </a:pPr>
            <a:r>
              <a:rPr lang="en-US" sz="19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문맥 길이별 품질과 지연 측정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509321" y="6309360"/>
            <a:ext cx="64008" cy="320040"/>
          </a:xfrm>
          <a:prstGeom prst="rect">
            <a:avLst/>
          </a:prstGeom>
          <a:solidFill>
            <a:srgbClr val="2E74C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92201" y="6309360"/>
            <a:ext cx="1344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캐시 적중 요금만으로 전체 질문 비용을 계산하지 않습니다.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11795760" y="68122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3CEE0"/>
            </a:solidFill>
            <a:prstDash val="solid"/>
          </a:ln>
        </p:spPr>
      </p:sp>
      <p:sp>
        <p:nvSpPr>
          <p:cNvPr id="12" name="Text 9">
            <a:hlinkClick r:id="rId1" tooltip=""/>
          </p:cNvPr>
          <p:cNvSpPr/>
          <p:nvPr/>
        </p:nvSpPr>
        <p:spPr>
          <a:xfrm>
            <a:off x="11795760" y="6812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 →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LaRA(ICML 2025), Anthropic 컨텍스트 엔지니어링과 프롬프트 캐싱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검색, 답변과 실행 과정을 함께 평가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맞는 근거를 찾았는지와 그 근거로 답했는지를 나누어 보고, 실패 과정을 추적합니다.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1E2A5C"/>
          </a:solidFill>
          <a:ln/>
        </p:spPr>
      </p:sp>
      <p:sp>
        <p:nvSpPr>
          <p:cNvPr id="5" name="Text 3"/>
          <p:cNvSpPr/>
          <p:nvPr/>
        </p:nvSpPr>
        <p:spPr>
          <a:xfrm>
            <a:off x="509321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평가할 것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9321" y="2286000"/>
            <a:ext cx="6583680" cy="813816"/>
          </a:xfrm>
          <a:prstGeom prst="roundRect">
            <a:avLst>
              <a:gd name="adj" fmla="val 8989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6481" y="2491740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8" name="Text 6"/>
          <p:cNvSpPr/>
          <p:nvPr/>
        </p:nvSpPr>
        <p:spPr>
          <a:xfrm>
            <a:off x="646481" y="24917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49401" y="2286000"/>
            <a:ext cx="580644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검색: 필요한 근거를 얼마나 찾았는가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09321" y="3191256"/>
            <a:ext cx="6583680" cy="813816"/>
          </a:xfrm>
          <a:prstGeom prst="roundRect">
            <a:avLst>
              <a:gd name="adj" fmla="val 8989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6481" y="339699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2" name="Text 10"/>
          <p:cNvSpPr/>
          <p:nvPr/>
        </p:nvSpPr>
        <p:spPr>
          <a:xfrm>
            <a:off x="646481" y="33969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49401" y="3191256"/>
            <a:ext cx="580644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근거성: 답이 제공한 문맥에 근거하는가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9321" y="4096512"/>
            <a:ext cx="6583680" cy="813816"/>
          </a:xfrm>
          <a:prstGeom prst="roundRect">
            <a:avLst>
              <a:gd name="adj" fmla="val 8989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481" y="430225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6" name="Text 14"/>
          <p:cNvSpPr/>
          <p:nvPr/>
        </p:nvSpPr>
        <p:spPr>
          <a:xfrm>
            <a:off x="646481" y="43022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149401" y="4096512"/>
            <a:ext cx="580644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관련성: 질문에 맞는 답인가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09321" y="5001768"/>
            <a:ext cx="6583680" cy="813816"/>
          </a:xfrm>
          <a:prstGeom prst="roundRect">
            <a:avLst>
              <a:gd name="adj" fmla="val 8989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6481" y="5207508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20" name="Text 18"/>
          <p:cNvSpPr/>
          <p:nvPr/>
        </p:nvSpPr>
        <p:spPr>
          <a:xfrm>
            <a:off x="646481" y="52075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149401" y="5001768"/>
            <a:ext cx="580644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SQL: 실행 결과가 정답과 같은가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509321" y="5907024"/>
            <a:ext cx="6583680" cy="813816"/>
          </a:xfrm>
          <a:prstGeom prst="roundRect">
            <a:avLst>
              <a:gd name="adj" fmla="val 8989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6481" y="6112764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24" name="Text 22"/>
          <p:cNvSpPr/>
          <p:nvPr/>
        </p:nvSpPr>
        <p:spPr>
          <a:xfrm>
            <a:off x="646481" y="61127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149401" y="5907024"/>
            <a:ext cx="580644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운영: 질문당 비용과 p95 지연은 어떤가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7550201" y="173736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2E74C6"/>
          </a:solidFill>
          <a:ln/>
        </p:spPr>
      </p:sp>
      <p:sp>
        <p:nvSpPr>
          <p:cNvPr id="27" name="Text 25"/>
          <p:cNvSpPr/>
          <p:nvPr/>
        </p:nvSpPr>
        <p:spPr>
          <a:xfrm>
            <a:off x="7550201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재현하고 추적할 것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7550201" y="2286000"/>
            <a:ext cx="6583680" cy="4434840"/>
          </a:xfrm>
          <a:prstGeom prst="roundRect">
            <a:avLst>
              <a:gd name="adj" fmla="val 2062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3600"/>
              </a:spcAft>
              <a:buSzPct val="100000"/>
              <a:buChar char="•"/>
            </a:pPr>
            <a:r>
              <a:rPr lang="en-US" sz="20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평가셋과 심사 모델 버전 고정</a:t>
            </a:r>
            <a:endParaRPr lang="en-US" sz="2000" dirty="0"/>
          </a:p>
          <a:p>
            <a:pPr algn="l" marL="228600" indent="-228600">
              <a:spcAft>
                <a:spcPts val="3600"/>
              </a:spcAft>
              <a:buSzPct val="100000"/>
              <a:buChar char="•"/>
            </a:pPr>
            <a:r>
              <a:rPr lang="en-US" sz="20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 라벨로 LLM 심사 결과 보정</a:t>
            </a:r>
            <a:endParaRPr lang="en-US" sz="2000" dirty="0"/>
          </a:p>
          <a:p>
            <a:pPr algn="l" marL="228600" indent="-228600">
              <a:spcAft>
                <a:spcPts val="3600"/>
              </a:spcAft>
              <a:buSzPct val="100000"/>
              <a:buChar char="•"/>
            </a:pPr>
            <a:r>
              <a:rPr lang="en-US" sz="20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RAGAS는 설치 버전의 API와 문서 고정</a:t>
            </a:r>
            <a:endParaRPr lang="en-US" sz="2000" dirty="0"/>
          </a:p>
          <a:p>
            <a:pPr algn="l" marL="228600" indent="-228600">
              <a:spcAft>
                <a:spcPts val="3600"/>
              </a:spcAft>
              <a:buSzPct val="100000"/>
              <a:buChar char="•"/>
            </a:pPr>
            <a:r>
              <a:rPr lang="en-US" sz="20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LangSmith, Langfuse, Phoenix 등으로 추적</a:t>
            </a:r>
            <a:endParaRPr lang="en-US" sz="2000" dirty="0"/>
          </a:p>
          <a:p>
            <a:pPr algn="l" marL="228600" indent="-228600">
              <a:spcAft>
                <a:spcPts val="3600"/>
              </a:spcAft>
              <a:buSzPct val="100000"/>
              <a:buChar char="•"/>
            </a:pPr>
            <a:r>
              <a:rPr lang="en-US" sz="20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실패 질문을 다음 회귀 평가에 추가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11795760" y="68122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3CEE0"/>
            </a:solidFill>
            <a:prstDash val="solid"/>
          </a:ln>
        </p:spPr>
      </p:sp>
      <p:sp>
        <p:nvSpPr>
          <p:cNvPr id="30" name="Text 28">
            <a:hlinkClick r:id="rId1" tooltip=""/>
          </p:cNvPr>
          <p:cNvSpPr/>
          <p:nvPr/>
        </p:nvSpPr>
        <p:spPr>
          <a:xfrm>
            <a:off x="11795760" y="6812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 →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RAGAS 공식 문서, Anthropic 평가와 실행 추적 사례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질문과 결과 유형에 맞는 검색 경로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문서 후보는 융합하고, SQL 집계값은 단위와 기준 시점을 확인해 답변에 결합합니다.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09321" y="2084832"/>
            <a:ext cx="1005840" cy="621792"/>
          </a:xfrm>
          <a:prstGeom prst="roundRect">
            <a:avLst>
              <a:gd name="adj" fmla="val 17647"/>
            </a:avLst>
          </a:prstGeom>
          <a:solidFill>
            <a:srgbClr val="404155"/>
          </a:solidFill>
          <a:ln/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645920" y="2221992"/>
            <a:ext cx="274320" cy="329184"/>
          </a:xfrm>
          <a:prstGeom prst="rightArrow">
            <a:avLst/>
          </a:prstGeom>
          <a:solidFill>
            <a:srgbClr val="2E74C6"/>
          </a:solidFill>
          <a:ln/>
        </p:spPr>
      </p:sp>
      <p:sp>
        <p:nvSpPr>
          <p:cNvPr id="6" name="Text 4"/>
          <p:cNvSpPr/>
          <p:nvPr/>
        </p:nvSpPr>
        <p:spPr>
          <a:xfrm>
            <a:off x="2057400" y="2084832"/>
            <a:ext cx="1554480" cy="621792"/>
          </a:xfrm>
          <a:prstGeom prst="roundRect">
            <a:avLst>
              <a:gd name="adj" fmla="val 17647"/>
            </a:avLst>
          </a:prstGeom>
          <a:solidFill>
            <a:srgbClr val="1E2A5C"/>
          </a:solidFill>
          <a:ln/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라우터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11880" y="2395728"/>
            <a:ext cx="228600" cy="0"/>
          </a:xfrm>
          <a:prstGeom prst="line">
            <a:avLst/>
          </a:prstGeom>
          <a:noFill/>
          <a:ln w="25400">
            <a:solidFill>
              <a:srgbClr val="2E74C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0" y="2034540"/>
            <a:ext cx="0" cy="777240"/>
          </a:xfrm>
          <a:prstGeom prst="line">
            <a:avLst/>
          </a:prstGeom>
          <a:noFill/>
          <a:ln w="25400">
            <a:solidFill>
              <a:srgbClr val="2E74C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40480" y="1901952"/>
            <a:ext cx="274320" cy="256032"/>
          </a:xfrm>
          <a:prstGeom prst="rightArrow">
            <a:avLst/>
          </a:prstGeom>
          <a:solidFill>
            <a:srgbClr val="2E74C6"/>
          </a:solidFill>
          <a:ln/>
        </p:spPr>
      </p:sp>
      <p:sp>
        <p:nvSpPr>
          <p:cNvPr id="10" name="Shape 8"/>
          <p:cNvSpPr/>
          <p:nvPr/>
        </p:nvSpPr>
        <p:spPr>
          <a:xfrm>
            <a:off x="3840480" y="2679192"/>
            <a:ext cx="274320" cy="256032"/>
          </a:xfrm>
          <a:prstGeom prst="rightArrow">
            <a:avLst/>
          </a:prstGeom>
          <a:solidFill>
            <a:srgbClr val="2E74C6"/>
          </a:solidFill>
          <a:ln/>
        </p:spPr>
      </p:sp>
      <p:sp>
        <p:nvSpPr>
          <p:cNvPr id="11" name="Text 9"/>
          <p:cNvSpPr/>
          <p:nvPr/>
        </p:nvSpPr>
        <p:spPr>
          <a:xfrm>
            <a:off x="4251960" y="1737360"/>
            <a:ext cx="3657600" cy="594360"/>
          </a:xfrm>
          <a:prstGeom prst="roundRect">
            <a:avLst>
              <a:gd name="adj" fmla="val 18462"/>
            </a:avLst>
          </a:prstGeom>
          <a:solidFill>
            <a:srgbClr val="1E2A5C"/>
          </a:solidFill>
          <a:ln/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검색 (BM25, 벡터, 그래프)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251960" y="2514600"/>
            <a:ext cx="3657600" cy="594360"/>
          </a:xfrm>
          <a:prstGeom prst="roundRect">
            <a:avLst>
              <a:gd name="adj" fmla="val 18462"/>
            </a:avLst>
          </a:prstGeom>
          <a:solidFill>
            <a:srgbClr val="1E2A5C"/>
          </a:solidFill>
          <a:ln/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SQL 질의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046720" y="1901952"/>
            <a:ext cx="274320" cy="256032"/>
          </a:xfrm>
          <a:prstGeom prst="rightArrow">
            <a:avLst/>
          </a:prstGeom>
          <a:solidFill>
            <a:srgbClr val="2E74C6"/>
          </a:solidFill>
          <a:ln/>
        </p:spPr>
      </p:sp>
      <p:sp>
        <p:nvSpPr>
          <p:cNvPr id="14" name="Shape 12"/>
          <p:cNvSpPr/>
          <p:nvPr/>
        </p:nvSpPr>
        <p:spPr>
          <a:xfrm>
            <a:off x="8046720" y="2679192"/>
            <a:ext cx="274320" cy="256032"/>
          </a:xfrm>
          <a:prstGeom prst="rightArrow">
            <a:avLst/>
          </a:prstGeom>
          <a:solidFill>
            <a:srgbClr val="2E74C6"/>
          </a:solidFill>
          <a:ln/>
        </p:spPr>
      </p:sp>
      <p:sp>
        <p:nvSpPr>
          <p:cNvPr id="15" name="Text 13"/>
          <p:cNvSpPr/>
          <p:nvPr/>
        </p:nvSpPr>
        <p:spPr>
          <a:xfrm>
            <a:off x="8458200" y="1737360"/>
            <a:ext cx="2926080" cy="594360"/>
          </a:xfrm>
          <a:prstGeom prst="roundRect">
            <a:avLst>
              <a:gd name="adj" fmla="val 18462"/>
            </a:avLst>
          </a:prstGeom>
          <a:solidFill>
            <a:srgbClr val="2E74C6"/>
          </a:solidFill>
          <a:ln/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융합 / 리랭킹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458200" y="2514600"/>
            <a:ext cx="2926080" cy="594360"/>
          </a:xfrm>
          <a:prstGeom prst="roundRect">
            <a:avLst>
              <a:gd name="adj" fmla="val 18462"/>
            </a:avLst>
          </a:prstGeom>
          <a:solidFill>
            <a:srgbClr val="2E74C6"/>
          </a:solidFill>
          <a:ln/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단위와 기준 시점 검증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1384280" y="2034540"/>
            <a:ext cx="320040" cy="0"/>
          </a:xfrm>
          <a:prstGeom prst="line">
            <a:avLst/>
          </a:prstGeom>
          <a:noFill/>
          <a:ln w="25400">
            <a:solidFill>
              <a:srgbClr val="2E74C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384280" y="2811780"/>
            <a:ext cx="320040" cy="0"/>
          </a:xfrm>
          <a:prstGeom prst="line">
            <a:avLst/>
          </a:prstGeom>
          <a:noFill/>
          <a:ln w="25400">
            <a:solidFill>
              <a:srgbClr val="2E74C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04320" y="2034540"/>
            <a:ext cx="0" cy="777240"/>
          </a:xfrm>
          <a:prstGeom prst="line">
            <a:avLst/>
          </a:prstGeom>
          <a:noFill/>
          <a:ln w="25400">
            <a:solidFill>
              <a:srgbClr val="2E74C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704320" y="2267712"/>
            <a:ext cx="274320" cy="256032"/>
          </a:xfrm>
          <a:prstGeom prst="rightArrow">
            <a:avLst/>
          </a:prstGeom>
          <a:solidFill>
            <a:srgbClr val="2E74C6"/>
          </a:solidFill>
          <a:ln/>
        </p:spPr>
      </p:sp>
      <p:sp>
        <p:nvSpPr>
          <p:cNvPr id="21" name="Text 19"/>
          <p:cNvSpPr/>
          <p:nvPr/>
        </p:nvSpPr>
        <p:spPr>
          <a:xfrm>
            <a:off x="12115800" y="2084832"/>
            <a:ext cx="2011680" cy="621792"/>
          </a:xfrm>
          <a:prstGeom prst="roundRect">
            <a:avLst>
              <a:gd name="adj" fmla="val 17647"/>
            </a:avLst>
          </a:prstGeom>
          <a:solidFill>
            <a:srgbClr val="1E2A5C"/>
          </a:solidFill>
          <a:ln/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 기반 답변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09321" y="3337560"/>
            <a:ext cx="420624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 유형별 비교 경로</a:t>
            </a:r>
            <a:endParaRPr lang="en-US" sz="1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3840480"/>
          <a:ext cx="136245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754880"/>
                <a:gridCol w="64008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질문 유형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질문 예시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비교할 경로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식별자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오류 코드 E-4021 원인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키워드와 벡터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의미 유사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카드 분실 시 처리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벡터와 키워드 결합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집계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지난달 지점별 매출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SQL과 시맨틱 레이어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임원이 관여한 계열사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그래프 탐색 또는 Cypher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전체 조망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문서 묶음의 주요 쟁점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그래프 요약 또는 긴 문맥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시간 변화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지난달과 달라진 정책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시점 정보와 원문 검색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11795760" y="68122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3CEE0"/>
            </a:solidFill>
            <a:prstDash val="solid"/>
          </a:ln>
        </p:spPr>
      </p:sp>
      <p:sp>
        <p:nvSpPr>
          <p:cNvPr id="25" name="Text 22">
            <a:hlinkClick r:id="rId1" tooltip=""/>
          </p:cNvPr>
          <p:cNvSpPr/>
          <p:nvPr/>
        </p:nvSpPr>
        <p:spPr>
          <a:xfrm>
            <a:off x="11795760" y="6812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 →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Neo4j, Microsoft 검색 공식 자료. 경로 표는 교육팀 설계 제안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실험으로 확장하는 6단계 실습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검색 기준선을 먼저 만들고, 각 기법의 품질 개선과 추가 비용을 확인하며 확장합니다.</a:t>
            </a:r>
            <a:endParaRPr lang="en-US" sz="1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97280" y="2057400"/>
          <a:ext cx="13036601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315200"/>
                <a:gridCol w="3709721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실습 내용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관련 실습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검색 기준선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BM25와 벡터를 각각 측정한 뒤 융합과 리랭킹 추가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RAG 인덱싱과 검색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색인 품질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문서 구조와 청크 문맥 보존 효과 비교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청킹 비교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구조화 질의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업무 지표, 용어집과 SQL 예시를 함께 정의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SQL retriever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그래프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Neo4j 관계 확장과 벡터 기준선의 근거와 비용 비교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그래프 스키마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라우팅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질문 6유형과 문서 / SQL 결과 처리 경로 구현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지식 경로 설계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평가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실패 질문을 회귀 평가로 전환하고 실행 추적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RAGAS와 관측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55041" y="2606040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6" name="Text 3"/>
          <p:cNvSpPr/>
          <p:nvPr/>
        </p:nvSpPr>
        <p:spPr>
          <a:xfrm>
            <a:off x="555041" y="2606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55041" y="319125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8" name="Text 5"/>
          <p:cNvSpPr/>
          <p:nvPr/>
        </p:nvSpPr>
        <p:spPr>
          <a:xfrm>
            <a:off x="555041" y="31912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55041" y="377647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0" name="Text 7"/>
          <p:cNvSpPr/>
          <p:nvPr/>
        </p:nvSpPr>
        <p:spPr>
          <a:xfrm>
            <a:off x="555041" y="3776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55041" y="4361688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2" name="Text 9"/>
          <p:cNvSpPr/>
          <p:nvPr/>
        </p:nvSpPr>
        <p:spPr>
          <a:xfrm>
            <a:off x="555041" y="4361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55041" y="4946904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4" name="Text 11"/>
          <p:cNvSpPr/>
          <p:nvPr/>
        </p:nvSpPr>
        <p:spPr>
          <a:xfrm>
            <a:off x="555041" y="4946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55041" y="5532120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6" name="Text 13"/>
          <p:cNvSpPr/>
          <p:nvPr/>
        </p:nvSpPr>
        <p:spPr>
          <a:xfrm>
            <a:off x="555041" y="5532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09321" y="6263640"/>
            <a:ext cx="64008" cy="457200"/>
          </a:xfrm>
          <a:prstGeom prst="rect">
            <a:avLst/>
          </a:prstGeom>
          <a:solidFill>
            <a:srgbClr val="2E74C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92201" y="6263640"/>
            <a:ext cx="1344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벤더 발표와 연구 조건을 밝히고, 자사 질문에서 직접 비교합니다.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1795760" y="68122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3CEE0"/>
            </a:solidFill>
            <a:prstDash val="solid"/>
          </a:ln>
        </p:spPr>
      </p:sp>
      <p:sp>
        <p:nvSpPr>
          <p:cNvPr id="20" name="Text 17">
            <a:hlinkClick r:id="rId1" tooltip=""/>
          </p:cNvPr>
          <p:cNvSpPr/>
          <p:nvPr/>
        </p:nvSpPr>
        <p:spPr>
          <a:xfrm>
            <a:off x="11795760" y="6812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 →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hybrid-ai 교육팀 RAG 동향 보고서 14절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넓은 의미의 RAG 최신 트렌드</dc:title>
  <dc:subject>2026-10-21 Astra 검토 반영</dc:subject>
  <dc:creator>hybrid-ai 교육팀</dc:creator>
  <cp:lastModifiedBy>hybrid-ai 교육팀</cp:lastModifiedBy>
  <cp:revision>1</cp:revision>
  <dcterms:created xsi:type="dcterms:W3CDTF">2026-10-20T20:25:21Z</dcterms:created>
  <dcterms:modified xsi:type="dcterms:W3CDTF">2026-10-20T20:25:21Z</dcterms:modified>
</cp:coreProperties>
</file>