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2-&#53360;-&#55120;&#47492;-7&#44032;&#51648;" TargetMode="External"/><Relationship Id="rId2" Type="http://schemas.openxmlformats.org/officeDocument/2006/relationships/hyperlink" Target="https://github.com/unicorn-campus/hybrid-ai/blob/main/research/rag-trends-2026.md#3-&#48289;&#53552;-&#44160;&#49353;&#44284;-&#51076;&#48288;&#46377;" TargetMode="External"/><Relationship Id="rId3" Type="http://schemas.openxmlformats.org/officeDocument/2006/relationships/hyperlink" Target="https://github.com/unicorn-campus/hybrid-ai/blob/main/research/rag-trends-2026.md#4-bm25&#50752;-&#55148;&#49548;-&#44160;&#49353;" TargetMode="External"/><Relationship Id="rId4" Type="http://schemas.openxmlformats.org/officeDocument/2006/relationships/hyperlink" Target="https://github.com/unicorn-campus/hybrid-ai/blob/main/research/rag-trends-2026.md#5-&#54616;&#51060;&#48652;&#47532;&#46300;-&#44160;&#49353;&#44284;-&#47532;&#47021;&#53433;" TargetMode="External"/><Relationship Id="rId5" Type="http://schemas.openxmlformats.org/officeDocument/2006/relationships/hyperlink" Target="https://github.com/unicorn-campus/hybrid-ai/blob/main/research/rag-trends-2026.md#6-&#52397;&#53433;-&#51064;&#45937;&#49905;-&#53244;&#47532;-&#48320;&#54872;" TargetMode="External"/><Relationship Id="rId6" Type="http://schemas.openxmlformats.org/officeDocument/2006/relationships/hyperlink" Target="https://github.com/unicorn-campus/hybrid-ai/blob/main/research/rag-trends-2026.md#7-&#44536;&#47000;&#54532;-&#44160;&#49353;-graphrag" TargetMode="External"/><Relationship Id="rId7" Type="http://schemas.openxmlformats.org/officeDocument/2006/relationships/hyperlink" Target="https://github.com/unicorn-campus/hybrid-ai/blob/main/research/rag-trends-2026.md#8-&#50728;&#53672;&#47196;&#51648;&#50752;-&#51648;&#49885;&#44536;&#47000;&#54532;" TargetMode="External"/><Relationship Id="rId8" Type="http://schemas.openxmlformats.org/officeDocument/2006/relationships/hyperlink" Target="https://github.com/unicorn-campus/hybrid-ai/blob/main/research/rag-trends-2026.md#9-nl2sql&#44284;-&#49884;&#47592;&#54001;-&#47112;&#51060;&#50612;" TargetMode="External"/><Relationship Id="rId9" Type="http://schemas.openxmlformats.org/officeDocument/2006/relationships/hyperlink" Target="https://github.com/unicorn-campus/hybrid-ai/blob/main/research/rag-trends-2026.md#10-&#50640;&#51060;&#51204;&#54001;-rag&#50752;-&#46373;-&#47532;&#49436;&#52824;" TargetMode="External"/><Relationship Id="rId10" Type="http://schemas.openxmlformats.org/officeDocument/2006/relationships/hyperlink" Target="https://github.com/unicorn-campus/hybrid-ai/blob/main/research/rag-trends-2026.md#11-&#52968;&#53581;&#49828;&#53944;-&#50644;&#51648;&#45768;&#50612;&#47553;&#44284;-&#44596;-&#47928;&#47589;-&#45436;&#51137;" TargetMode="External"/><Relationship Id="rId11" Type="http://schemas.openxmlformats.org/officeDocument/2006/relationships/hyperlink" Target="https://github.com/unicorn-campus/hybrid-ai/blob/main/research/rag-trends-2026.md#12-rag-&#54217;&#44032;&#50752;-&#44288;&#52769;" TargetMode="External"/><Relationship Id="rId12" Type="http://schemas.openxmlformats.org/officeDocument/2006/relationships/hyperlink" Target="https://github.com/unicorn-campus/hybrid-ai/blob/main/research/rag-trends-2026.md#13-&#47680;&#54000;-&#49548;&#49828;-&#46972;&#50864;&#54021;-&#50500;&#53412;&#53581;&#52376;" TargetMode="External"/><Relationship Id="rId13" Type="http://schemas.openxmlformats.org/officeDocument/2006/relationships/hyperlink" Target="https://github.com/unicorn-campus/hybrid-ai/blob/main/research/rag-trends-2026.md#1-&#54620;&#45576;&#50640;-&#48372;&#44592;" TargetMode="External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2-&#53360;-&#55120;&#47492;-7&#44032;&#51648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3-&#48289;&#53552;-&#44160;&#49353;&#44284;-&#51076;&#48288;&#46377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4-bm25&#50752;-&#55148;&#49548;-&#44160;&#49353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5-&#54616;&#51060;&#48652;&#47532;&#46300;-&#44160;&#49353;&#44284;-&#47532;&#47021;&#53433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6-&#52397;&#53433;-&#51064;&#45937;&#49905;-&#53244;&#47532;-&#48320;&#54872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7-&#44536;&#47000;&#54532;-&#44160;&#49353;-graphrag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8-&#50728;&#53672;&#47196;&#51648;&#50752;-&#51648;&#49885;&#44536;&#47000;&#54532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9-nl2sql&#44284;-&#49884;&#47592;&#54001;-&#47112;&#51060;&#50612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10-&#50640;&#51060;&#51204;&#54001;-rag&#50752;-&#46373;-&#47532;&#49436;&#52824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11-&#52968;&#53581;&#49828;&#53944;-&#50644;&#51648;&#45768;&#50612;&#47553;&#44284;-&#44596;-&#47928;&#47589;-&#45436;&#51137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12-rag-&#54217;&#44032;&#50752;-&#44288;&#52769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13-&#47680;&#54000;-&#49548;&#49828;-&#46972;&#50864;&#54021;-&#50500;&#53412;&#53581;&#52376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research/rag-trends-2026.md#14-&#44368;&#50977;&#54016;-&#51201;&#50857;-&#51228;&#50504;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최신 트렌드 조사: 조사 개요와 목차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정보 검색으로 LLM 답변 품질을 높이는 모든 방법을 "넓은 의미의 RAG"로 보고 11개 분야를 조사함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4206240" cy="4983480"/>
          </a:xfrm>
          <a:prstGeom prst="roundRect">
            <a:avLst>
              <a:gd name="adj" fmla="val 217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 개요</a:t>
            </a:r>
            <a:endParaRPr lang="en-US" sz="2400" dirty="0"/>
          </a:p>
          <a:p>
            <a:pPr algn="l" marL="228600" indent="-228600">
              <a:spcAft>
                <a:spcPts val="28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조사일 2026-10-21, hybrid-ai 교육팀</a:t>
            </a:r>
            <a:endParaRPr lang="en-US" sz="2400" dirty="0"/>
          </a:p>
          <a:p>
            <a:pPr algn="l" marL="228600" indent="-228600">
              <a:spcAft>
                <a:spcPts val="28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갈래 병렬 조사: 텍스트 검색 엔진, 그래프와 온톨로지, NL2SQL과 에이전틱 검색</a:t>
            </a:r>
            <a:endParaRPr lang="en-US" sz="2400" dirty="0"/>
          </a:p>
          <a:p>
            <a:pPr algn="l" marL="228600" indent="-228600">
              <a:spcAft>
                <a:spcPts val="28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WebSearch 68회, 공식 원문 15건 확인, 출처 URL 156개</a:t>
            </a:r>
            <a:endParaRPr lang="en-US" sz="2400" dirty="0"/>
          </a:p>
          <a:p>
            <a:pPr algn="l" marL="228600" indent="-228600">
              <a:spcAft>
                <a:spcPts val="28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 표기: 벤더 발표, 2차 자료, 출처 미확인을 구분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37760" y="17373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4920" y="20802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2080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5614416" y="173736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큰 흐름 7가지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37760" y="301752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33604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3360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>
            <a:hlinkClick r:id="rId2" tooltip=""/>
          </p:cNvPr>
          <p:cNvSpPr txBox="1"/>
          <p:nvPr/>
        </p:nvSpPr>
        <p:spPr>
          <a:xfrm>
            <a:off x="5614416" y="301752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벡터 검색과 임베딩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37760" y="429768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46405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>
            <a:hlinkClick r:id="rId3" tooltip=""/>
          </p:cNvPr>
          <p:cNvSpPr txBox="1"/>
          <p:nvPr/>
        </p:nvSpPr>
        <p:spPr>
          <a:xfrm>
            <a:off x="5614416" y="429768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BM25와 희소 검색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37760" y="557784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59207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59207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>
            <a:hlinkClick r:id="rId4" tooltip=""/>
          </p:cNvPr>
          <p:cNvSpPr txBox="1"/>
          <p:nvPr/>
        </p:nvSpPr>
        <p:spPr>
          <a:xfrm>
            <a:off x="5614416" y="557784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하이브리드와 리랭킹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17373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20802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2080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>
            <a:hlinkClick r:id="rId5" tooltip=""/>
          </p:cNvPr>
          <p:cNvSpPr txBox="1"/>
          <p:nvPr/>
        </p:nvSpPr>
        <p:spPr>
          <a:xfrm>
            <a:off x="8723376" y="173736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청킹, 인덱싱, 쿼리 변환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46720" y="301752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604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27" name="Text 25"/>
          <p:cNvSpPr/>
          <p:nvPr/>
        </p:nvSpPr>
        <p:spPr>
          <a:xfrm>
            <a:off x="8183880" y="3360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>
            <a:hlinkClick r:id="rId6" tooltip=""/>
          </p:cNvPr>
          <p:cNvSpPr txBox="1"/>
          <p:nvPr/>
        </p:nvSpPr>
        <p:spPr>
          <a:xfrm>
            <a:off x="8723376" y="301752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그래프 검색 GraphRAG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046720" y="429768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46405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>
            <a:hlinkClick r:id="rId7" tooltip=""/>
          </p:cNvPr>
          <p:cNvSpPr txBox="1"/>
          <p:nvPr/>
        </p:nvSpPr>
        <p:spPr>
          <a:xfrm>
            <a:off x="8723376" y="429768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온톨로지와 지식그래프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046720" y="557784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59207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35" name="Text 33"/>
          <p:cNvSpPr/>
          <p:nvPr/>
        </p:nvSpPr>
        <p:spPr>
          <a:xfrm>
            <a:off x="8183880" y="59207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>
            <a:hlinkClick r:id="rId8" tooltip=""/>
          </p:cNvPr>
          <p:cNvSpPr txBox="1"/>
          <p:nvPr/>
        </p:nvSpPr>
        <p:spPr>
          <a:xfrm>
            <a:off x="8723376" y="557784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NL2SQL과 시맨틱 레이어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1155680" y="17373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92840" y="20802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39" name="Text 37"/>
          <p:cNvSpPr/>
          <p:nvPr/>
        </p:nvSpPr>
        <p:spPr>
          <a:xfrm>
            <a:off x="11292840" y="2080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800" dirty="0"/>
          </a:p>
        </p:txBody>
      </p:sp>
      <p:sp>
        <p:nvSpPr>
          <p:cNvPr id="40" name="Text 38">
            <a:hlinkClick r:id="rId9" tooltip=""/>
          </p:cNvPr>
          <p:cNvSpPr txBox="1"/>
          <p:nvPr/>
        </p:nvSpPr>
        <p:spPr>
          <a:xfrm>
            <a:off x="11832336" y="173736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에이전틱 RAG와 딥 리서치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1155680" y="301752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92840" y="33604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43" name="Text 41"/>
          <p:cNvSpPr/>
          <p:nvPr/>
        </p:nvSpPr>
        <p:spPr>
          <a:xfrm>
            <a:off x="11292840" y="3360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800" dirty="0"/>
          </a:p>
        </p:txBody>
      </p:sp>
      <p:sp>
        <p:nvSpPr>
          <p:cNvPr id="44" name="Text 42">
            <a:hlinkClick r:id="rId10" tooltip=""/>
          </p:cNvPr>
          <p:cNvSpPr txBox="1"/>
          <p:nvPr/>
        </p:nvSpPr>
        <p:spPr>
          <a:xfrm>
            <a:off x="11832336" y="301752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컨텍스트 엔지니어링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1155680" y="429768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292840" y="46405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47" name="Text 45"/>
          <p:cNvSpPr/>
          <p:nvPr/>
        </p:nvSpPr>
        <p:spPr>
          <a:xfrm>
            <a:off x="1129284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800" dirty="0"/>
          </a:p>
        </p:txBody>
      </p:sp>
      <p:sp>
        <p:nvSpPr>
          <p:cNvPr id="48" name="Text 46">
            <a:hlinkClick r:id="rId11" tooltip=""/>
          </p:cNvPr>
          <p:cNvSpPr txBox="1"/>
          <p:nvPr/>
        </p:nvSpPr>
        <p:spPr>
          <a:xfrm>
            <a:off x="11832336" y="429768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평가와 관측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1155680" y="557784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292840" y="59207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51" name="Text 49"/>
          <p:cNvSpPr/>
          <p:nvPr/>
        </p:nvSpPr>
        <p:spPr>
          <a:xfrm>
            <a:off x="11292840" y="59207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800" dirty="0"/>
          </a:p>
        </p:txBody>
      </p:sp>
      <p:sp>
        <p:nvSpPr>
          <p:cNvPr id="52" name="Text 50">
            <a:hlinkClick r:id="rId12" tooltip=""/>
          </p:cNvPr>
          <p:cNvSpPr txBox="1"/>
          <p:nvPr/>
        </p:nvSpPr>
        <p:spPr>
          <a:xfrm>
            <a:off x="11832336" y="557784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멀티 소스 라우팅과 적용 제안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54" name="Text 52">
            <a:hlinkClick r:id="rId13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research/rag-trends-2026.md 1절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RAG의 큰 흐름 7가지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검색은 "파이프라인 단계"에서 "에이전트가 반복 호출하는 도구"로 바뀌고, 하이브리드와 평가가 기본이 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6675120" cy="1108710"/>
          </a:xfrm>
          <a:prstGeom prst="roundRect">
            <a:avLst>
              <a:gd name="adj" fmla="val 824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2201" y="2017395"/>
            <a:ext cx="548640" cy="548640"/>
          </a:xfrm>
          <a:prstGeom prst="roundRect">
            <a:avLst>
              <a:gd name="adj" fmla="val 8333"/>
            </a:avLst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692201" y="201739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23721" y="1737360"/>
            <a:ext cx="557784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+ 리랭킹이 기본 구성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실험과 주요 벡터DB의 네이티브 지원이 같은 방향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9321" y="3028950"/>
            <a:ext cx="6675120" cy="1108710"/>
          </a:xfrm>
          <a:prstGeom prst="roundRect">
            <a:avLst>
              <a:gd name="adj" fmla="val 824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2201" y="3308985"/>
            <a:ext cx="548640" cy="548640"/>
          </a:xfrm>
          <a:prstGeom prst="roundRect">
            <a:avLst>
              <a:gd name="adj" fmla="val 8333"/>
            </a:avLst>
          </a:prstGeom>
          <a:solidFill>
            <a:srgbClr val="2E74C6"/>
          </a:solidFill>
          <a:ln/>
        </p:spPr>
      </p:sp>
      <p:sp>
        <p:nvSpPr>
          <p:cNvPr id="10" name="Text 8"/>
          <p:cNvSpPr/>
          <p:nvPr/>
        </p:nvSpPr>
        <p:spPr>
          <a:xfrm>
            <a:off x="692201" y="330898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23721" y="3028950"/>
            <a:ext cx="557784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검색이 "단계"에서 "도구"로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NL2SQL 탐색 루프, 에이전틱 RAG, 딥 리서치, 적시 검색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9321" y="4320540"/>
            <a:ext cx="6675120" cy="1108710"/>
          </a:xfrm>
          <a:prstGeom prst="roundRect">
            <a:avLst>
              <a:gd name="adj" fmla="val 824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2201" y="4600575"/>
            <a:ext cx="548640" cy="548640"/>
          </a:xfrm>
          <a:prstGeom prst="roundRect">
            <a:avLst>
              <a:gd name="adj" fmla="val 8333"/>
            </a:avLst>
          </a:prstGeom>
          <a:solidFill>
            <a:srgbClr val="2E74C6"/>
          </a:solidFill>
          <a:ln/>
        </p:spPr>
      </p:sp>
      <p:sp>
        <p:nvSpPr>
          <p:cNvPr id="14" name="Text 12"/>
          <p:cNvSpPr/>
          <p:nvPr/>
        </p:nvSpPr>
        <p:spPr>
          <a:xfrm>
            <a:off x="692201" y="460057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23721" y="4320540"/>
            <a:ext cx="557784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모델보다 "정의된 지식"이 정확도를 올림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시맨틱 레이어, 메트릭 정의, 메타데이터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9321" y="5612130"/>
            <a:ext cx="6675120" cy="1108710"/>
          </a:xfrm>
          <a:prstGeom prst="roundRect">
            <a:avLst>
              <a:gd name="adj" fmla="val 824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2201" y="5892165"/>
            <a:ext cx="548640" cy="548640"/>
          </a:xfrm>
          <a:prstGeom prst="roundRect">
            <a:avLst>
              <a:gd name="adj" fmla="val 8333"/>
            </a:avLst>
          </a:prstGeom>
          <a:solidFill>
            <a:srgbClr val="2E74C6"/>
          </a:solidFill>
          <a:ln/>
        </p:spPr>
      </p:sp>
      <p:sp>
        <p:nvSpPr>
          <p:cNvPr id="18" name="Text 16"/>
          <p:cNvSpPr/>
          <p:nvPr/>
        </p:nvSpPr>
        <p:spPr>
          <a:xfrm>
            <a:off x="692201" y="589216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23721" y="5612130"/>
            <a:ext cx="557784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그래프와 긴 문맥은 대체가 아니라 보완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유형별 라우팅이 권고됨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458761" y="1737360"/>
            <a:ext cx="6675120" cy="1539240"/>
          </a:xfrm>
          <a:prstGeom prst="roundRect">
            <a:avLst>
              <a:gd name="adj" fmla="val 594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41641" y="223266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2E74C6"/>
          </a:solidFill>
          <a:ln/>
        </p:spPr>
      </p:sp>
      <p:sp>
        <p:nvSpPr>
          <p:cNvPr id="22" name="Text 20"/>
          <p:cNvSpPr/>
          <p:nvPr/>
        </p:nvSpPr>
        <p:spPr>
          <a:xfrm>
            <a:off x="7641641" y="2232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73161" y="1737360"/>
            <a:ext cx="557784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비용이 설계 기준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지연 구축, 소형 리랭커 미세조정, 멀티벡터 압축, MCP 점진 공개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458761" y="3459480"/>
            <a:ext cx="6675120" cy="1539240"/>
          </a:xfrm>
          <a:prstGeom prst="roundRect">
            <a:avLst>
              <a:gd name="adj" fmla="val 594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41641" y="395478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2E74C6"/>
          </a:solidFill>
          <a:ln/>
        </p:spPr>
      </p:sp>
      <p:sp>
        <p:nvSpPr>
          <p:cNvPr id="26" name="Text 24"/>
          <p:cNvSpPr/>
          <p:nvPr/>
        </p:nvSpPr>
        <p:spPr>
          <a:xfrm>
            <a:off x="7641641" y="39547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73161" y="3459480"/>
            <a:ext cx="557784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"자르고 나서 문맥을 되살리는" 색인이 표준 옵션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Contextual Retrieval, late chunking, Docling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58761" y="5181600"/>
            <a:ext cx="6675120" cy="1539240"/>
          </a:xfrm>
          <a:prstGeom prst="roundRect">
            <a:avLst>
              <a:gd name="adj" fmla="val 594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41641" y="567690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2E74C6"/>
          </a:solidFill>
          <a:ln/>
        </p:spPr>
      </p:sp>
      <p:sp>
        <p:nvSpPr>
          <p:cNvPr id="30" name="Text 28"/>
          <p:cNvSpPr/>
          <p:nvPr/>
        </p:nvSpPr>
        <p:spPr>
          <a:xfrm>
            <a:off x="7641641" y="56769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373161" y="5181600"/>
            <a:ext cx="557784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벤더 수치는 독립 재현 필요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메모리 독립 평가에서 RAG보다 20%p 이상 낮은 사례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3" name="Text 31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Anthropic Contextual Retrieval, Anthropic 컨텍스트 엔지니어링 가이드, arXiv 2601.07978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검색과 임베딩: LLM 기반 임베딩과 두 갈래 인프라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임베딩은 LLM 기반 대형 모델로 이동하고, 인프라는 PostgreSQL 안과 서버리스 두 갈래로 정리됨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모델과 도구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286000"/>
          <a:ext cx="8412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 또는 도구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주체, 시기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Qwen3-Embedding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Alibaba, 2025-06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기반, MTEB 상위, 리랭커 동시 공개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Gemini Embedding 2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Google, 2026-03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텍스트, 이미지, 영상, PDF 네이티브 멀티모달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KURE-v2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고려대, 2025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한국어 검색 특화, MTEB-ko nDCG@10 0.816(자체 공개)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Matryoshka 임베딩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여러 벤더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벡터 앞부분만 써도 성능 유지, 저장 비용 절감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pgvector 0.8 + pgvectorscale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 ~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스캔, DiskANN 색인, 이진 양자화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LanceDB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LanceDB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오브젝트 스토리지 위 서버리스 벡터 검색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96121" y="1737360"/>
            <a:ext cx="4937760" cy="4983480"/>
          </a:xfrm>
          <a:prstGeom prst="roundRect">
            <a:avLst>
              <a:gd name="adj" fmla="val 1852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팁</a:t>
            </a:r>
            <a:endParaRPr lang="en-US" sz="2400" dirty="0"/>
          </a:p>
          <a:p>
            <a:pPr algn="l" marL="228600" indent="-228600">
              <a:spcAft>
                <a:spcPts val="3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리더보드보다 내 도메인 평가셋이 우선</a:t>
            </a:r>
            <a:endParaRPr lang="en-US" sz="2400" dirty="0"/>
          </a:p>
          <a:p>
            <a:pPr algn="l" marL="228600" indent="-228600">
              <a:spcAft>
                <a:spcPts val="3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핵심이면 KURE, 다국어와 긴 문맥이면 Qwen3, dense와 sparse 동시면 bge-m3</a:t>
            </a:r>
            <a:endParaRPr lang="en-US" sz="2400" dirty="0"/>
          </a:p>
          <a:p>
            <a:pPr algn="l" marL="228600" indent="-228600">
              <a:spcAft>
                <a:spcPts val="3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양자화(int8, binary)는 리랭킹과 함께 둠</a:t>
            </a:r>
            <a:endParaRPr lang="en-US" sz="2400" dirty="0"/>
          </a:p>
          <a:p>
            <a:pPr algn="l" marL="228600" indent="-228600">
              <a:spcAft>
                <a:spcPts val="3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8B급 임베딩은 추론 비용을 먼저 계산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8" name="Text 5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arXiv 2506.05176, Google 블로그(Gemini Embedding 2), github.com/nlpai-lab/KURE, thenile.dev(pgvector 0.8)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BM25와 희소 검색: 2026년에도 BM25가 중요한 이유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정확 일치가 중요한 문서에서 BM25가 임베딩을 앞서고, 한국어는 형태소 분석기가 곧 검색 품질임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여전히 강한가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9321" y="2286000"/>
            <a:ext cx="6583680" cy="4434840"/>
          </a:xfrm>
          <a:prstGeom prst="roundRect">
            <a:avLst>
              <a:gd name="adj" fmla="val 2062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32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문서 벤치마크(2026)에서 BM25가 text-embedding-3-large를 대부분 지표에서 앞섬</a:t>
            </a:r>
            <a:endParaRPr lang="en-US" sz="2000" dirty="0"/>
          </a:p>
          <a:p>
            <a:pPr algn="l" marL="228600" indent="-228600">
              <a:spcAft>
                <a:spcPts val="32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고유명사, 제품번호, 오류 코드 같은 정확 일치 질의에 임베딩이 약함</a:t>
            </a:r>
            <a:endParaRPr lang="en-US" sz="2000" dirty="0"/>
          </a:p>
          <a:p>
            <a:pPr algn="l" marL="228600" indent="-228600">
              <a:spcAft>
                <a:spcPts val="32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실험: "임베딩 + BM25"가 임베딩 단독보다 나음</a:t>
            </a:r>
            <a:endParaRPr lang="en-US" sz="2000" dirty="0"/>
          </a:p>
          <a:p>
            <a:pPr algn="l" marL="228600" indent="-228600">
              <a:spcAft>
                <a:spcPts val="32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BM25S(2024): 색인 시점 점수 계산으로 파이썬 BM25 대비 최대 500배 빠름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50201" y="173736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8" name="Text 6"/>
          <p:cNvSpPr/>
          <p:nvPr/>
        </p:nvSpPr>
        <p:spPr>
          <a:xfrm>
            <a:off x="7550201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한국어와 학습형 희소 검색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550201" y="2286000"/>
            <a:ext cx="658368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7361" y="24917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7687361" y="24917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190281" y="2286000"/>
            <a:ext cx="5806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한국어는 조사와 어미 때문에 공백 분리가 실패. Kiwi 형태소 분석기로 어간 추출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550201" y="3191256"/>
            <a:ext cx="658368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7361" y="339699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7687361" y="33969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90281" y="3191256"/>
            <a:ext cx="5806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소규모 실측: 공백 BM25 Top3 정답 11/15, Kiwi BM25 15/15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550201" y="4096512"/>
            <a:ext cx="658368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7361" y="43022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7687361" y="43022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190281" y="4096512"/>
            <a:ext cx="5806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형태소 분석기 버전 고정, 교체 시 재색인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550201" y="5001768"/>
            <a:ext cx="658368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7361" y="5207508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7687361" y="52075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190281" y="5001768"/>
            <a:ext cx="5806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SPLADE 계열은 BEIR에서 BM25를 앞서지만 GPU 추론 필요, 사전 밖 토큰에 약함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50201" y="5907024"/>
            <a:ext cx="658368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7361" y="611276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7" name="Text 25"/>
          <p:cNvSpPr/>
          <p:nvPr/>
        </p:nvSpPr>
        <p:spPr>
          <a:xfrm>
            <a:off x="7687361" y="6112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190281" y="5907024"/>
            <a:ext cx="5806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OpenSearch는 BM25, Nori, kNN, RRF를 엔진 기능으로 제공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0" name="Text 28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arXiv 2604.01733, arXiv 2407.03618(BM25S), Anthropic Contextual Retrieval, wikidocs.net/251980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검색과 리랭킹: 사실상의 기본 구성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"BM25 + 벡터 → RRF 융합 → 리랭커"가 기본값이 되었고, 융합 방식보다 리랭커 유무가 결과를 더 좌우함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1371600" cy="1051560"/>
          </a:xfrm>
          <a:prstGeom prst="roundRect">
            <a:avLst>
              <a:gd name="adj" fmla="val 10435"/>
            </a:avLst>
          </a:prstGeom>
          <a:solidFill>
            <a:srgbClr val="404155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40941" y="209854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2521001" y="173736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EEF3FA"/>
          </a:solidFill>
          <a:ln w="12700">
            <a:solidFill>
              <a:srgbClr val="C3CEE0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검색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21001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21001" y="237744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EEF3FA"/>
          </a:solidFill>
          <a:ln w="12700">
            <a:solidFill>
              <a:srgbClr val="C3CEE0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검색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67021" y="209854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0" name="Text 8"/>
          <p:cNvSpPr/>
          <p:nvPr/>
        </p:nvSpPr>
        <p:spPr>
          <a:xfrm>
            <a:off x="5447081" y="173736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RRF 융합 (k=60)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75981" y="209854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2" name="Text 10"/>
          <p:cNvSpPr/>
          <p:nvPr/>
        </p:nvSpPr>
        <p:spPr>
          <a:xfrm>
            <a:off x="8556041" y="173736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2E74C6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리랭커 (크로스 인코더 또는 LLM)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25021" y="209854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4" name="Text 12"/>
          <p:cNvSpPr/>
          <p:nvPr/>
        </p:nvSpPr>
        <p:spPr>
          <a:xfrm>
            <a:off x="12305081" y="173736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EEF3FA"/>
          </a:solidFill>
          <a:ln w="12700">
            <a:solidFill>
              <a:srgbClr val="C3CEE0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N 전달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9321" y="2926080"/>
            <a:ext cx="64008" cy="45720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2201" y="2926080"/>
            <a:ext cx="1344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실험에서 리랭킹까지 더하면 상위 20개 검색 실패율 5.7% → 1.9% (67% 감소)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9321" y="352044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융합 전략 비교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402336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전략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RRF (k=60)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없이 동작, 정규화 불필요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점수 크기 차이를 구분 못 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 합성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레이블 질의가 있으면 더 나을 수 있음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min-max 정규화가 짧은 목록에 불안정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학습형 융합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대규모에서 개선 주장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학습 데이터 필요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550201" y="352044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리랭커 선택 기준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550201" y="4023360"/>
            <a:ext cx="6583680" cy="2697480"/>
          </a:xfrm>
          <a:prstGeom prst="roundRect">
            <a:avLst>
              <a:gd name="adj" fmla="val 339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호스팅 기본: bge-reranker-v2-m3. 오픈 최고 성능 후보: Qwen3-Reranker. 관리형: Cohere, Voyage</a:t>
            </a:r>
            <a:endParaRPr lang="en-US" sz="160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크로스 인코더 상위 100개 p50 약 140ms, LLM 리랭커 상위 50개 약 700ms, 품질 차이는 작음(2차 자료)</a:t>
            </a:r>
            <a:endParaRPr lang="en-US" sz="160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데이터가 있으면 109M 크로스 인코더 미세조정이 4B LLM 리랭커를 이김(2026 연구)</a:t>
            </a:r>
            <a:endParaRPr lang="en-US" sz="160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listwise LLM 리랭커는 어려운 질의에만 3단계로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22" name="Text 1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Anthropic Contextual Retrieval, redis.io(RRF), bigdataboutique.com(융합 비교), arXiv 2608.09650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청킹, 인덱싱, 쿼리 변환: 자르고 나서 문맥을 되살림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Contextual Retrieval과 late chunking이 표준 옵션이 되고, 문서 이미지 검색(ColPali)이 실전에 들어옴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청킹과 인덱싱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240280"/>
          <a:ext cx="65836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8745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Contextual Retrieval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Anthropic, 2024-09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 앞에 LLM 문맥 문장. 실패율 35% → 49% → 67% 감소(누적)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Late chunking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Jina AI, 2024-09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 전체를 먼저 임베딩한 뒤 청크로 풀링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Docling HybridChunker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IBM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제목, 표, 절 구조 보존. 인용에 유리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ColPali, ColQwen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ICLR 2025 ~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PDF 페이지 이미지째 멀티벡터 검색. 표와 스캔 문서에 유효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RAPTOR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재귀 요약 트리로 긴 문서 추론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550201" y="173736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쿼리 변환</a:t>
            </a:r>
            <a:endParaRPr lang="en-US" sz="18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50201" y="2240280"/>
          <a:ext cx="65836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743200"/>
                <a:gridCol w="2057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적합한 질문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HyDE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가상의 답을 만들어 그 답으로 검색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용어 격차가 큰 문서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Multi-query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여러 표현으로 검색 후 RRF 융합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표현이 다양한 질문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Step-back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더 추상적인 질문을 함께 검색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다단계 추론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Decomposition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하위 질문으로 나눠 검색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다중 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9321" y="6217920"/>
            <a:ext cx="64008" cy="45720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92201" y="6217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쿼리 변환은 LLM 호출을 더하므로, 겹치기 전에 각각의 비용과 이득을 먼저 잼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1" name="Text 7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Anthropic Contextual Retrieval, jina.ai(late chunking), ICLR 2025(ColPali), arXiv 2609.06065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검색 GraphRAG: 전부 대신 보완, 비용이 설계 기준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조망과 다중 홉에는 유리하지만 단순 사실형에는 불리하며, 저비용 변형(LazyGraphRAG, HippoRAG 2, EffiRAG)으로 이동함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유리한 경우와 대표 기법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9321" y="2286000"/>
            <a:ext cx="658368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6481" y="24917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8" name="Text 6"/>
          <p:cNvSpPr/>
          <p:nvPr/>
        </p:nvSpPr>
        <p:spPr>
          <a:xfrm>
            <a:off x="646481" y="24917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49401" y="2286000"/>
            <a:ext cx="5806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문서를 엮는 복합 추론, 전체 조망 요약, 관계 탐색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9321" y="3191256"/>
            <a:ext cx="658368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1" y="339699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1" y="33969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9401" y="3191256"/>
            <a:ext cx="5806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LazyGraphRAG(MS, 2024-11): 질의 때 요약. 인덱싱 비용 전체 GraphRAG의 0.1%(벤더 발표)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9321" y="4096512"/>
            <a:ext cx="658368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1" y="43022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81" y="43022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49401" y="4096512"/>
            <a:ext cx="5806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HippoRAG 2(ICML 2025): PageRank로 그래프를 타되 원문 구절 결합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9321" y="5001768"/>
            <a:ext cx="658368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1" y="5207508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0" name="Text 18"/>
          <p:cNvSpPr/>
          <p:nvPr/>
        </p:nvSpPr>
        <p:spPr>
          <a:xfrm>
            <a:off x="646481" y="52075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49401" y="5001768"/>
            <a:ext cx="5806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EffiRAG(2026-09): 그래프로 위치만 찾고 답은 원문에서. LightRAG 대비 비용 57% 절감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09321" y="5907024"/>
            <a:ext cx="658368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481" y="611276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1" y="6112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149401" y="5907024"/>
            <a:ext cx="5806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Text-to-Cypher는 Text-to-SQL보다 어림. CypherBench GPT-4o 60.18%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550201" y="173736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27" name="Text 25"/>
          <p:cNvSpPr/>
          <p:nvPr/>
        </p:nvSpPr>
        <p:spPr>
          <a:xfrm>
            <a:off x="7550201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쓰지 말아야 할 경우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550201" y="2286000"/>
            <a:ext cx="6583680" cy="4434840"/>
          </a:xfrm>
          <a:prstGeom prst="roundRect">
            <a:avLst>
              <a:gd name="adj" fmla="val 2062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대부분이 한 문단 안에 답이 있는 단일 홉 사실형일 때 (NQ에서 GraphRAG가 바닐라 RAG보다 13.4% 낮음)</a:t>
            </a:r>
            <a:endParaRPr lang="en-US" sz="19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민감 질문이 많을 때 (그래프가 "언제"를 잘 담지 못함)</a:t>
            </a:r>
            <a:endParaRPr lang="en-US" sz="19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 품질을 검증할 평가셋이 없을 때 (추출 오류가 답에 전파)</a:t>
            </a:r>
            <a:endParaRPr lang="en-US" sz="19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 예산이 벡터 RAG의 수십 배를 감당하지 못할 때 (LightRAG 8,680만 토큰 사례)</a:t>
            </a:r>
            <a:endParaRPr lang="en-US" sz="19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RAG에 리랭킹만 붙여도 목표 품질에 닿을 때</a:t>
            </a:r>
            <a:endParaRPr lang="en-US" sz="1900" dirty="0"/>
          </a:p>
          <a:p>
            <a:pPr algn="l" marL="228600" indent="-228600">
              <a:spcAft>
                <a:spcPts val="1500"/>
              </a:spcAft>
              <a:buSzPct val="100000"/>
              <a:buChar char="•"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메모리(Graphiti, cognee) 독립 평가: RAG보다 20%p 이상 낮음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0" name="Text 28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Microsoft Research(LazyGraphRAG), arXiv 2506.05690(GraphRAG-Bench), arXiv 2609.18099(EffiRAG), arXiv 2601.07978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온톨로지와 지식그래프: 가벼운 스키마와 시맨틱 레이어로 돌아옴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무거운 OWL 대신 "최소 스키마 + 시맨틱 레이어 + Competency Question"으로 에이전트의 거버넌스 층 역할을 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2194560" cy="1508760"/>
          </a:xfrm>
          <a:prstGeom prst="roundRect">
            <a:avLst>
              <a:gd name="adj" fmla="val 4848"/>
            </a:avLst>
          </a:prstGeom>
          <a:solidFill>
            <a:srgbClr val="1E2A5C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3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다시 주목받나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95321" y="17373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77800" tIns="76200" rIns="177800" bIns="762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잘 모르는 도메인일수록 온톨로지 효과가 큼. Snowflake, Fabric, Palantir가 거버넌스된 시맨틱 레이어로 수렴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9321" y="3474720"/>
            <a:ext cx="2194560" cy="1508760"/>
          </a:xfrm>
          <a:prstGeom prst="roundRect">
            <a:avLst>
              <a:gd name="adj" fmla="val 4848"/>
            </a:avLst>
          </a:prstGeom>
          <a:solidFill>
            <a:srgbClr val="2E74C6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3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만드나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95321" y="34747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77800" tIns="76200" rIns="177800" bIns="762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CQ 작성 → 최소 스키마 → 자유 추출로 보강 → CQ로 회귀 검증. LLM은 자동 생성기가 아니라 코파일럿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9321" y="5212080"/>
            <a:ext cx="2194560" cy="1508760"/>
          </a:xfrm>
          <a:prstGeom prst="roundRect">
            <a:avLst>
              <a:gd name="adj" fmla="val 4848"/>
            </a:avLst>
          </a:prstGeom>
          <a:solidFill>
            <a:srgbClr val="404155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</a:t>
            </a:r>
            <a:endParaRPr lang="en-US" sz="3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나오나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95321" y="521208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77800" tIns="76200" rIns="177800" bIns="762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OG-RAG(EMNLP 2025), Snowflake Semantic View Autopilot(2026-02 GA), Bench4KE CQ 벤치마크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47481" y="173736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8647481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원칙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47481" y="228600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32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에이전트는 원시 스키마 대신 인증된 시맨틱 뷰만 보게 강제</a:t>
            </a:r>
            <a:endParaRPr lang="en-US" sz="2000" dirty="0"/>
          </a:p>
          <a:p>
            <a:pPr algn="l" marL="228600" indent="-228600">
              <a:spcAft>
                <a:spcPts val="32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유도와 자유 추출은 보완 관계. 사람 검토 필수</a:t>
            </a:r>
            <a:endParaRPr lang="en-US" sz="2000" dirty="0"/>
          </a:p>
          <a:p>
            <a:pPr algn="l" marL="228600" indent="-228600">
              <a:spcAft>
                <a:spcPts val="32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웨어하우스 내장 레이어는 벤더 잠금. 혼합 환경은 dbt, Cube, AtScale 검토</a:t>
            </a:r>
            <a:endParaRPr lang="en-US" sz="2000" dirty="0"/>
          </a:p>
          <a:p>
            <a:pPr algn="l" marL="228600" indent="-228600">
              <a:spcAft>
                <a:spcPts val="32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국내: 삼성SDS 브리티웍스 온톨로지 적용(2025-11). 공공 공개 사례는 미확인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ACL Anthology(OG-RAG), atlan.com(시맨틱 레이어), arXiv 2510.20345, thelec.kr(삼성SDS)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NL2SQL과 시맨틱 레이어: 모델보다 메트릭 정의가 정확도를 올림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벤치마크는 사람 대비 약 10점 차까지 좁혀졌지만, 실무 정확도는 시맨틱 레이어와 탐색 루프가 좌우함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벤치마크 현황 (2026-10-21 열람)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286000"/>
          <a:ext cx="7315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벤치마크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구성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1위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Spider 2.0-Snow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547문제, Snowflake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Genloop Sentinel Agent v2 Pro 96.70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Spider 2.0-Lite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547문제, 3개 방언 혼합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Tianqiong Data Agent(Tencent) 76.23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Spider 2.0-DBT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68문제, dbt 프로젝트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SignalPilot Agent 65.6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BIRD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대규모 DB + 힌트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GrainSQL(Purdue) 82.95 (사람 92.96)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9321" y="5852160"/>
            <a:ext cx="64008" cy="86868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2201" y="585216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당시(2024-11) Spider 2.0에서 GPT-4o는 10.1%였음. 상위권은 기업 제출 에이전트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81721" y="173736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9" name="Text 6"/>
          <p:cNvSpPr/>
          <p:nvPr/>
        </p:nvSpPr>
        <p:spPr>
          <a:xfrm>
            <a:off x="8281721" y="17373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정확도를 올리는 것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281721" y="2286000"/>
            <a:ext cx="585216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8881" y="249174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2" name="Text 9"/>
          <p:cNvSpPr/>
          <p:nvPr/>
        </p:nvSpPr>
        <p:spPr>
          <a:xfrm>
            <a:off x="8418881" y="24917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921801" y="2286000"/>
            <a:ext cx="5074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시맨틱 레이어: dbt 벤치마크에서 90.0% → 98.2%, 84.1% → 100% (2026-04)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81721" y="3191256"/>
            <a:ext cx="585216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8881" y="339699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6" name="Text 13"/>
          <p:cNvSpPr/>
          <p:nvPr/>
        </p:nvSpPr>
        <p:spPr>
          <a:xfrm>
            <a:off x="8418881" y="33969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921801" y="3191256"/>
            <a:ext cx="5074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탐색-실행-수정 루프: APEX-SQL, FlexSQL, AutoLink가 데이터를 직접 보며 SQL 수정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281721" y="4096512"/>
            <a:ext cx="585216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18881" y="43022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0" name="Text 17"/>
          <p:cNvSpPr/>
          <p:nvPr/>
        </p:nvSpPr>
        <p:spPr>
          <a:xfrm>
            <a:off x="8418881" y="43022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921801" y="4096512"/>
            <a:ext cx="5074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생성과 선택: CHASE-SQL, RSL-SQL의 양방향 스키마 링킹과 투표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281721" y="5001768"/>
            <a:ext cx="585216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18881" y="5207508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4" name="Text 21"/>
          <p:cNvSpPr/>
          <p:nvPr/>
        </p:nvSpPr>
        <p:spPr>
          <a:xfrm>
            <a:off x="8418881" y="52075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921801" y="5001768"/>
            <a:ext cx="5074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지식그래프 + SQL: AT&amp;T와 RelationalAI가 Spider 2.0-Snow 86.28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8281721" y="5907024"/>
            <a:ext cx="5852160" cy="813816"/>
          </a:xfrm>
          <a:prstGeom prst="roundRect">
            <a:avLst>
              <a:gd name="adj" fmla="val 89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18881" y="611276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8" name="Text 25"/>
          <p:cNvSpPr/>
          <p:nvPr/>
        </p:nvSpPr>
        <p:spPr>
          <a:xfrm>
            <a:off x="8418881" y="6112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8921801" y="5907024"/>
            <a:ext cx="5074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안전장치: 루프 상한, 읽기 전용 계정, 실행 시간 제한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1" name="Text 28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spider2-sql.github.io, bird-bench.github.io, docs.getdbt.com(시맨틱 레이어 벤치마크), arXiv 2602.16720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에이전틱 RAG와 딥 리서치: 검색이 루프 안의 도구가 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LLM이 "검색할지, 무엇을, 다시 할지"를 판단하고, 딥 리서치는 계획, 병렬 검색, 종합, 인용의 다단계로 보고서를 만듦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분석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92401" y="202996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2658161" y="173736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도구 호출 (벡터, 키워드, SQL, 웹)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29961" y="202996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8" name="Text 6"/>
          <p:cNvSpPr/>
          <p:nvPr/>
        </p:nvSpPr>
        <p:spPr>
          <a:xfrm>
            <a:off x="5995721" y="173736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등급 판정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53121" y="202996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0" name="Text 8"/>
          <p:cNvSpPr/>
          <p:nvPr/>
        </p:nvSpPr>
        <p:spPr>
          <a:xfrm>
            <a:off x="8418881" y="17373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부족하면 질의 재작성 후 재검색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299241" y="202996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2" name="Text 10"/>
          <p:cNvSpPr/>
          <p:nvPr/>
        </p:nvSpPr>
        <p:spPr>
          <a:xfrm>
            <a:off x="11665001" y="173736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기반 생성 + 환각 검사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836201" y="2651760"/>
            <a:ext cx="0" cy="274320"/>
          </a:xfrm>
          <a:prstGeom prst="line">
            <a:avLst/>
          </a:prstGeom>
          <a:noFill/>
          <a:ln w="28575">
            <a:solidFill>
              <a:srgbClr val="2E74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21201" y="2926080"/>
            <a:ext cx="5715000" cy="0"/>
          </a:xfrm>
          <a:prstGeom prst="line">
            <a:avLst/>
          </a:prstGeom>
          <a:noFill/>
          <a:ln w="28575">
            <a:solidFill>
              <a:srgbClr val="2E74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121201" y="2651760"/>
            <a:ext cx="0" cy="274320"/>
          </a:xfrm>
          <a:prstGeom prst="line">
            <a:avLst/>
          </a:prstGeom>
          <a:noFill/>
          <a:ln w="28575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09321" y="320040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기법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370332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Self-RAG, CRAG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반성 토큰, 문서 등급으로 재검색 판단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LangGraph Adaptive RAG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라우터 + 등급 + 재작성 + 환각 검사 루프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Azure agentic retrieval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하위 질의 분해 후 병렬 검색, 시맨틱 리랭킹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Search-R1 (COLM 2025)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강화학습으로 검색 시점과 질의를 학습. RAG 대비 +24%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550201" y="3200400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딥 리서치 구조와 비용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550201" y="370332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Research: 오케스트레이터-워커 구조, 단일 모델 대비 90.2% 향상</a:t>
            </a:r>
            <a:endParaRPr lang="en-US" sz="160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사용량이 성능 분산의 80%를 설명, 일반 채팅 대비 약 15배 토큰</a:t>
            </a:r>
            <a:endParaRPr lang="en-US" sz="160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서브에이전트에 목표, 출력 형식, 도구, 범위를 명확히 주지 않으면 중복 작업</a:t>
            </a:r>
            <a:endParaRPr lang="en-US" sz="160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오픈소스: LangChain Open Deep Research(범위 → 조사 → 쓰기), GPT Researcher</a:t>
            </a:r>
            <a:endParaRPr lang="en-US" sz="160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질문당 예산 상한과 검색 횟수 상한을 둠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21" name="Text 18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Anthropic 멀티 에이전트 리서치 글, arXiv 2503.09516(Search-R1), learn.microsoft.com(agentic retrieval), arXiv 2501.09136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엔지니어링: 긴 문맥은 RAG의 대체가 아니라 라우팅 대상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문맥은 유한 자원(주의 예산)이며, 단순 조회는 RAG로, 문서 간 종합은 긴 문맥으로 보내는 설계가 권고됨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문맥 vs RAG (LaRA, ICML 2025)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28600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과제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유리한 쪽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위치 사실 조회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약한 모델일수록 RAG 이득이 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환각 탐지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근거가 좁을수록 검증이 쉬움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추론과 비교 과제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긴 문맥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 간 관계를 한 번에 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사용 문서 묶음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긴 문맥 + 캐싱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캐시 적중 $0.10/MTok (Sonnet 5.5, 2026-10 열람)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자주 바뀌는 문서, 사용자별 문서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캐시 적중률이 떨어짐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915961" y="1737360"/>
            <a:ext cx="62179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7" name="Text 4"/>
          <p:cNvSpPr/>
          <p:nvPr/>
        </p:nvSpPr>
        <p:spPr>
          <a:xfrm>
            <a:off x="7915961" y="1737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가이드 (2025-09)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915961" y="2286000"/>
            <a:ext cx="6217920" cy="4434840"/>
          </a:xfrm>
          <a:prstGeom prst="roundRect">
            <a:avLst>
              <a:gd name="adj" fmla="val 2062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3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예산: 토큰이 늘수록 집중력이 분산됨(context rot)</a:t>
            </a:r>
            <a:endParaRPr lang="en-US" sz="2000" dirty="0"/>
          </a:p>
          <a:p>
            <a:pPr algn="l" marL="228600" indent="-228600">
              <a:spcAft>
                <a:spcPts val="3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적시 검색: 파일 경로, 저장된 질의, 링크만 두고 필요할 때 도구로 불러옴</a:t>
            </a:r>
            <a:endParaRPr lang="en-US" sz="2000" dirty="0"/>
          </a:p>
          <a:p>
            <a:pPr algn="l" marL="228600" indent="-228600">
              <a:spcAft>
                <a:spcPts val="3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작업: 압축, 구조화된 메모, 서브에이전트 분리</a:t>
            </a:r>
            <a:endParaRPr lang="en-US" sz="2000" dirty="0"/>
          </a:p>
          <a:p>
            <a:pPr algn="l" marL="228600" indent="-228600">
              <a:spcAft>
                <a:spcPts val="3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도구 정의는 점진 공개. 코드 실행 방식으로 150,000 → 2,000 토큰(98.7% 절감)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0" name="Text 7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Anthropic 컨텍스트 엔지니어링 가이드, ICML 2025(LaRA), Anthropic Code execution with MCP, docs.claude.com(프롬프트 캐싱)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평가와 관측: 자사 평가셋과 실행 추적이 설계의 일부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검색과 생성을 나눠 재고, LLM 심사자는 고정과 보정으로 쓰며, 에이전트형 검색은 추적 없이는 원인을 못 찾음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지표와 평가셋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9321" y="2286000"/>
            <a:ext cx="6583680" cy="678180"/>
          </a:xfrm>
          <a:prstGeom prst="roundRect">
            <a:avLst>
              <a:gd name="adj" fmla="val 1078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6481" y="242392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8" name="Text 6"/>
          <p:cNvSpPr/>
          <p:nvPr/>
        </p:nvSpPr>
        <p:spPr>
          <a:xfrm>
            <a:off x="646481" y="24239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49401" y="2286000"/>
            <a:ext cx="5806440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faithfulness: 답이 검색 문맥에 근거하는가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9321" y="3037332"/>
            <a:ext cx="6583680" cy="678180"/>
          </a:xfrm>
          <a:prstGeom prst="roundRect">
            <a:avLst>
              <a:gd name="adj" fmla="val 1078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1" y="317525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1" y="31752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9401" y="3037332"/>
            <a:ext cx="5806440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 relevancy: 답이 질문에 맞는가 (정답 여부는 아님)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9321" y="3788664"/>
            <a:ext cx="6583680" cy="678180"/>
          </a:xfrm>
          <a:prstGeom prst="roundRect">
            <a:avLst>
              <a:gd name="adj" fmla="val 1078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1" y="392658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81" y="392658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49401" y="3788664"/>
            <a:ext cx="5806440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precision과 recall: 가져온 청크의 관련 비율과 누락 여부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9321" y="4539996"/>
            <a:ext cx="6583680" cy="678180"/>
          </a:xfrm>
          <a:prstGeom prst="roundRect">
            <a:avLst>
              <a:gd name="adj" fmla="val 1078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1" y="4677918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0" name="Text 18"/>
          <p:cNvSpPr/>
          <p:nvPr/>
        </p:nvSpPr>
        <p:spPr>
          <a:xfrm>
            <a:off x="646481" y="467791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49401" y="4539996"/>
            <a:ext cx="5806440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RAGAS 테스트셋 생성: 문서로 지식 그래프를 만들어 단일 홉과 다중 홉 질문 생성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9321" y="5291328"/>
            <a:ext cx="6583680" cy="678180"/>
          </a:xfrm>
          <a:prstGeom prst="roundRect">
            <a:avLst>
              <a:gd name="adj" fmla="val 1078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481" y="542925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1" y="54292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149401" y="5291328"/>
            <a:ext cx="5806440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→ 테스트 변환: 운영 로그의 실패 질문을 평가셋에 추가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9321" y="6042660"/>
            <a:ext cx="6583680" cy="678180"/>
          </a:xfrm>
          <a:prstGeom prst="roundRect">
            <a:avLst>
              <a:gd name="adj" fmla="val 1078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81" y="618058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8" name="Text 26"/>
          <p:cNvSpPr/>
          <p:nvPr/>
        </p:nvSpPr>
        <p:spPr>
          <a:xfrm>
            <a:off x="646481" y="61805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149401" y="6042660"/>
            <a:ext cx="5806440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NL2SQL은 질문, 정답 SQL, 실행 결과 3종으로 채점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50201" y="173736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31" name="Text 29"/>
          <p:cNvSpPr/>
          <p:nvPr/>
        </p:nvSpPr>
        <p:spPr>
          <a:xfrm>
            <a:off x="7550201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심사자와 관측 도구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550201" y="2286000"/>
            <a:ext cx="6583680" cy="4434840"/>
          </a:xfrm>
          <a:prstGeom prst="roundRect">
            <a:avLst>
              <a:gd name="adj" fmla="val 2062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2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모델 고정, 사람 라벨 소규모 집합으로 보정, 절대값 대신 추세 추적</a:t>
            </a:r>
            <a:endParaRPr lang="en-US" sz="2000" dirty="0"/>
          </a:p>
          <a:p>
            <a:pPr algn="l" marL="228600" indent="-228600">
              <a:spcAft>
                <a:spcPts val="2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 점수는 개별 실패를 가림. 실패 사례를 직접 열람</a:t>
            </a:r>
            <a:endParaRPr lang="en-US" sz="2000" dirty="0"/>
          </a:p>
          <a:p>
            <a:pPr algn="l" marL="228600" indent="-228600">
              <a:spcAft>
                <a:spcPts val="2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LangSmith(LangChain 스택), Langfuse(프레임워크 독립, MIT), Arize Phoenix(OpenTelemetry)</a:t>
            </a:r>
            <a:endParaRPr lang="en-US" sz="2000" dirty="0"/>
          </a:p>
          <a:p>
            <a:pPr algn="l" marL="228600" indent="-228600">
              <a:spcAft>
                <a:spcPts val="2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OpenTelemetry로 계측하면 백엔드를 나중에 바꿀 수 있음</a:t>
            </a:r>
            <a:endParaRPr lang="en-US" sz="2000" dirty="0"/>
          </a:p>
          <a:p>
            <a:pPr algn="l" marL="228600" indent="-228600">
              <a:spcAft>
                <a:spcPts val="2600"/>
              </a:spcAft>
              <a:buSzPct val="100000"/>
              <a:buChar char="•"/>
            </a:pPr>
            <a:r>
              <a:rPr lang="en-US" sz="20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RAGAS 0.4.x 기준. 옛 클래스명은 1.0에서 제거 예정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4" name="Text 32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docs.ragas.io, letsdatascience.com(LLM-as-judge), signoz.io(관측 도구 비교), Anthropic 멀티 에이전트 리서치 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 소스 라우팅: 질문 유형에 맞는 지식 경로를 고름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벡터, 키워드, SQL, 그래프, 긴 문맥 중 어디로 보낼지 정하는 라우터가 하이브리드 AI 아키텍처의 앞단이 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1097280" cy="868680"/>
          </a:xfrm>
          <a:prstGeom prst="roundRect">
            <a:avLst>
              <a:gd name="adj" fmla="val 12632"/>
            </a:avLst>
          </a:prstGeom>
          <a:solidFill>
            <a:srgbClr val="404155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52321" y="200710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2018081" y="173736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라우터 (의도 분류기 또는 LLM)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41241" y="200710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8" name="Shape 6"/>
          <p:cNvSpPr/>
          <p:nvPr/>
        </p:nvSpPr>
        <p:spPr>
          <a:xfrm>
            <a:off x="4807001" y="1737360"/>
            <a:ext cx="5760720" cy="868680"/>
          </a:xfrm>
          <a:prstGeom prst="roundRect">
            <a:avLst>
              <a:gd name="adj" fmla="val 12632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8441" y="1874520"/>
            <a:ext cx="1057046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28639" y="1874520"/>
            <a:ext cx="1057046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58838" y="1874520"/>
            <a:ext cx="1057046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NL2SQL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89036" y="1874520"/>
            <a:ext cx="1057046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9234" y="1874520"/>
            <a:ext cx="1057046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문맥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13441" y="200710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9201" y="17373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2E74C6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RRF + 리랭커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853721" y="2007108"/>
            <a:ext cx="320040" cy="329184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7" name="Text 15"/>
          <p:cNvSpPr/>
          <p:nvPr/>
        </p:nvSpPr>
        <p:spPr>
          <a:xfrm>
            <a:off x="13219481" y="1737360"/>
            <a:ext cx="914400" cy="868680"/>
          </a:xfrm>
          <a:prstGeom prst="roundRect">
            <a:avLst>
              <a:gd name="adj" fmla="val 12632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9321" y="2788920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유형별 권장 경로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3291840"/>
          <a:ext cx="136245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6126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 유형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경로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정확 식별자 조회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 코드 E-4021 원인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BM25 우선 + 벡터 보조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 유사 조회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분실 시 어떻게 하나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벡터 + BM25 하이브리드 + 리랭커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집계와 수치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지난달 지점별 매출 상위 5개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NL2SQL + 시맨틱 레이어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관계와 다중 홉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임원이 관여한 계열사의 소송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검색 또는 Text-to-Cypher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조망 요약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 문서 묶음의 주요 쟁점은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GraphRAG 글로벌 또는 긴 문맥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변화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지난달에 뭐라고 했지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인지 메모리 + 벡터 병행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21" name="Text 18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LangGraph Adaptive RAG, learn.microsoft.com(agentic retrieval), delos.so(GraphRAG vs 벡터), 본 보고서 13절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hybrid-ai 교육팀 적용 제안: 실습 과정에 반영할 6단계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기본 구성을 먼저 익히고, 색인 품질, 구조화 질의, 그래프, 라우팅, 평가 순으로 넓혀 감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737360"/>
          <a:ext cx="13036601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0"/>
                <a:gridCol w="3709721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관련 실습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기본기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BM25(Kiwi) + 벡터 + RRF + 리랭커를 기본 구성으로 가르침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hands-on/solutions/rag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색인 품질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Contextual Retrieval과 Docling 구조 보존 파싱을 선택 과제로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청킹 비교 실습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구조화 질의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시맨틱 레이어(메트릭 정의, 용어집, few-shot)를 NL2SQL 앞에 두는 설계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hands-on/solutions/sql-retriever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"쓰지 말아야 할 경우" 체크리스트부터. LazyGraphRAG 계열 저비용 설계 소개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스키마 도출 장표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라우팅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 유형 6종을 분류하는 라우터를 LangGraph로 구현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하이브리드 지식 경로 설계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RAGAS 테스트셋 생성 + 실패 사례 수집 루프 + Langfuse 추적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RAGAS 평가 실습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5041" y="2350008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6" name="Text 3"/>
          <p:cNvSpPr/>
          <p:nvPr/>
        </p:nvSpPr>
        <p:spPr>
          <a:xfrm>
            <a:off x="555041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55041" y="2971800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8" name="Text 5"/>
          <p:cNvSpPr/>
          <p:nvPr/>
        </p:nvSpPr>
        <p:spPr>
          <a:xfrm>
            <a:off x="555041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55041" y="359359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0" name="Text 7"/>
          <p:cNvSpPr/>
          <p:nvPr/>
        </p:nvSpPr>
        <p:spPr>
          <a:xfrm>
            <a:off x="555041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55041" y="4215384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2" name="Text 9"/>
          <p:cNvSpPr/>
          <p:nvPr/>
        </p:nvSpPr>
        <p:spPr>
          <a:xfrm>
            <a:off x="555041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55041" y="483717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4" name="Text 11"/>
          <p:cNvSpPr/>
          <p:nvPr/>
        </p:nvSpPr>
        <p:spPr>
          <a:xfrm>
            <a:off x="555041" y="4837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55041" y="5458968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6" name="Text 13"/>
          <p:cNvSpPr/>
          <p:nvPr/>
        </p:nvSpPr>
        <p:spPr>
          <a:xfrm>
            <a:off x="555041" y="5458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09321" y="6080760"/>
            <a:ext cx="64008" cy="64008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92201" y="6080760"/>
            <a:ext cx="1344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자료에서는 해외 벤치마크로 기법을 설명하고 국내 사례는 동향 수준으로 인용함. 수치에는 "벤더 발표", "2차 자료" 표기를 유지함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20" name="Text 17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research/rag-trends-2026.md 14절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2026-10-20T19:40:59Z</dcterms:created>
  <dcterms:modified xsi:type="dcterms:W3CDTF">2026-10-20T19:40:59Z</dcterms:modified>
</cp:coreProperties>
</file>