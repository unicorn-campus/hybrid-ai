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 GraphRAG 검색 실습: 무엇을 만들고 어떻게 진행하나
교재 64쪽 카드 4장이 그대로 코드가 됨. 툴 고르기는 에이전트(Groq), 판단은 Jev(확률만), 막는 일은 코드, 툴 안은 고정 순서
③ ~ ⑤는 LangChain create_agent가 고리를 돌리고, GuardMiddleware와 ToolWrapperMiddleware가 상한, 강제 종료, 필터, 채점을 맡음
글을 만드는 LLM 호출(G1, G2, ⑧)은 모두 LCEL 체인과 구조화 출력으로 짬
상세 문서: https://github.com/unicorn-campus/hybrid-ai/blob/main/teacher/plan/graphrag-search-실습가이드.md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2: 사전 준비 4가지와 수업에서 쓰는 명령 2개
사전 준비가 끝났는지는 Q01 실행 한 번으로 확인함. 시작 검사가 모자란 것을 「→ 할 일」로 출력함
키는 환경변수에 올리지 않고 클라이언트마다 인자로 넘김. SDK 기본 이름과 달라 직접 넘기는 것임
앞부분이 같은 입력은 Groq가 자동으로 캐시해 회차가 늘어도 입력 비용이 작음. 질문 하나에 1센트 미만
상세 문서: https://github.com/unicorn-campus/hybrid-ai/blob/main/hands-on/solutions/graphrag/retriever/README.md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3: 교시 2: ① ~ ④ 래퍼(실습 함수 4개)
check_ready는 그래프의 청크 노드 수와 활성 세대 파일의 청크 수를 비교해 두 저장소가 같은 세대인지 봄
build_agent는 두 줄이지만 이 실습의 중심임. 미들웨어 2개가 「막는 일은 코드」를 맡는다는 것을 함께 설명함
run_tool이 붙이는 필터는 ①에서 만든 「볼 수 있는 청크 표」임. 그래프 청크 노드에는 권한 속성이 없어 검색엔진 메타데이터로 만듦
상세 문서: https://github.com/unicorn-campus/hybrid-ai/blob/main/hands-on/solutions/graphrag/retriever/core_search.py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4: 교시 3: ④ 검색엔진과 Local 검색, ⑤ 채점과 상한(실습 함수 4개 + 선택 1개)
L2 ~ L4는 교재에서 Cypher 한 번이지만, 실습 예제는 L2 축소를 파이썬 함수로 꺼내려고 Cypher를 두 번 부름
회원 필터로 고른 그 회원의 상담 원문은 Jev 관련 확률로 빼지 않음. Jev가 「이 회원」 질문을 낮게 매기는 편이라서임(실측)
force_stop_reason을 잘못 채워도 main의 하드 상한(에이전트 호출 6번, 180초)이 고리를 끊음
상세 문서: https://github.com/unicorn-campus/hybrid-ai/blob/main/hands-on/solutions/graphrag/retriever/core_search.py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5: 교시 4: ⑥ 리랭킹부터 ⑩ 종료 상태까지(실습 함수 5개)
⑦ 조건 ②의 후보 쌍은 두 가지임. 서로 다른 두 원문의 엔티티(교재 예), 같은 원문이라도 낱말을 속성에 가진 두 엔티티(카드와 혜택)
답 근거로 셀 때는 Jev의 「바로 답이 됨」 확률과 함께 「주제를 다룸」 확률 0.7 이상을 봄. 한국어 함정 질문에서 관련 낮은 원문을 답 근거로 본 경우가 있어서임(실측)
낱말 기준이라 생기는 오거절이 있음. Q14는 질문의 「해지」가 원문에서 「정리」라 이어 주지 못함
상세 문서: https://github.com/unicorn-campus/hybrid-ai/blob/main/hands-on/solutions/graphrag/retriever/README.md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6: 본인 코드로 바꿔 끼우기: import 한 줄과 USE_TEACHER_CODE 목록
인덱싱 실습과 같은 교체 방식임(import 한 줄 + 함수 단위로 강사 코드 대체)
실습 중에는 함수 하나를 고칠 때마다 질문 한두 개만 돌려 비용을 아낌. 평가셋 일괄(--eval)은 강사만 돌림
제출 화면에는 에이전트 비용 줄이 들어가게 캡처함
상세 문서: https://github.com/unicorn-campus/hybrid-ai/blob/main/hands-on/solutions/graphrag/retriever/my_search.py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sp>
      <p:sp>
        <p:nvSpPr>
          <p:cNvPr id="3" name="Text 1"/>
          <p:cNvSpPr/>
          <p:nvPr/>
        </p:nvSpPr>
        <p:spPr>
          <a:xfrm>
            <a:off x="445770" y="7787945"/>
            <a:ext cx="1531620" cy="246888"/>
          </a:xfrm>
          <a:prstGeom prst="rect">
            <a:avLst/>
          </a:prstGeom>
          <a:noFill/>
          <a:ln/>
        </p:spPr>
        <p:txBody>
          <a:bodyPr wrap="square" lIns="0" tIns="0" rIns="0" bIns="0" rtlCol="0" anchor="ctr"/>
          <a:lstStyle/>
          <a:p>
            <a:pPr indent="0" marL="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p:nvPr>
            <p:ph type="title"/>
          </p:nvPr>
        </p:nvSpPr>
        <p:spPr>
          <a:xfrm>
            <a:off x="509321" y="99670"/>
            <a:ext cx="13738860" cy="828446"/>
          </a:xfrm>
          <a:prstGeom prst="rect">
            <a:avLst/>
          </a:prstGeom>
          <a:noFill/>
          <a:ln/>
        </p:spPr>
        <p:txBody>
          <a:bodyPr wrap="square" rtlCol="0"/>
          <a:lstStyle>
            <a:lvl1pPr algn="l" indent="0" marL="0">
              <a:buNone/>
              <a:defRPr lang="en-US" sz="3200" b="1" dirty="0">
                <a:solidFill>
                  <a:srgbClr val="2C2926"/>
                </a:solidFill>
                <a:latin typeface="Pretendard" pitchFamily="34" charset="0"/>
                <a:ea typeface="Pretendard" pitchFamily="34" charset="-122"/>
                <a:cs typeface="Pretendard" pitchFamily="34" charset="-120"/>
              </a:defRPr>
            </a:lvl1pPr>
          </a:lstStyle>
          <a:p>
            <a:pPr algn="l" indent="0" marL="0">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49892;&#49845;&#44032;&#51060;&#46300;.md"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unicorn-campus/hybrid-ai/blob/main/hands-on/solutions/graphrag/retriever/README.md"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unicorn-campus/hybrid-ai/blob/main/hands-on/solutions/graphrag/retriever/core_search.py" TargetMode="Externa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unicorn-campus/hybrid-ai/blob/main/hands-on/solutions/graphrag/retriever/core_search.py" TargetMode="Externa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unicorn-campus/hybrid-ai/blob/main/hands-on/solutions/graphrag/retriever/README.md" TargetMode="Externa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unicorn-campus/hybrid-ai/blob/main/hands-on/solutions/graphrag/retriever/my_search.py" TargetMode="Externa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GraphRAG 검색 실습: 무엇을 만들고 어떻게 진행하나</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인덱싱 실습이 만든 그래프와 검색엔진에서 에이전트(Groq)가 툴을 골라 근거를 모으고, 판단은 Jev가, 막는 일은 코드가 맡음</a:t>
            </a:r>
            <a:endParaRPr lang="en-US" sz="1800" dirty="0"/>
          </a:p>
        </p:txBody>
      </p:sp>
      <p:sp>
        <p:nvSpPr>
          <p:cNvPr id="4" name="Text 2"/>
          <p:cNvSpPr/>
          <p:nvPr/>
        </p:nvSpPr>
        <p:spPr>
          <a:xfrm>
            <a:off x="509321" y="1737360"/>
            <a:ext cx="694944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만드는 것(교재 64쪽 워크플로우)</a:t>
            </a:r>
            <a:endParaRPr lang="en-US" sz="1800" dirty="0"/>
          </a:p>
        </p:txBody>
      </p:sp>
      <p:sp>
        <p:nvSpPr>
          <p:cNvPr id="5" name="Shape 3"/>
          <p:cNvSpPr/>
          <p:nvPr/>
        </p:nvSpPr>
        <p:spPr>
          <a:xfrm>
            <a:off x="509321" y="2240280"/>
            <a:ext cx="6949440" cy="609600"/>
          </a:xfrm>
          <a:prstGeom prst="roundRect">
            <a:avLst>
              <a:gd name="adj" fmla="val 12000"/>
            </a:avLst>
          </a:prstGeom>
          <a:solidFill>
            <a:srgbClr val="F5F8FC"/>
          </a:solidFill>
          <a:ln w="12700">
            <a:solidFill>
              <a:srgbClr val="D9E0EC"/>
            </a:solidFill>
            <a:prstDash val="solid"/>
          </a:ln>
        </p:spPr>
      </p:sp>
      <p:sp>
        <p:nvSpPr>
          <p:cNvPr id="6" name="Text 4"/>
          <p:cNvSpPr/>
          <p:nvPr/>
        </p:nvSpPr>
        <p:spPr>
          <a:xfrm>
            <a:off x="619049" y="231648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①</a:t>
            </a:r>
            <a:endParaRPr lang="en-US" sz="1600" dirty="0"/>
          </a:p>
        </p:txBody>
      </p:sp>
      <p:sp>
        <p:nvSpPr>
          <p:cNvPr id="7" name="Text 5"/>
          <p:cNvSpPr txBox="1"/>
          <p:nvPr/>
        </p:nvSpPr>
        <p:spPr>
          <a:xfrm>
            <a:off x="1195121" y="2240280"/>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요청 접수: 권한, 같은 세대, 보고서 유무를 확인하고 볼 수 있는 청크 표를 만듦</a:t>
            </a:r>
            <a:endParaRPr lang="en-US" sz="1400" dirty="0"/>
          </a:p>
        </p:txBody>
      </p:sp>
      <p:sp>
        <p:nvSpPr>
          <p:cNvPr id="8" name="Shape 6"/>
          <p:cNvSpPr/>
          <p:nvPr/>
        </p:nvSpPr>
        <p:spPr>
          <a:xfrm>
            <a:off x="509321" y="2923032"/>
            <a:ext cx="6949440" cy="609600"/>
          </a:xfrm>
          <a:prstGeom prst="roundRect">
            <a:avLst>
              <a:gd name="adj" fmla="val 12000"/>
            </a:avLst>
          </a:prstGeom>
          <a:solidFill>
            <a:srgbClr val="F5F8FC"/>
          </a:solidFill>
          <a:ln w="12700">
            <a:solidFill>
              <a:srgbClr val="D9E0EC"/>
            </a:solidFill>
            <a:prstDash val="solid"/>
          </a:ln>
        </p:spPr>
      </p:sp>
      <p:sp>
        <p:nvSpPr>
          <p:cNvPr id="9" name="Text 7"/>
          <p:cNvSpPr/>
          <p:nvPr/>
        </p:nvSpPr>
        <p:spPr>
          <a:xfrm>
            <a:off x="619049" y="2999232"/>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②</a:t>
            </a:r>
            <a:endParaRPr lang="en-US" sz="1600" dirty="0"/>
          </a:p>
        </p:txBody>
      </p:sp>
      <p:sp>
        <p:nvSpPr>
          <p:cNvPr id="10" name="Text 8"/>
          <p:cNvSpPr txBox="1"/>
          <p:nvPr/>
        </p:nvSpPr>
        <p:spPr>
          <a:xfrm>
            <a:off x="1195121" y="2923032"/>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질문 분석: 코드가 회원번호와 카드명을 필터로 바꾸고, Jev 확률로 코드가 잡담, 모호, 첫 툴을 정함</a:t>
            </a:r>
            <a:endParaRPr lang="en-US" sz="1400" dirty="0"/>
          </a:p>
        </p:txBody>
      </p:sp>
      <p:sp>
        <p:nvSpPr>
          <p:cNvPr id="11" name="Shape 9"/>
          <p:cNvSpPr/>
          <p:nvPr/>
        </p:nvSpPr>
        <p:spPr>
          <a:xfrm>
            <a:off x="509321" y="3605784"/>
            <a:ext cx="6949440" cy="609600"/>
          </a:xfrm>
          <a:prstGeom prst="roundRect">
            <a:avLst>
              <a:gd name="adj" fmla="val 12000"/>
            </a:avLst>
          </a:prstGeom>
          <a:solidFill>
            <a:srgbClr val="F5F8FC"/>
          </a:solidFill>
          <a:ln w="12700">
            <a:solidFill>
              <a:srgbClr val="D9E0EC"/>
            </a:solidFill>
            <a:prstDash val="solid"/>
          </a:ln>
        </p:spPr>
      </p:sp>
      <p:sp>
        <p:nvSpPr>
          <p:cNvPr id="12" name="Text 10"/>
          <p:cNvSpPr/>
          <p:nvPr/>
        </p:nvSpPr>
        <p:spPr>
          <a:xfrm>
            <a:off x="619049" y="3681984"/>
            <a:ext cx="457200" cy="457200"/>
          </a:xfrm>
          <a:prstGeom prst="roundRect">
            <a:avLst>
              <a:gd name="adj" fmla="val 10000"/>
            </a:avLst>
          </a:prstGeom>
          <a:solidFill>
            <a:srgbClr val="1E2A5C"/>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③</a:t>
            </a:r>
            <a:endParaRPr lang="en-US" sz="1600" dirty="0"/>
          </a:p>
        </p:txBody>
      </p:sp>
      <p:sp>
        <p:nvSpPr>
          <p:cNvPr id="13" name="Text 11"/>
          <p:cNvSpPr txBox="1"/>
          <p:nvPr/>
        </p:nvSpPr>
        <p:spPr>
          <a:xfrm>
            <a:off x="1195121" y="3605784"/>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검색 에이전트 ⇄ ④ 툴 ⇄ ⑤ 채점: create_agent + 미들웨어 2개, 최대 6회차</a:t>
            </a:r>
            <a:endParaRPr lang="en-US" sz="1400" dirty="0"/>
          </a:p>
        </p:txBody>
      </p:sp>
      <p:sp>
        <p:nvSpPr>
          <p:cNvPr id="14" name="Shape 12"/>
          <p:cNvSpPr/>
          <p:nvPr/>
        </p:nvSpPr>
        <p:spPr>
          <a:xfrm>
            <a:off x="509321" y="4288536"/>
            <a:ext cx="6949440" cy="609600"/>
          </a:xfrm>
          <a:prstGeom prst="roundRect">
            <a:avLst>
              <a:gd name="adj" fmla="val 12000"/>
            </a:avLst>
          </a:prstGeom>
          <a:solidFill>
            <a:srgbClr val="F5F8FC"/>
          </a:solidFill>
          <a:ln w="12700">
            <a:solidFill>
              <a:srgbClr val="D9E0EC"/>
            </a:solidFill>
            <a:prstDash val="solid"/>
          </a:ln>
        </p:spPr>
      </p:sp>
      <p:sp>
        <p:nvSpPr>
          <p:cNvPr id="15" name="Text 13"/>
          <p:cNvSpPr/>
          <p:nvPr/>
        </p:nvSpPr>
        <p:spPr>
          <a:xfrm>
            <a:off x="619049" y="4364736"/>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⑥</a:t>
            </a:r>
            <a:endParaRPr lang="en-US" sz="1600" dirty="0"/>
          </a:p>
        </p:txBody>
      </p:sp>
      <p:sp>
        <p:nvSpPr>
          <p:cNvPr id="16" name="Text 14"/>
          <p:cNvSpPr txBox="1"/>
          <p:nvPr/>
        </p:nvSpPr>
        <p:spPr>
          <a:xfrm>
            <a:off x="1195121" y="4288536"/>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리랭킹: 모든 회차 원문을 원 질문으로 다시 채점해 8자리(주제마다 1자리 먼저)</a:t>
            </a:r>
            <a:endParaRPr lang="en-US" sz="1400" dirty="0"/>
          </a:p>
        </p:txBody>
      </p:sp>
      <p:sp>
        <p:nvSpPr>
          <p:cNvPr id="17" name="Shape 15"/>
          <p:cNvSpPr/>
          <p:nvPr/>
        </p:nvSpPr>
        <p:spPr>
          <a:xfrm>
            <a:off x="509321" y="4971288"/>
            <a:ext cx="6949440" cy="609600"/>
          </a:xfrm>
          <a:prstGeom prst="roundRect">
            <a:avLst>
              <a:gd name="adj" fmla="val 12000"/>
            </a:avLst>
          </a:prstGeom>
          <a:solidFill>
            <a:srgbClr val="F5F8FC"/>
          </a:solidFill>
          <a:ln w="12700">
            <a:solidFill>
              <a:srgbClr val="D9E0EC"/>
            </a:solidFill>
            <a:prstDash val="solid"/>
          </a:ln>
        </p:spPr>
      </p:sp>
      <p:sp>
        <p:nvSpPr>
          <p:cNvPr id="18" name="Text 16"/>
          <p:cNvSpPr/>
          <p:nvPr/>
        </p:nvSpPr>
        <p:spPr>
          <a:xfrm>
            <a:off x="619049" y="5047488"/>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⑦</a:t>
            </a:r>
            <a:endParaRPr lang="en-US" sz="1600" dirty="0"/>
          </a:p>
        </p:txBody>
      </p:sp>
      <p:sp>
        <p:nvSpPr>
          <p:cNvPr id="19" name="Text 17"/>
          <p:cNvSpPr txBox="1"/>
          <p:nvPr/>
        </p:nvSpPr>
        <p:spPr>
          <a:xfrm>
            <a:off x="1195121" y="4971288"/>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수집 종료 판정: 코드 재확인(한 문장 공존 또는 관계 하나) 뒤 Jev로 한 번 더</a:t>
            </a:r>
            <a:endParaRPr lang="en-US" sz="1400" dirty="0"/>
          </a:p>
        </p:txBody>
      </p:sp>
      <p:sp>
        <p:nvSpPr>
          <p:cNvPr id="20" name="Shape 18"/>
          <p:cNvSpPr/>
          <p:nvPr/>
        </p:nvSpPr>
        <p:spPr>
          <a:xfrm>
            <a:off x="509321" y="5654040"/>
            <a:ext cx="6949440" cy="609600"/>
          </a:xfrm>
          <a:prstGeom prst="roundRect">
            <a:avLst>
              <a:gd name="adj" fmla="val 12000"/>
            </a:avLst>
          </a:prstGeom>
          <a:solidFill>
            <a:srgbClr val="F5F8FC"/>
          </a:solidFill>
          <a:ln w="12700">
            <a:solidFill>
              <a:srgbClr val="D9E0EC"/>
            </a:solidFill>
            <a:prstDash val="solid"/>
          </a:ln>
        </p:spPr>
      </p:sp>
      <p:sp>
        <p:nvSpPr>
          <p:cNvPr id="21" name="Text 19"/>
          <p:cNvSpPr/>
          <p:nvPr/>
        </p:nvSpPr>
        <p:spPr>
          <a:xfrm>
            <a:off x="619049" y="573024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⑧</a:t>
            </a:r>
            <a:endParaRPr lang="en-US" sz="1600" dirty="0"/>
          </a:p>
        </p:txBody>
      </p:sp>
      <p:sp>
        <p:nvSpPr>
          <p:cNvPr id="22" name="Text 20"/>
          <p:cNvSpPr txBox="1"/>
          <p:nvPr/>
        </p:nvSpPr>
        <p:spPr>
          <a:xfrm>
            <a:off x="1195121" y="5654040"/>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답변 ⇄ ⑨ 검증 → ⑩ 종료: LCEL 체인 + 구조화 출력, 인용과 숫자 검사, 종료 상태 7가지</a:t>
            </a:r>
            <a:endParaRPr lang="en-US" sz="1400" dirty="0"/>
          </a:p>
        </p:txBody>
      </p:sp>
      <p:sp>
        <p:nvSpPr>
          <p:cNvPr id="23" name="Text 21"/>
          <p:cNvSpPr/>
          <p:nvPr/>
        </p:nvSpPr>
        <p:spPr>
          <a:xfrm>
            <a:off x="7687361" y="1737360"/>
            <a:ext cx="644652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수업 흐름(4H)</a:t>
            </a:r>
            <a:endParaRPr lang="en-US" sz="1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7687361" y="2240280"/>
          <a:ext cx="6446520" cy="914400"/>
        </p:xfrm>
        <a:graphic>
          <a:graphicData uri="http://schemas.openxmlformats.org/drawingml/2006/table">
            <a:tbl>
              <a:tblPr/>
              <a:tblGrid>
                <a:gridCol w="914400"/>
                <a:gridCol w="3429000"/>
                <a:gridCol w="210312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교시</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내용</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실습 함수</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1 이론</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교재 64 ~ 79쪽</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2</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① ~ ④ 래퍼</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4개</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3</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④ O, L과 ⑤</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4개 + 선택 1</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4</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⑥ ~ ⑩</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5개</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25" name="Text 22"/>
          <p:cNvSpPr/>
          <p:nvPr/>
        </p:nvSpPr>
        <p:spPr>
          <a:xfrm>
            <a:off x="7687361" y="4297680"/>
            <a:ext cx="644652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실습 방식</a:t>
            </a:r>
            <a:endParaRPr lang="en-US" sz="1800" dirty="0"/>
          </a:p>
        </p:txBody>
      </p:sp>
      <p:sp>
        <p:nvSpPr>
          <p:cNvPr id="26" name="Text 23"/>
          <p:cNvSpPr/>
          <p:nvPr/>
        </p:nvSpPr>
        <p:spPr>
          <a:xfrm>
            <a:off x="7687361" y="4800600"/>
            <a:ext cx="6446520" cy="1463040"/>
          </a:xfrm>
          <a:prstGeom prst="roundRect">
            <a:avLst>
              <a:gd name="adj" fmla="val 6250"/>
            </a:avLst>
          </a:prstGeom>
          <a:solidFill>
            <a:srgbClr val="EEF3FA"/>
          </a:solidFill>
          <a:ln w="12700">
            <a:solidFill>
              <a:srgbClr val="D9E0EC"/>
            </a:solidFill>
          </a:ln>
        </p:spPr>
        <p:txBody>
          <a:bodyPr wrap="square" lIns="182880" tIns="128016" rIns="182880" bIns="91440" rtlCol="0" anchor="t"/>
          <a:lstStyle/>
          <a:p>
            <a:pPr algn="l" marL="228600" indent="-228600">
              <a:spcAft>
                <a:spcPts val="1200"/>
              </a:spcAft>
              <a:buSzPct val="100000"/>
              <a:buChar char="•"/>
            </a:pPr>
            <a:r>
              <a:rPr lang="en-US" sz="1500" dirty="0">
                <a:solidFill>
                  <a:srgbClr val="2B3242"/>
                </a:solidFill>
                <a:latin typeface="Pretendard" pitchFamily="34" charset="0"/>
                <a:ea typeface="Pretendard" pitchFamily="34" charset="-122"/>
                <a:cs typeface="Pretendard" pitchFamily="34" charset="-120"/>
              </a:rPr>
              <a:t>13개 함수(직접 7, 빈칸 6)를 my_search.py에 채워 바꿔 끼움</a:t>
            </a:r>
            <a:endParaRPr lang="en-US" sz="1500" dirty="0"/>
          </a:p>
          <a:p>
            <a:pPr algn="l" marL="228600" indent="-228600">
              <a:spcAft>
                <a:spcPts val="1200"/>
              </a:spcAft>
              <a:buSzPct val="100000"/>
              <a:buChar char="•"/>
            </a:pPr>
            <a:r>
              <a:rPr lang="en-US" sz="1500" dirty="0">
                <a:solidFill>
                  <a:srgbClr val="2B3242"/>
                </a:solidFill>
                <a:latin typeface="Pretendard" pitchFamily="34" charset="0"/>
                <a:ea typeface="Pretendard" pitchFamily="34" charset="-122"/>
                <a:cs typeface="Pretendard" pitchFamily="34" charset="-120"/>
              </a:rPr>
              <a:t>안 채운 함수는 강사 코드가 대신 돌아 늘 ⑩까지 완주</a:t>
            </a:r>
            <a:endParaRPr lang="en-US" sz="1500" dirty="0"/>
          </a:p>
          <a:p>
            <a:pPr algn="l" marL="228600" indent="-228600">
              <a:spcAft>
                <a:spcPts val="1200"/>
              </a:spcAft>
              <a:buSzPct val="100000"/>
              <a:buChar char="•"/>
            </a:pPr>
            <a:r>
              <a:rPr lang="en-US" sz="1500" dirty="0">
                <a:solidFill>
                  <a:srgbClr val="2B3242"/>
                </a:solidFill>
                <a:latin typeface="Pretendard" pitchFamily="34" charset="0"/>
                <a:ea typeface="Pretendard" pitchFamily="34" charset="-122"/>
                <a:cs typeface="Pretendard" pitchFamily="34" charset="-120"/>
              </a:rPr>
              <a:t>실행마다 에이전트(Groq) 실제 비용이 찍힘(질문 하나 약 $0.001 ~ 0.005)</a:t>
            </a:r>
            <a:endParaRPr lang="en-US" sz="1500" dirty="0"/>
          </a:p>
        </p:txBody>
      </p:sp>
      <p:sp>
        <p:nvSpPr>
          <p:cNvPr id="27" name="Shape 24"/>
          <p:cNvSpPr/>
          <p:nvPr/>
        </p:nvSpPr>
        <p:spPr>
          <a:xfrm>
            <a:off x="509321" y="6355080"/>
            <a:ext cx="64008" cy="365760"/>
          </a:xfrm>
          <a:prstGeom prst="rect">
            <a:avLst/>
          </a:prstGeom>
          <a:solidFill>
            <a:srgbClr val="2E74C6"/>
          </a:solidFill>
          <a:ln/>
        </p:spPr>
      </p:sp>
      <p:sp>
        <p:nvSpPr>
          <p:cNvPr id="28" name="Text 25"/>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툴 입력에는 필터 칸이 없음. 세대, 역할, 회원, 카드 필터는 래퍼가 강제로 붙여 에이전트가 넘을 수 없음(교재 69쪽)</a:t>
            </a:r>
            <a:endParaRPr lang="en-US" sz="1600" dirty="0"/>
          </a:p>
        </p:txBody>
      </p:sp>
      <p:sp>
        <p:nvSpPr>
          <p:cNvPr id="29" name="Shape 26"/>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30" name="Text 27">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31" name="Shape 28"/>
          <p:cNvSpPr/>
          <p:nvPr/>
        </p:nvSpPr>
        <p:spPr>
          <a:xfrm>
            <a:off x="509321" y="7388352"/>
            <a:ext cx="13624560" cy="0"/>
          </a:xfrm>
          <a:prstGeom prst="line">
            <a:avLst/>
          </a:prstGeom>
          <a:noFill/>
          <a:ln w="12700">
            <a:solidFill>
              <a:srgbClr val="E9ECF3"/>
            </a:solidFill>
            <a:prstDash val="solid"/>
          </a:ln>
        </p:spPr>
      </p:sp>
      <p:sp>
        <p:nvSpPr>
          <p:cNvPr id="32" name="Text 29"/>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『신한카드 하이브리드AI_W05 ~ W07』 64 ~ 79쪽, teacher/plan/graphrag-search-개발계획서.md 4장</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사전 준비 4가지와 수업에서 쓰는 명령 2개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시작 검사가 활성 세대, Neo4j, OpenSearch, 키 3개를 한 번에 확인하고 모자란 것을 알려 줌</a:t>
            </a:r>
            <a:endParaRPr lang="en-US" sz="1800" dirty="0"/>
          </a:p>
        </p:txBody>
      </p:sp>
      <p:sp>
        <p:nvSpPr>
          <p:cNvPr id="4" name="Text 2"/>
          <p:cNvSpPr/>
          <p:nvPr/>
        </p:nvSpPr>
        <p:spPr>
          <a:xfrm>
            <a:off x="509321" y="1737360"/>
            <a:ext cx="47548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사전 준비(수업 전)</a:t>
            </a:r>
            <a:endParaRPr lang="en-US" sz="1800" dirty="0"/>
          </a:p>
        </p:txBody>
      </p:sp>
      <p:sp>
        <p:nvSpPr>
          <p:cNvPr id="5" name="Shape 3"/>
          <p:cNvSpPr/>
          <p:nvPr/>
        </p:nvSpPr>
        <p:spPr>
          <a:xfrm>
            <a:off x="509321" y="2240280"/>
            <a:ext cx="4754880" cy="937260"/>
          </a:xfrm>
          <a:prstGeom prst="roundRect">
            <a:avLst>
              <a:gd name="adj" fmla="val 7805"/>
            </a:avLst>
          </a:prstGeom>
          <a:solidFill>
            <a:srgbClr val="F5F8FC"/>
          </a:solidFill>
          <a:ln w="12700">
            <a:solidFill>
              <a:srgbClr val="D9E0EC"/>
            </a:solidFill>
            <a:prstDash val="solid"/>
          </a:ln>
        </p:spPr>
      </p:sp>
      <p:sp>
        <p:nvSpPr>
          <p:cNvPr id="6" name="Shape 4"/>
          <p:cNvSpPr/>
          <p:nvPr/>
        </p:nvSpPr>
        <p:spPr>
          <a:xfrm>
            <a:off x="646481" y="2507742"/>
            <a:ext cx="402336" cy="402336"/>
          </a:xfrm>
          <a:prstGeom prst="roundRect">
            <a:avLst>
              <a:gd name="adj" fmla="val 11364"/>
            </a:avLst>
          </a:prstGeom>
          <a:solidFill>
            <a:srgbClr val="2E74C6"/>
          </a:solidFill>
          <a:ln/>
        </p:spPr>
      </p:sp>
      <p:sp>
        <p:nvSpPr>
          <p:cNvPr id="7" name="Text 5"/>
          <p:cNvSpPr/>
          <p:nvPr/>
        </p:nvSpPr>
        <p:spPr>
          <a:xfrm>
            <a:off x="646481" y="25077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8" name="Text 6"/>
          <p:cNvSpPr txBox="1"/>
          <p:nvPr/>
        </p:nvSpPr>
        <p:spPr>
          <a:xfrm>
            <a:off x="1149401" y="2240280"/>
            <a:ext cx="3977640" cy="9372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인덱싱 실습 완료(활성 세대, 청크 260개). 없으면 --reuse data/teacher</a:t>
            </a:r>
            <a:endParaRPr lang="en-US" sz="1600" dirty="0"/>
          </a:p>
        </p:txBody>
      </p:sp>
      <p:sp>
        <p:nvSpPr>
          <p:cNvPr id="9" name="Shape 7"/>
          <p:cNvSpPr/>
          <p:nvPr/>
        </p:nvSpPr>
        <p:spPr>
          <a:xfrm>
            <a:off x="509321" y="3268980"/>
            <a:ext cx="4754880" cy="937260"/>
          </a:xfrm>
          <a:prstGeom prst="roundRect">
            <a:avLst>
              <a:gd name="adj" fmla="val 7805"/>
            </a:avLst>
          </a:prstGeom>
          <a:solidFill>
            <a:srgbClr val="F5F8FC"/>
          </a:solidFill>
          <a:ln w="12700">
            <a:solidFill>
              <a:srgbClr val="D9E0EC"/>
            </a:solidFill>
            <a:prstDash val="solid"/>
          </a:ln>
        </p:spPr>
      </p:sp>
      <p:sp>
        <p:nvSpPr>
          <p:cNvPr id="10" name="Shape 8"/>
          <p:cNvSpPr/>
          <p:nvPr/>
        </p:nvSpPr>
        <p:spPr>
          <a:xfrm>
            <a:off x="646481" y="3536442"/>
            <a:ext cx="402336" cy="402336"/>
          </a:xfrm>
          <a:prstGeom prst="roundRect">
            <a:avLst>
              <a:gd name="adj" fmla="val 11364"/>
            </a:avLst>
          </a:prstGeom>
          <a:solidFill>
            <a:srgbClr val="2E74C6"/>
          </a:solidFill>
          <a:ln/>
        </p:spPr>
      </p:sp>
      <p:sp>
        <p:nvSpPr>
          <p:cNvPr id="11" name="Text 9"/>
          <p:cNvSpPr/>
          <p:nvPr/>
        </p:nvSpPr>
        <p:spPr>
          <a:xfrm>
            <a:off x="646481" y="35364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2" name="Text 10"/>
          <p:cNvSpPr txBox="1"/>
          <p:nvPr/>
        </p:nvSpPr>
        <p:spPr>
          <a:xfrm>
            <a:off x="1149401" y="3268980"/>
            <a:ext cx="3977640" cy="9372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Docker로 Neo4j와 OpenSearch 기동(healthy 확인)</a:t>
            </a:r>
            <a:endParaRPr lang="en-US" sz="1600" dirty="0"/>
          </a:p>
        </p:txBody>
      </p:sp>
      <p:sp>
        <p:nvSpPr>
          <p:cNvPr id="13" name="Shape 11"/>
          <p:cNvSpPr/>
          <p:nvPr/>
        </p:nvSpPr>
        <p:spPr>
          <a:xfrm>
            <a:off x="509321" y="4297680"/>
            <a:ext cx="4754880" cy="937260"/>
          </a:xfrm>
          <a:prstGeom prst="roundRect">
            <a:avLst>
              <a:gd name="adj" fmla="val 7805"/>
            </a:avLst>
          </a:prstGeom>
          <a:solidFill>
            <a:srgbClr val="F5F8FC"/>
          </a:solidFill>
          <a:ln w="12700">
            <a:solidFill>
              <a:srgbClr val="D9E0EC"/>
            </a:solidFill>
            <a:prstDash val="solid"/>
          </a:ln>
        </p:spPr>
      </p:sp>
      <p:sp>
        <p:nvSpPr>
          <p:cNvPr id="14" name="Shape 12"/>
          <p:cNvSpPr/>
          <p:nvPr/>
        </p:nvSpPr>
        <p:spPr>
          <a:xfrm>
            <a:off x="646481" y="4565142"/>
            <a:ext cx="402336" cy="402336"/>
          </a:xfrm>
          <a:prstGeom prst="roundRect">
            <a:avLst>
              <a:gd name="adj" fmla="val 11364"/>
            </a:avLst>
          </a:prstGeom>
          <a:solidFill>
            <a:srgbClr val="2E74C6"/>
          </a:solidFill>
          <a:ln/>
        </p:spPr>
      </p:sp>
      <p:sp>
        <p:nvSpPr>
          <p:cNvPr id="15" name="Text 13"/>
          <p:cNvSpPr/>
          <p:nvPr/>
        </p:nvSpPr>
        <p:spPr>
          <a:xfrm>
            <a:off x="646481" y="45651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6" name="Text 14"/>
          <p:cNvSpPr txBox="1"/>
          <p:nvPr/>
        </p:nvSpPr>
        <p:spPr>
          <a:xfrm>
            <a:off x="1149401" y="4297680"/>
            <a:ext cx="3977640" cy="9372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graphrag 폴더의 공용 가상환경 활성화(graphrag/README.md 3절)</a:t>
            </a:r>
            <a:endParaRPr lang="en-US" sz="1600" dirty="0"/>
          </a:p>
        </p:txBody>
      </p:sp>
      <p:sp>
        <p:nvSpPr>
          <p:cNvPr id="17" name="Shape 15"/>
          <p:cNvSpPr/>
          <p:nvPr/>
        </p:nvSpPr>
        <p:spPr>
          <a:xfrm>
            <a:off x="509321" y="5326380"/>
            <a:ext cx="4754880" cy="937260"/>
          </a:xfrm>
          <a:prstGeom prst="roundRect">
            <a:avLst>
              <a:gd name="adj" fmla="val 7805"/>
            </a:avLst>
          </a:prstGeom>
          <a:solidFill>
            <a:srgbClr val="F5F8FC"/>
          </a:solidFill>
          <a:ln w="12700">
            <a:solidFill>
              <a:srgbClr val="D9E0EC"/>
            </a:solidFill>
            <a:prstDash val="solid"/>
          </a:ln>
        </p:spPr>
      </p:sp>
      <p:sp>
        <p:nvSpPr>
          <p:cNvPr id="18" name="Shape 16"/>
          <p:cNvSpPr/>
          <p:nvPr/>
        </p:nvSpPr>
        <p:spPr>
          <a:xfrm>
            <a:off x="646481" y="5593842"/>
            <a:ext cx="402336" cy="402336"/>
          </a:xfrm>
          <a:prstGeom prst="roundRect">
            <a:avLst>
              <a:gd name="adj" fmla="val 11364"/>
            </a:avLst>
          </a:prstGeom>
          <a:solidFill>
            <a:srgbClr val="2E74C6"/>
          </a:solidFill>
          <a:ln/>
        </p:spPr>
      </p:sp>
      <p:sp>
        <p:nvSpPr>
          <p:cNvPr id="19" name="Text 17"/>
          <p:cNvSpPr/>
          <p:nvPr/>
        </p:nvSpPr>
        <p:spPr>
          <a:xfrm>
            <a:off x="646481" y="55938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20" name="Text 18"/>
          <p:cNvSpPr txBox="1"/>
          <p:nvPr/>
        </p:nvSpPr>
        <p:spPr>
          <a:xfrm>
            <a:off x="1149401" y="5326380"/>
            <a:ext cx="3977640" cy="9372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secrets/.env에 키 3줄: JEV, GROQ, COHERE</a:t>
            </a:r>
            <a:endParaRPr lang="en-US" sz="1600" dirty="0"/>
          </a:p>
        </p:txBody>
      </p:sp>
      <p:sp>
        <p:nvSpPr>
          <p:cNvPr id="21" name="Text 19"/>
          <p:cNvSpPr/>
          <p:nvPr/>
        </p:nvSpPr>
        <p:spPr>
          <a:xfrm>
            <a:off x="5492801" y="1737360"/>
            <a:ext cx="8641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수업용 명령 2개(활성화 뒤 retriever 폴더에서)</a:t>
            </a:r>
            <a:endParaRPr lang="en-US" sz="1800" dirty="0"/>
          </a:p>
        </p:txBody>
      </p:sp>
      <p:sp>
        <p:nvSpPr>
          <p:cNvPr id="22" name="Text 20"/>
          <p:cNvSpPr/>
          <p:nvPr/>
        </p:nvSpPr>
        <p:spPr>
          <a:xfrm>
            <a:off x="5492801" y="2240280"/>
            <a:ext cx="8641080" cy="1828800"/>
          </a:xfrm>
          <a:prstGeom prst="roundRect">
            <a:avLst>
              <a:gd name="adj" fmla="val 5000"/>
            </a:avLst>
          </a:prstGeom>
          <a:solidFill>
            <a:srgbClr val="EEF3FA"/>
          </a:solidFill>
          <a:ln w="12700">
            <a:solidFill>
              <a:srgbClr val="D9E0EC"/>
            </a:solidFill>
          </a:ln>
        </p:spPr>
        <p:txBody>
          <a:bodyPr wrap="square" lIns="182880" tIns="128016" rIns="182880" bIns="91440" rtlCol="0" anchor="t"/>
          <a:lstStyle/>
          <a:p>
            <a:pPr algn="l" indent="0" marL="0">
              <a:spcAft>
                <a:spcPts val="700"/>
              </a:spcAft>
              <a:buNone/>
            </a:pPr>
            <a:r>
              <a:rPr lang="en-US" sz="1500" b="1" dirty="0">
                <a:solidFill>
                  <a:srgbClr val="1E2A5C"/>
                </a:solidFill>
                <a:latin typeface="Pretendard" pitchFamily="34" charset="0"/>
                <a:ea typeface="Pretendard" pitchFamily="34" charset="-122"/>
                <a:cs typeface="Pretendard" pitchFamily="34" charset="-120"/>
              </a:rPr>
              <a:t>python search_graph.py --qid Q01</a:t>
            </a:r>
            <a:endParaRPr lang="en-US" sz="1500" dirty="0"/>
          </a:p>
          <a:p>
            <a:pPr algn="l" indent="0" marL="0">
              <a:spcAft>
                <a:spcPts val="700"/>
              </a:spcAft>
              <a:buNone/>
            </a:pPr>
            <a:r>
              <a:rPr lang="en-US" sz="1500" dirty="0">
                <a:solidFill>
                  <a:srgbClr val="2B3242"/>
                </a:solidFill>
                <a:latin typeface="Pretendard" pitchFamily="34" charset="0"/>
                <a:ea typeface="Pretendard" pitchFamily="34" charset="-122"/>
                <a:cs typeface="Pretendard" pitchFamily="34" charset="-120"/>
              </a:rPr>
              <a:t>약관 사실 질문을 ① ~ ⑩ 끝까지(약 7 ~ 10초). 「답변 완료」와 에이전트 비용 줄을 봄</a:t>
            </a:r>
            <a:endParaRPr lang="en-US" sz="1500" dirty="0"/>
          </a:p>
          <a:p>
            <a:pPr algn="l" indent="0" marL="0">
              <a:spcAft>
                <a:spcPts val="700"/>
              </a:spcAft>
              <a:buNone/>
            </a:pPr>
            <a:r>
              <a:rPr lang="en-US" sz="1500" b="1" dirty="0">
                <a:solidFill>
                  <a:srgbClr val="1E2A5C"/>
                </a:solidFill>
                <a:latin typeface="Pretendard" pitchFamily="34" charset="0"/>
                <a:ea typeface="Pretendard" pitchFamily="34" charset="-122"/>
                <a:cs typeface="Pretendard" pitchFamily="34" charset="-120"/>
              </a:rPr>
              <a:t>python search_graph.py --qid Q19</a:t>
            </a:r>
            <a:endParaRPr lang="en-US" sz="1500" dirty="0"/>
          </a:p>
          <a:p>
            <a:pPr algn="l" indent="0" marL="0">
              <a:spcAft>
                <a:spcPts val="700"/>
              </a:spcAft>
              <a:buNone/>
            </a:pPr>
            <a:r>
              <a:rPr lang="en-US" sz="1500" dirty="0">
                <a:solidFill>
                  <a:srgbClr val="2B3242"/>
                </a:solidFill>
                <a:latin typeface="Pretendard" pitchFamily="34" charset="0"/>
                <a:ea typeface="Pretendard" pitchFamily="34" charset="-122"/>
                <a:cs typeface="Pretendard" pitchFamily="34" charset="-120"/>
              </a:rPr>
              <a:t>함정 질문(가족돌봄 카드에 없는 해외 수수료 할인)이 「확인할 수 없음」으로 멈춤. 프롬프트에 (.venv)가 없으면 먼저 활성화</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92801" y="4206240"/>
          <a:ext cx="8641080" cy="914400"/>
        </p:xfrm>
        <a:graphic>
          <a:graphicData uri="http://schemas.openxmlformats.org/drawingml/2006/table">
            <a:tbl>
              <a:tblPr/>
              <a:tblGrid>
                <a:gridCol w="1737360"/>
                <a:gridCol w="3017520"/>
                <a:gridCol w="388620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출력 줄</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봐야 할 것</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Q01(강사 PC)</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57784">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② 코드의 결정</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Jev 확률 → 첫 툴 후보</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local_search</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57784">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⑦ 코드 재확인</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조건 ①, ②</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조건 ① 통과(3문장)</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57784">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⑩ 종료 상태</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이름, 이유, 비용</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답변 완료, 약 $0.001</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24" name="Shape 21"/>
          <p:cNvSpPr/>
          <p:nvPr/>
        </p:nvSpPr>
        <p:spPr>
          <a:xfrm>
            <a:off x="509321" y="6355080"/>
            <a:ext cx="64008" cy="365760"/>
          </a:xfrm>
          <a:prstGeom prst="rect">
            <a:avLst/>
          </a:prstGeom>
          <a:solidFill>
            <a:srgbClr val="2E74C6"/>
          </a:solidFill>
          <a:ln/>
        </p:spPr>
      </p:sp>
      <p:sp>
        <p:nvSpPr>
          <p:cNvPr id="25" name="Text 22"/>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temperature 0이어도 LLM은 실행마다 고르는 툴이 다를 수 있음. 강사와는 신호, 판정, 종료 상태로 비교함</a:t>
            </a:r>
            <a:endParaRPr lang="en-US" sz="1600" dirty="0"/>
          </a:p>
        </p:txBody>
      </p:sp>
      <p:sp>
        <p:nvSpPr>
          <p:cNvPr id="26" name="Shape 23"/>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27" name="Text 24">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28" name="Shape 25"/>
          <p:cNvSpPr/>
          <p:nvPr/>
        </p:nvSpPr>
        <p:spPr>
          <a:xfrm>
            <a:off x="509321" y="7388352"/>
            <a:ext cx="13624560" cy="0"/>
          </a:xfrm>
          <a:prstGeom prst="line">
            <a:avLst/>
          </a:prstGeom>
          <a:noFill/>
          <a:ln w="12700">
            <a:solidFill>
              <a:srgbClr val="E9ECF3"/>
            </a:solidFill>
            <a:prstDash val="solid"/>
          </a:ln>
        </p:spPr>
      </p:sp>
      <p:sp>
        <p:nvSpPr>
          <p:cNvPr id="29" name="Text 26"/>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hands-on/solutions/graphrag/retriever/README.md 3 ~ 5장, 2026-10-25 강사 PC 실측</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교시 2: ① ~ ④ 래퍼(실습 함수 4개)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결정 규칙은 직접 작성, create_agent와 래퍼처럼 「무엇을 어떤 순서로 부르나」가 개념인 곳은 빈칸 채우기로 둠</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9326880" cy="914400"/>
        </p:xfrm>
        <a:graphic>
          <a:graphicData uri="http://schemas.openxmlformats.org/drawingml/2006/table">
            <a:tbl>
              <a:tblPr/>
              <a:tblGrid>
                <a:gridCol w="822960"/>
                <a:gridCol w="2286000"/>
                <a:gridCol w="822960"/>
                <a:gridCol w="4846320"/>
                <a:gridCol w="54864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단계</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함수</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방식</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채울 것(실습 개념)</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교재</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107543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①</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check_ready</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역할 확인, 인덱스와 그래프가 같은 세대, 보고서가 없으면 global_search만 막음</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65</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107543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②</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decide_question_route</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Noul 0.7 이상이면 끝냄, Choice는 보기 순서를 바꿔도 같고 확신 0.5 이상일 때만 후보</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65, 66</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107543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③</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build_agent</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2</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create_agent(모델, 툴, 프롬프트, 미들웨어), agent.invoke(입력, context, config)</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68</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915924">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④</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run_tool</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2</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질의 속 회원번호 지우기, 필터를 붙여 서브 워크플로우 부르기</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69</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5" name="Text 2"/>
          <p:cNvSpPr/>
          <p:nvPr/>
        </p:nvSpPr>
        <p:spPr>
          <a:xfrm>
            <a:off x="10064801" y="173736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교시 끝에 확인할 출력</a:t>
            </a:r>
            <a:endParaRPr lang="en-US" sz="1800" dirty="0"/>
          </a:p>
        </p:txBody>
      </p:sp>
      <p:sp>
        <p:nvSpPr>
          <p:cNvPr id="6" name="Text 3"/>
          <p:cNvSpPr/>
          <p:nvPr/>
        </p:nvSpPr>
        <p:spPr>
          <a:xfrm>
            <a:off x="10064801" y="2240280"/>
            <a:ext cx="4069080" cy="1600200"/>
          </a:xfrm>
          <a:prstGeom prst="roundRect">
            <a:avLst>
              <a:gd name="adj" fmla="val 5714"/>
            </a:avLst>
          </a:prstGeom>
          <a:solidFill>
            <a:srgbClr val="EEF3FA"/>
          </a:solidFill>
          <a:ln w="12700">
            <a:solidFill>
              <a:srgbClr val="D9E0EC"/>
            </a:solidFill>
          </a:ln>
        </p:spPr>
        <p:txBody>
          <a:bodyPr wrap="square" lIns="182880" tIns="128016" rIns="182880" bIns="91440" rtlCol="0" anchor="t"/>
          <a:lstStyle/>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② 잡담 질문은 「검색 불필요」로 검색 0회</a:t>
            </a:r>
            <a:endParaRPr lang="en-US" sz="1500" dirty="0"/>
          </a:p>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③ 회차 줄과 에이전트가 고른 툴</a:t>
            </a:r>
            <a:endParaRPr lang="en-US" sz="1500" dirty="0"/>
          </a:p>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④ Q14: 질의에 회원번호 없음, 다른 회원 원문 0건</a:t>
            </a:r>
            <a:endParaRPr lang="en-US" sz="1500" dirty="0"/>
          </a:p>
        </p:txBody>
      </p:sp>
      <p:sp>
        <p:nvSpPr>
          <p:cNvPr id="7" name="Text 4"/>
          <p:cNvSpPr/>
          <p:nvPr/>
        </p:nvSpPr>
        <p:spPr>
          <a:xfrm>
            <a:off x="10064801" y="397764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보는 포인트</a:t>
            </a:r>
            <a:endParaRPr lang="en-US" sz="1800" dirty="0"/>
          </a:p>
        </p:txBody>
      </p:sp>
      <p:sp>
        <p:nvSpPr>
          <p:cNvPr id="8" name="Text 5"/>
          <p:cNvSpPr/>
          <p:nvPr/>
        </p:nvSpPr>
        <p:spPr>
          <a:xfrm>
            <a:off x="10064801" y="4480560"/>
            <a:ext cx="4069080" cy="1783080"/>
          </a:xfrm>
          <a:prstGeom prst="roundRect">
            <a:avLst>
              <a:gd name="adj" fmla="val 5128"/>
            </a:avLst>
          </a:prstGeom>
          <a:solidFill>
            <a:srgbClr val="EEF3FA"/>
          </a:solidFill>
          <a:ln w="12700">
            <a:solidFill>
              <a:srgbClr val="D9E0EC"/>
            </a:solidFill>
          </a:ln>
        </p:spPr>
        <p:txBody>
          <a:bodyPr wrap="square" lIns="182880" tIns="128016" rIns="182880" bIns="91440" rtlCol="0" anchor="t"/>
          <a:lstStyle/>
          <a:p>
            <a:pPr algn="l" marL="228600" indent="-228600">
              <a:spcAft>
                <a:spcPts val="1400"/>
              </a:spcAft>
              <a:buSzPct val="100000"/>
              <a:buChar char="•"/>
            </a:pPr>
            <a:r>
              <a:rPr lang="en-US" sz="1500" dirty="0">
                <a:solidFill>
                  <a:srgbClr val="2B3242"/>
                </a:solidFill>
                <a:latin typeface="Pretendard" pitchFamily="34" charset="0"/>
                <a:ea typeface="Pretendard" pitchFamily="34" charset="-122"/>
                <a:cs typeface="Pretendard" pitchFamily="34" charset="-120"/>
              </a:rPr>
              <a:t>Jev는 확률만, 결정은 코드 기준값</a:t>
            </a:r>
            <a:endParaRPr lang="en-US" sz="1500" dirty="0"/>
          </a:p>
          <a:p>
            <a:pPr algn="l" marL="228600" indent="-228600">
              <a:spcAft>
                <a:spcPts val="1400"/>
              </a:spcAft>
              <a:buSzPct val="100000"/>
              <a:buChar char="•"/>
            </a:pPr>
            <a:r>
              <a:rPr lang="en-US" sz="1500" dirty="0">
                <a:solidFill>
                  <a:srgbClr val="2B3242"/>
                </a:solidFill>
                <a:latin typeface="Pretendard" pitchFamily="34" charset="0"/>
                <a:ea typeface="Pretendard" pitchFamily="34" charset="-122"/>
                <a:cs typeface="Pretendard" pitchFamily="34" charset="-120"/>
              </a:rPr>
              <a:t>애매한 값(0.3 ~ 0.7)은 끝내지 않고 검색</a:t>
            </a:r>
            <a:endParaRPr lang="en-US" sz="1500" dirty="0"/>
          </a:p>
          <a:p>
            <a:pPr algn="l" marL="228600" indent="-228600">
              <a:spcAft>
                <a:spcPts val="1400"/>
              </a:spcAft>
              <a:buSzPct val="100000"/>
              <a:buChar char="•"/>
            </a:pPr>
            <a:r>
              <a:rPr lang="en-US" sz="1500" dirty="0">
                <a:solidFill>
                  <a:srgbClr val="2B3242"/>
                </a:solidFill>
                <a:latin typeface="Pretendard" pitchFamily="34" charset="0"/>
                <a:ea typeface="Pretendard" pitchFamily="34" charset="-122"/>
                <a:cs typeface="Pretendard" pitchFamily="34" charset="-120"/>
              </a:rPr>
              <a:t>미들웨어: before_model은 상한, wrap_tool_call은 래퍼와 채점</a:t>
            </a:r>
            <a:endParaRPr lang="en-US" sz="1500" dirty="0"/>
          </a:p>
        </p:txBody>
      </p:sp>
      <p:sp>
        <p:nvSpPr>
          <p:cNvPr id="9" name="Shape 6"/>
          <p:cNvSpPr/>
          <p:nvPr/>
        </p:nvSpPr>
        <p:spPr>
          <a:xfrm>
            <a:off x="509321" y="6355080"/>
            <a:ext cx="64008" cy="365760"/>
          </a:xfrm>
          <a:prstGeom prst="rect">
            <a:avLst/>
          </a:prstGeom>
          <a:solidFill>
            <a:srgbClr val="2E74C6"/>
          </a:solidFill>
          <a:ln/>
        </p:spPr>
      </p:sp>
      <p:sp>
        <p:nvSpPr>
          <p:cNvPr id="10" name="Text 7"/>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500" b="1" i="1" dirty="0">
                <a:solidFill>
                  <a:srgbClr val="1E2A5C"/>
                </a:solidFill>
                <a:latin typeface="Pretendard" pitchFamily="34" charset="0"/>
                <a:ea typeface="Pretendard" pitchFamily="34" charset="-122"/>
                <a:cs typeface="Pretendard" pitchFamily="34" charset="-120"/>
              </a:rPr>
              <a:t>같은 질문을 보기 순서만 바꿔 한 번 더 묻는 까닭은 Jev가 첫 보기로 쏠릴 수 있다고 공식 문서가 밝혀서임</a:t>
            </a:r>
            <a:endParaRPr lang="en-US" sz="1500" dirty="0"/>
          </a:p>
        </p:txBody>
      </p:sp>
      <p:sp>
        <p:nvSpPr>
          <p:cNvPr id="11" name="Shape 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2" name="Text 9">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3" name="Shape 10"/>
          <p:cNvSpPr/>
          <p:nvPr/>
        </p:nvSpPr>
        <p:spPr>
          <a:xfrm>
            <a:off x="509321" y="7388352"/>
            <a:ext cx="13624560" cy="0"/>
          </a:xfrm>
          <a:prstGeom prst="line">
            <a:avLst/>
          </a:prstGeom>
          <a:noFill/>
          <a:ln w="12700">
            <a:solidFill>
              <a:srgbClr val="E9ECF3"/>
            </a:solidFill>
            <a:prstDash val="solid"/>
          </a:ln>
        </p:spPr>
      </p:sp>
      <p:sp>
        <p:nvSpPr>
          <p:cNvPr id="14" name="Text 11"/>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hands-on/solutions/graphrag/retriever/core_search.py, 교재 65 ~ 69쪽</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교시 3: ④ 검색엔진과 Local 검색, ⑤ 채점과 상한(실습 함수 4개 + 선택 1개)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순위 합치기, 엔티티 줄이기, 강제 종료는 순수 파이썬 논리라 직접 작성이고, 신호 규칙만 빈칸 채우기임</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9326880" cy="914400"/>
        </p:xfrm>
        <a:graphic>
          <a:graphicData uri="http://schemas.openxmlformats.org/drawingml/2006/table">
            <a:tbl>
              <a:tblPr/>
              <a:tblGrid>
                <a:gridCol w="822960"/>
                <a:gridCol w="2286000"/>
                <a:gridCol w="822960"/>
                <a:gridCol w="4846320"/>
                <a:gridCol w="54864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단계</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함수</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방식</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채울 것(실습 개념)</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교재</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82844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④ O</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rrf_merge</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청크마다 Σ 1 / (60 + 순위), 점수 내림차순 상위 25</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70</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82844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④ L</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narrow_entities</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고정 엔티티 → 청크마다 1개 → 유사도 순, 합계 16</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71</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82844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⑤</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diagnose_signals</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3</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NO_SEED, NO_COOCCUR, PASS 규칙(나머지 4개는 완성)</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74</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82844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⑤</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force_stop_reason</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회차 6, NO_NEW 2회 연속, 같은 호출 2회 연속, 전량 실패 2회</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75</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82844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④ E</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normalize_entity_key</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선택</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레이블마다 키를 같은 꼴로(카드 접미어, 조항 번호)</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73</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5" name="Text 2"/>
          <p:cNvSpPr/>
          <p:nvPr/>
        </p:nvSpPr>
        <p:spPr>
          <a:xfrm>
            <a:off x="10064801" y="173736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교시 끝에 확인할 출력</a:t>
            </a:r>
            <a:endParaRPr lang="en-US" sz="1800" dirty="0"/>
          </a:p>
        </p:txBody>
      </p:sp>
      <p:sp>
        <p:nvSpPr>
          <p:cNvPr id="6" name="Text 3"/>
          <p:cNvSpPr/>
          <p:nvPr/>
        </p:nvSpPr>
        <p:spPr>
          <a:xfrm>
            <a:off x="10064801" y="2240280"/>
            <a:ext cx="4069080" cy="1600200"/>
          </a:xfrm>
          <a:prstGeom prst="roundRect">
            <a:avLst>
              <a:gd name="adj" fmla="val 5714"/>
            </a:avLst>
          </a:prstGeom>
          <a:solidFill>
            <a:srgbClr val="EEF3FA"/>
          </a:solidFill>
          <a:ln w="12700">
            <a:solidFill>
              <a:srgbClr val="D9E0EC"/>
            </a:solidFill>
          </a:ln>
        </p:spPr>
        <p:txBody>
          <a:bodyPr wrap="square" lIns="182880" tIns="128016" rIns="182880" bIns="91440" rtlCol="0" anchor="t"/>
          <a:lstStyle/>
          <a:p>
            <a:pPr algn="l" marL="228600" indent="-228600">
              <a:spcAft>
                <a:spcPts val="1500"/>
              </a:spcAft>
              <a:buSzPct val="100000"/>
              <a:buChar char="•"/>
            </a:pPr>
            <a:r>
              <a:rPr lang="en-US" sz="1500" dirty="0">
                <a:solidFill>
                  <a:srgbClr val="2B3242"/>
                </a:solidFill>
                <a:latin typeface="Pretendard" pitchFamily="34" charset="0"/>
                <a:ea typeface="Pretendard" pitchFamily="34" charset="-122"/>
                <a:cs typeface="Pretendard" pitchFamily="34" charset="-120"/>
              </a:rPr>
              <a:t>Q05: 답이 강사와 같은 조항(제21조)</a:t>
            </a:r>
            <a:endParaRPr lang="en-US" sz="1500" dirty="0"/>
          </a:p>
          <a:p>
            <a:pPr algn="l" marL="228600" indent="-228600">
              <a:spcAft>
                <a:spcPts val="1500"/>
              </a:spcAft>
              <a:buSzPct val="100000"/>
              <a:buChar char="•"/>
            </a:pPr>
            <a:r>
              <a:rPr lang="en-US" sz="1500" dirty="0">
                <a:solidFill>
                  <a:srgbClr val="2B3242"/>
                </a:solidFill>
                <a:latin typeface="Pretendard" pitchFamily="34" charset="0"/>
                <a:ea typeface="Pretendard" pitchFamily="34" charset="-122"/>
                <a:cs typeface="Pretendard" pitchFamily="34" charset="-120"/>
              </a:rPr>
              <a:t>Q09: 엔티티 16개 이하</a:t>
            </a:r>
            <a:endParaRPr lang="en-US" sz="1500" dirty="0"/>
          </a:p>
          <a:p>
            <a:pPr algn="l" marL="228600" indent="-228600">
              <a:spcAft>
                <a:spcPts val="1500"/>
              </a:spcAft>
              <a:buSzPct val="100000"/>
              <a:buChar char="•"/>
            </a:pPr>
            <a:r>
              <a:rPr lang="en-US" sz="1500" dirty="0">
                <a:solidFill>
                  <a:srgbClr val="2B3242"/>
                </a:solidFill>
                <a:latin typeface="Pretendard" pitchFamily="34" charset="0"/>
                <a:ea typeface="Pretendard" pitchFamily="34" charset="-122"/>
                <a:cs typeface="Pretendard" pitchFamily="34" charset="-120"/>
              </a:rPr>
              <a:t>Q18: NO_COOCCUR가 한 번 이상</a:t>
            </a:r>
            <a:endParaRPr lang="en-US" sz="1500" dirty="0"/>
          </a:p>
        </p:txBody>
      </p:sp>
      <p:sp>
        <p:nvSpPr>
          <p:cNvPr id="7" name="Text 4"/>
          <p:cNvSpPr/>
          <p:nvPr/>
        </p:nvSpPr>
        <p:spPr>
          <a:xfrm>
            <a:off x="10064801" y="397764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보는 포인트</a:t>
            </a:r>
            <a:endParaRPr lang="en-US" sz="1800" dirty="0"/>
          </a:p>
        </p:txBody>
      </p:sp>
      <p:sp>
        <p:nvSpPr>
          <p:cNvPr id="8" name="Text 5"/>
          <p:cNvSpPr/>
          <p:nvPr/>
        </p:nvSpPr>
        <p:spPr>
          <a:xfrm>
            <a:off x="10064801" y="4480560"/>
            <a:ext cx="4069080" cy="1783080"/>
          </a:xfrm>
          <a:prstGeom prst="roundRect">
            <a:avLst>
              <a:gd name="adj" fmla="val 5128"/>
            </a:avLst>
          </a:prstGeom>
          <a:solidFill>
            <a:srgbClr val="EEF3FA"/>
          </a:solidFill>
          <a:ln w="12700">
            <a:solidFill>
              <a:srgbClr val="D9E0EC"/>
            </a:solidFill>
          </a:ln>
        </p:spPr>
        <p:txBody>
          <a:bodyPr wrap="square" lIns="182880" tIns="128016" rIns="182880" bIns="91440" rtlCol="0" anchor="t"/>
          <a:lstStyle/>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RRF는 점수 단위가 달라도 순위만 씀</a:t>
            </a:r>
            <a:endParaRPr lang="en-US" sz="1500" dirty="0"/>
          </a:p>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세는 일은 Jev가 아니라 코드가 함</a:t>
            </a:r>
            <a:endParaRPr lang="en-US" sz="1500" dirty="0"/>
          </a:p>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강제 종료면 모델을 다시 부르지 않음</a:t>
            </a:r>
            <a:endParaRPr lang="en-US" sz="1500" dirty="0"/>
          </a:p>
        </p:txBody>
      </p:sp>
      <p:sp>
        <p:nvSpPr>
          <p:cNvPr id="9" name="Shape 6"/>
          <p:cNvSpPr/>
          <p:nvPr/>
        </p:nvSpPr>
        <p:spPr>
          <a:xfrm>
            <a:off x="509321" y="6355080"/>
            <a:ext cx="64008" cy="365760"/>
          </a:xfrm>
          <a:prstGeom prst="rect">
            <a:avLst/>
          </a:prstGeom>
          <a:solidFill>
            <a:srgbClr val="2E74C6"/>
          </a:solidFill>
          <a:ln/>
        </p:spPr>
      </p:sp>
      <p:sp>
        <p:nvSpPr>
          <p:cNvPr id="10" name="Text 7"/>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500" b="1" i="1" dirty="0">
                <a:solidFill>
                  <a:srgbClr val="1E2A5C"/>
                </a:solidFill>
                <a:latin typeface="Pretendard" pitchFamily="34" charset="0"/>
                <a:ea typeface="Pretendard" pitchFamily="34" charset="-122"/>
                <a:cs typeface="Pretendard" pitchFamily="34" charset="-120"/>
              </a:rPr>
              <a:t>진단 신호와 기준값은 이 설계의 가정값이고, Jev 판정 기준값은 TypeSafe 공식 쿡북의 출발값임(평가셋으로 조정)</a:t>
            </a:r>
            <a:endParaRPr lang="en-US" sz="1500" dirty="0"/>
          </a:p>
        </p:txBody>
      </p:sp>
      <p:sp>
        <p:nvSpPr>
          <p:cNvPr id="11" name="Shape 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2" name="Text 9">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3" name="Shape 10"/>
          <p:cNvSpPr/>
          <p:nvPr/>
        </p:nvSpPr>
        <p:spPr>
          <a:xfrm>
            <a:off x="509321" y="7388352"/>
            <a:ext cx="13624560" cy="0"/>
          </a:xfrm>
          <a:prstGeom prst="line">
            <a:avLst/>
          </a:prstGeom>
          <a:noFill/>
          <a:ln w="12700">
            <a:solidFill>
              <a:srgbClr val="E9ECF3"/>
            </a:solidFill>
            <a:prstDash val="solid"/>
          </a:ln>
        </p:spPr>
      </p:sp>
      <p:sp>
        <p:nvSpPr>
          <p:cNvPr id="14" name="Text 11"/>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hands-on/solutions/graphrag/retriever/core_search.py, 교재 70 ~ 75쪽</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교시 4: ⑥ 리랭킹부터 ⑩ 종료 상태까지(실습 함수 5개)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자리 나누기와 근거 검증은 직접 작성, 재확인 조건과 LCEL 체인, 종료 상태 표는 빈칸 채우기임</a:t>
            </a:r>
            <a:endParaRPr lang="en-US" sz="1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9326880" cy="914400"/>
        </p:xfrm>
        <a:graphic>
          <a:graphicData uri="http://schemas.openxmlformats.org/drawingml/2006/table">
            <a:tbl>
              <a:tblPr/>
              <a:tblGrid>
                <a:gridCol w="822960"/>
                <a:gridCol w="2286000"/>
                <a:gridCol w="822960"/>
                <a:gridCol w="4846320"/>
                <a:gridCol w="54864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단계</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함수</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방식</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채울 것(실습 개념)</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교재</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796544">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⑥</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select_final_chunks</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주제마다 1자리 먼저, 남은 자리는 점수 순, 8자리</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76</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796544">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⑦</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recheck_question</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2</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조건 ① 공존 문장 수, 조건 ② 두 엔티티가 관계 하나로 이어짐</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77</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95605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⑧</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generate_answer</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2</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with_structured_output(GroundedAnswer), LCEL 체인(프롬프트 → 구조화 모델)</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78</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796544">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⑨</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verify_answer</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인용 id 존재, 숫자와 조항 번호, 보고서 인용은 경향 문장에만</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78</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796544">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⑩</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make_end_state</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1</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END_STATES에서 이름과 뜻 꺼내기</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79</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5" name="Text 2"/>
          <p:cNvSpPr/>
          <p:nvPr/>
        </p:nvSpPr>
        <p:spPr>
          <a:xfrm>
            <a:off x="10064801" y="173736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교시 끝에 확인할 출력</a:t>
            </a:r>
            <a:endParaRPr lang="en-US" sz="1800" dirty="0"/>
          </a:p>
        </p:txBody>
      </p:sp>
      <p:sp>
        <p:nvSpPr>
          <p:cNvPr id="6" name="Text 3"/>
          <p:cNvSpPr/>
          <p:nvPr/>
        </p:nvSpPr>
        <p:spPr>
          <a:xfrm>
            <a:off x="10064801" y="2240280"/>
            <a:ext cx="4069080" cy="1600200"/>
          </a:xfrm>
          <a:prstGeom prst="roundRect">
            <a:avLst>
              <a:gd name="adj" fmla="val 5714"/>
            </a:avLst>
          </a:prstGeom>
          <a:solidFill>
            <a:srgbClr val="EEF3FA"/>
          </a:solidFill>
          <a:ln w="12700">
            <a:solidFill>
              <a:srgbClr val="D9E0EC"/>
            </a:solidFill>
          </a:ln>
        </p:spPr>
        <p:txBody>
          <a:bodyPr wrap="square" lIns="182880" tIns="128016" rIns="182880" bIns="91440" rtlCol="0" anchor="t"/>
          <a:lstStyle/>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Q01: 조건 ① 통과, 검증 통과</a:t>
            </a:r>
            <a:endParaRPr lang="en-US" sz="1500" dirty="0"/>
          </a:p>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Q18: ⑦ 불통과 → 확인할 수 없음</a:t>
            </a:r>
            <a:endParaRPr lang="en-US" sz="1500" dirty="0"/>
          </a:p>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Q25: 검증 실패 사유와 재작성이 나올 수 있음</a:t>
            </a:r>
            <a:endParaRPr lang="en-US" sz="1500" dirty="0"/>
          </a:p>
        </p:txBody>
      </p:sp>
      <p:sp>
        <p:nvSpPr>
          <p:cNvPr id="7" name="Text 4"/>
          <p:cNvSpPr/>
          <p:nvPr/>
        </p:nvSpPr>
        <p:spPr>
          <a:xfrm>
            <a:off x="10064801" y="397764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보는 포인트</a:t>
            </a:r>
            <a:endParaRPr lang="en-US" sz="1800" dirty="0"/>
          </a:p>
        </p:txBody>
      </p:sp>
      <p:sp>
        <p:nvSpPr>
          <p:cNvPr id="8" name="Text 5"/>
          <p:cNvSpPr/>
          <p:nvPr/>
        </p:nvSpPr>
        <p:spPr>
          <a:xfrm>
            <a:off x="10064801" y="4480560"/>
            <a:ext cx="4069080" cy="1783080"/>
          </a:xfrm>
          <a:prstGeom prst="roundRect">
            <a:avLst>
              <a:gd name="adj" fmla="val 5128"/>
            </a:avLst>
          </a:prstGeom>
          <a:solidFill>
            <a:srgbClr val="EEF3FA"/>
          </a:solidFill>
          <a:ln w="12700">
            <a:solidFill>
              <a:srgbClr val="D9E0EC"/>
            </a:solidFill>
          </a:ln>
        </p:spPr>
        <p:txBody>
          <a:bodyPr wrap="square" lIns="182880" tIns="128016" rIns="182880" bIns="91440" rtlCol="0" anchor="t"/>
          <a:lstStyle/>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코드 재확인을 Jev가 살리지 않음</a:t>
            </a:r>
            <a:endParaRPr lang="en-US" sz="1500" dirty="0"/>
          </a:p>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전제 충돌은 통과 + 표시</a:t>
            </a:r>
            <a:endParaRPr lang="en-US" sz="1500" dirty="0"/>
          </a:p>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「확인할 수 없음」도 정상 종료</a:t>
            </a:r>
            <a:endParaRPr lang="en-US" sz="1500" dirty="0"/>
          </a:p>
        </p:txBody>
      </p:sp>
      <p:sp>
        <p:nvSpPr>
          <p:cNvPr id="9" name="Shape 6"/>
          <p:cNvSpPr/>
          <p:nvPr/>
        </p:nvSpPr>
        <p:spPr>
          <a:xfrm>
            <a:off x="509321" y="6355080"/>
            <a:ext cx="64008" cy="365760"/>
          </a:xfrm>
          <a:prstGeom prst="rect">
            <a:avLst/>
          </a:prstGeom>
          <a:solidFill>
            <a:srgbClr val="2E74C6"/>
          </a:solidFill>
          <a:ln/>
        </p:spPr>
      </p:sp>
      <p:sp>
        <p:nvSpPr>
          <p:cNvPr id="10" name="Text 7"/>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500" b="1" i="1" dirty="0">
                <a:solidFill>
                  <a:srgbClr val="1E2A5C"/>
                </a:solidFill>
                <a:latin typeface="Pretendard" pitchFamily="34" charset="0"/>
                <a:ea typeface="Pretendard" pitchFamily="34" charset="-122"/>
                <a:cs typeface="Pretendard" pitchFamily="34" charset="-120"/>
              </a:rPr>
              <a:t>함정 5문항 × 3회 실측(에이전트 Groq)에서 15번 모두 「확인할 수 없음」이고 15번 모두 ⑦ 코드 재확인과 Jev가 막음</a:t>
            </a:r>
            <a:endParaRPr lang="en-US" sz="1500" dirty="0"/>
          </a:p>
        </p:txBody>
      </p:sp>
      <p:sp>
        <p:nvSpPr>
          <p:cNvPr id="11" name="Shape 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2" name="Text 9">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3" name="Shape 10"/>
          <p:cNvSpPr/>
          <p:nvPr/>
        </p:nvSpPr>
        <p:spPr>
          <a:xfrm>
            <a:off x="509321" y="7388352"/>
            <a:ext cx="13624560" cy="0"/>
          </a:xfrm>
          <a:prstGeom prst="line">
            <a:avLst/>
          </a:prstGeom>
          <a:noFill/>
          <a:ln w="12700">
            <a:solidFill>
              <a:srgbClr val="E9ECF3"/>
            </a:solidFill>
            <a:prstDash val="solid"/>
          </a:ln>
        </p:spPr>
      </p:sp>
      <p:sp>
        <p:nvSpPr>
          <p:cNvPr id="14" name="Text 11"/>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hands-on/solutions/graphrag/retriever/core_search.py, 교재 76 ~ 79쪽, 2026-10-25 강사 PC 실측</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본인 코드로 바꿔 끼우기: import 한 줄과 USE_TEACHER_CODE 목록</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안 채운 함수는 강사 코드가 대신 돌므로 한 함수씩 채우며 전체를 끝까지 돌려 볼 수 있음</a:t>
            </a:r>
            <a:endParaRPr lang="en-US" sz="1800" dirty="0"/>
          </a:p>
        </p:txBody>
      </p:sp>
      <p:sp>
        <p:nvSpPr>
          <p:cNvPr id="4" name="Text 2"/>
          <p:cNvSpPr/>
          <p:nvPr/>
        </p:nvSpPr>
        <p:spPr>
          <a:xfrm>
            <a:off x="509321" y="1737360"/>
            <a:ext cx="630936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교체 절차</a:t>
            </a:r>
            <a:endParaRPr lang="en-US" sz="1800" dirty="0"/>
          </a:p>
        </p:txBody>
      </p:sp>
      <p:sp>
        <p:nvSpPr>
          <p:cNvPr id="5" name="Shape 3"/>
          <p:cNvSpPr/>
          <p:nvPr/>
        </p:nvSpPr>
        <p:spPr>
          <a:xfrm>
            <a:off x="509321" y="2240280"/>
            <a:ext cx="6309360" cy="731520"/>
          </a:xfrm>
          <a:prstGeom prst="roundRect">
            <a:avLst>
              <a:gd name="adj" fmla="val 10000"/>
            </a:avLst>
          </a:prstGeom>
          <a:solidFill>
            <a:srgbClr val="F5F8FC"/>
          </a:solidFill>
          <a:ln w="12700">
            <a:solidFill>
              <a:srgbClr val="D9E0EC"/>
            </a:solidFill>
            <a:prstDash val="solid"/>
          </a:ln>
        </p:spPr>
      </p:sp>
      <p:sp>
        <p:nvSpPr>
          <p:cNvPr id="6" name="Shape 4"/>
          <p:cNvSpPr/>
          <p:nvPr/>
        </p:nvSpPr>
        <p:spPr>
          <a:xfrm>
            <a:off x="646481" y="2404872"/>
            <a:ext cx="402336" cy="402336"/>
          </a:xfrm>
          <a:prstGeom prst="roundRect">
            <a:avLst>
              <a:gd name="adj" fmla="val 11364"/>
            </a:avLst>
          </a:prstGeom>
          <a:solidFill>
            <a:srgbClr val="2E74C6"/>
          </a:solidFill>
          <a:ln/>
        </p:spPr>
      </p:sp>
      <p:sp>
        <p:nvSpPr>
          <p:cNvPr id="7" name="Text 5"/>
          <p:cNvSpPr/>
          <p:nvPr/>
        </p:nvSpPr>
        <p:spPr>
          <a:xfrm>
            <a:off x="646481" y="240487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8" name="Text 6"/>
          <p:cNvSpPr txBox="1"/>
          <p:nvPr/>
        </p:nvSpPr>
        <p:spPr>
          <a:xfrm>
            <a:off x="1149401" y="2240280"/>
            <a:ext cx="5532120" cy="73152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search_graph.py의 import 한 줄을 import my_search as core 로 바꿈</a:t>
            </a:r>
            <a:endParaRPr lang="en-US" sz="1600" dirty="0"/>
          </a:p>
        </p:txBody>
      </p:sp>
      <p:sp>
        <p:nvSpPr>
          <p:cNvPr id="9" name="Shape 7"/>
          <p:cNvSpPr/>
          <p:nvPr/>
        </p:nvSpPr>
        <p:spPr>
          <a:xfrm>
            <a:off x="509321" y="3063240"/>
            <a:ext cx="6309360" cy="731520"/>
          </a:xfrm>
          <a:prstGeom prst="roundRect">
            <a:avLst>
              <a:gd name="adj" fmla="val 10000"/>
            </a:avLst>
          </a:prstGeom>
          <a:solidFill>
            <a:srgbClr val="F5F8FC"/>
          </a:solidFill>
          <a:ln w="12700">
            <a:solidFill>
              <a:srgbClr val="D9E0EC"/>
            </a:solidFill>
            <a:prstDash val="solid"/>
          </a:ln>
        </p:spPr>
      </p:sp>
      <p:sp>
        <p:nvSpPr>
          <p:cNvPr id="10" name="Shape 8"/>
          <p:cNvSpPr/>
          <p:nvPr/>
        </p:nvSpPr>
        <p:spPr>
          <a:xfrm>
            <a:off x="646481" y="3227832"/>
            <a:ext cx="402336" cy="402336"/>
          </a:xfrm>
          <a:prstGeom prst="roundRect">
            <a:avLst>
              <a:gd name="adj" fmla="val 11364"/>
            </a:avLst>
          </a:prstGeom>
          <a:solidFill>
            <a:srgbClr val="2E74C6"/>
          </a:solidFill>
          <a:ln/>
        </p:spPr>
      </p:sp>
      <p:sp>
        <p:nvSpPr>
          <p:cNvPr id="11" name="Text 9"/>
          <p:cNvSpPr/>
          <p:nvPr/>
        </p:nvSpPr>
        <p:spPr>
          <a:xfrm>
            <a:off x="646481" y="322783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2" name="Text 10"/>
          <p:cNvSpPr txBox="1"/>
          <p:nvPr/>
        </p:nvSpPr>
        <p:spPr>
          <a:xfrm>
            <a:off x="1149401" y="3063240"/>
            <a:ext cx="5532120" cy="73152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my_search.py 맨 아래 USE_TEACHER_CODE 목록에서 지금 채울 함수 이름을 지움</a:t>
            </a:r>
            <a:endParaRPr lang="en-US" sz="1600" dirty="0"/>
          </a:p>
        </p:txBody>
      </p:sp>
      <p:sp>
        <p:nvSpPr>
          <p:cNvPr id="13" name="Shape 11"/>
          <p:cNvSpPr/>
          <p:nvPr/>
        </p:nvSpPr>
        <p:spPr>
          <a:xfrm>
            <a:off x="509321" y="3886200"/>
            <a:ext cx="6309360" cy="731520"/>
          </a:xfrm>
          <a:prstGeom prst="roundRect">
            <a:avLst>
              <a:gd name="adj" fmla="val 10000"/>
            </a:avLst>
          </a:prstGeom>
          <a:solidFill>
            <a:srgbClr val="F5F8FC"/>
          </a:solidFill>
          <a:ln w="12700">
            <a:solidFill>
              <a:srgbClr val="D9E0EC"/>
            </a:solidFill>
            <a:prstDash val="solid"/>
          </a:ln>
        </p:spPr>
      </p:sp>
      <p:sp>
        <p:nvSpPr>
          <p:cNvPr id="14" name="Shape 12"/>
          <p:cNvSpPr/>
          <p:nvPr/>
        </p:nvSpPr>
        <p:spPr>
          <a:xfrm>
            <a:off x="646481" y="4050792"/>
            <a:ext cx="402336" cy="402336"/>
          </a:xfrm>
          <a:prstGeom prst="roundRect">
            <a:avLst>
              <a:gd name="adj" fmla="val 11364"/>
            </a:avLst>
          </a:prstGeom>
          <a:solidFill>
            <a:srgbClr val="2E74C6"/>
          </a:solidFill>
          <a:ln/>
        </p:spPr>
      </p:sp>
      <p:sp>
        <p:nvSpPr>
          <p:cNvPr id="15" name="Text 13"/>
          <p:cNvSpPr/>
          <p:nvPr/>
        </p:nvSpPr>
        <p:spPr>
          <a:xfrm>
            <a:off x="646481" y="405079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6" name="Text 14"/>
          <p:cNvSpPr txBox="1"/>
          <p:nvPr/>
        </p:nvSpPr>
        <p:spPr>
          <a:xfrm>
            <a:off x="1149401" y="3886200"/>
            <a:ext cx="5532120" cy="73152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그 함수를 채우고 확인 명령(--qid Q01 등)으로 실행함</a:t>
            </a:r>
            <a:endParaRPr lang="en-US" sz="1600" dirty="0"/>
          </a:p>
        </p:txBody>
      </p:sp>
      <p:sp>
        <p:nvSpPr>
          <p:cNvPr id="17" name="Shape 15"/>
          <p:cNvSpPr/>
          <p:nvPr/>
        </p:nvSpPr>
        <p:spPr>
          <a:xfrm>
            <a:off x="509321" y="4709160"/>
            <a:ext cx="6309360" cy="731520"/>
          </a:xfrm>
          <a:prstGeom prst="roundRect">
            <a:avLst>
              <a:gd name="adj" fmla="val 10000"/>
            </a:avLst>
          </a:prstGeom>
          <a:solidFill>
            <a:srgbClr val="F5F8FC"/>
          </a:solidFill>
          <a:ln w="12700">
            <a:solidFill>
              <a:srgbClr val="D9E0EC"/>
            </a:solidFill>
            <a:prstDash val="solid"/>
          </a:ln>
        </p:spPr>
      </p:sp>
      <p:sp>
        <p:nvSpPr>
          <p:cNvPr id="18" name="Shape 16"/>
          <p:cNvSpPr/>
          <p:nvPr/>
        </p:nvSpPr>
        <p:spPr>
          <a:xfrm>
            <a:off x="646481" y="4873752"/>
            <a:ext cx="402336" cy="402336"/>
          </a:xfrm>
          <a:prstGeom prst="roundRect">
            <a:avLst>
              <a:gd name="adj" fmla="val 11364"/>
            </a:avLst>
          </a:prstGeom>
          <a:solidFill>
            <a:srgbClr val="2E74C6"/>
          </a:solidFill>
          <a:ln/>
        </p:spPr>
      </p:sp>
      <p:sp>
        <p:nvSpPr>
          <p:cNvPr id="19" name="Text 17"/>
          <p:cNvSpPr/>
          <p:nvPr/>
        </p:nvSpPr>
        <p:spPr>
          <a:xfrm>
            <a:off x="646481" y="487375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20" name="Text 18"/>
          <p:cNvSpPr txBox="1"/>
          <p:nvPr/>
        </p:nvSpPr>
        <p:spPr>
          <a:xfrm>
            <a:off x="1149401" y="4709160"/>
            <a:ext cx="5532120" cy="73152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신호, ⑦ 판정, 종료 상태를 강사 결과와 비교함(툴 경로는 다를 수 있음)</a:t>
            </a:r>
            <a:endParaRPr lang="en-US" sz="1600" dirty="0"/>
          </a:p>
        </p:txBody>
      </p:sp>
      <p:sp>
        <p:nvSpPr>
          <p:cNvPr id="21" name="Shape 19"/>
          <p:cNvSpPr/>
          <p:nvPr/>
        </p:nvSpPr>
        <p:spPr>
          <a:xfrm>
            <a:off x="509321" y="5532120"/>
            <a:ext cx="6309360" cy="731520"/>
          </a:xfrm>
          <a:prstGeom prst="roundRect">
            <a:avLst>
              <a:gd name="adj" fmla="val 10000"/>
            </a:avLst>
          </a:prstGeom>
          <a:solidFill>
            <a:srgbClr val="F5F8FC"/>
          </a:solidFill>
          <a:ln w="12700">
            <a:solidFill>
              <a:srgbClr val="D9E0EC"/>
            </a:solidFill>
            <a:prstDash val="solid"/>
          </a:ln>
        </p:spPr>
      </p:sp>
      <p:sp>
        <p:nvSpPr>
          <p:cNvPr id="22" name="Shape 20"/>
          <p:cNvSpPr/>
          <p:nvPr/>
        </p:nvSpPr>
        <p:spPr>
          <a:xfrm>
            <a:off x="646481" y="5696712"/>
            <a:ext cx="402336" cy="402336"/>
          </a:xfrm>
          <a:prstGeom prst="roundRect">
            <a:avLst>
              <a:gd name="adj" fmla="val 11364"/>
            </a:avLst>
          </a:prstGeom>
          <a:solidFill>
            <a:srgbClr val="2E74C6"/>
          </a:solidFill>
          <a:ln/>
        </p:spPr>
      </p:sp>
      <p:sp>
        <p:nvSpPr>
          <p:cNvPr id="23" name="Text 21"/>
          <p:cNvSpPr/>
          <p:nvPr/>
        </p:nvSpPr>
        <p:spPr>
          <a:xfrm>
            <a:off x="646481" y="569671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5</a:t>
            </a:r>
            <a:endParaRPr lang="en-US" sz="1800" dirty="0"/>
          </a:p>
        </p:txBody>
      </p:sp>
      <p:sp>
        <p:nvSpPr>
          <p:cNvPr id="24" name="Text 22"/>
          <p:cNvSpPr txBox="1"/>
          <p:nvPr/>
        </p:nvSpPr>
        <p:spPr>
          <a:xfrm>
            <a:off x="1149401" y="5532120"/>
            <a:ext cx="5532120" cy="73152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막히면 이름을 목록에 다시 넣고 다음 함수로 넘어감</a:t>
            </a:r>
            <a:endParaRPr lang="en-US" sz="1600" dirty="0"/>
          </a:p>
        </p:txBody>
      </p:sp>
      <p:sp>
        <p:nvSpPr>
          <p:cNvPr id="25" name="Text 23"/>
          <p:cNvSpPr/>
          <p:nvPr/>
        </p:nvSpPr>
        <p:spPr>
          <a:xfrm>
            <a:off x="7047281" y="1737360"/>
            <a:ext cx="708660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완료 기준</a:t>
            </a:r>
            <a:endParaRPr lang="en-US" sz="1800" dirty="0"/>
          </a:p>
        </p:txBody>
      </p:sp>
      <p:sp>
        <p:nvSpPr>
          <p:cNvPr id="26" name="Text 24"/>
          <p:cNvSpPr/>
          <p:nvPr/>
        </p:nvSpPr>
        <p:spPr>
          <a:xfrm>
            <a:off x="7047281" y="2240280"/>
            <a:ext cx="7086600" cy="1737360"/>
          </a:xfrm>
          <a:prstGeom prst="roundRect">
            <a:avLst>
              <a:gd name="adj" fmla="val 5263"/>
            </a:avLst>
          </a:prstGeom>
          <a:solidFill>
            <a:srgbClr val="EEF3FA"/>
          </a:solidFill>
          <a:ln w="12700">
            <a:solidFill>
              <a:srgbClr val="D9E0EC"/>
            </a:solidFill>
          </a:ln>
        </p:spPr>
        <p:txBody>
          <a:bodyPr wrap="square" lIns="182880" tIns="128016" rIns="182880" bIns="91440" rtlCol="0" anchor="t"/>
          <a:lstStyle/>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USE_TEACHER_CODE가 빈 my_search.py로 Q01이 「답변 완료」, ⑨ 검증 통과</a:t>
            </a:r>
            <a:endParaRPr lang="en-US" sz="1500" dirty="0"/>
          </a:p>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Q19가 「확인할 수 없음」, 어느 단계에서 막혔는지 설명할 수 있음</a:t>
            </a:r>
            <a:endParaRPr lang="en-US" sz="1500" dirty="0"/>
          </a:p>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Q14에서 다른 회원 원문 0건</a:t>
            </a:r>
            <a:endParaRPr lang="en-US" sz="1500" dirty="0"/>
          </a:p>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제출: my_search.py와 Q01, Q19 실행 화면 캡처</a:t>
            </a:r>
            <a:endParaRPr lang="en-US" sz="1500" dirty="0"/>
          </a:p>
        </p:txBody>
      </p:sp>
      <p:sp>
        <p:nvSpPr>
          <p:cNvPr id="27" name="Text 25"/>
          <p:cNvSpPr/>
          <p:nvPr/>
        </p:nvSpPr>
        <p:spPr>
          <a:xfrm>
            <a:off x="7047281" y="4114800"/>
            <a:ext cx="708660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막혔을 때</a:t>
            </a:r>
            <a:endParaRPr lang="en-US" sz="1800" dirty="0"/>
          </a:p>
        </p:txBody>
      </p:sp>
      <p:sp>
        <p:nvSpPr>
          <p:cNvPr id="28" name="Text 26"/>
          <p:cNvSpPr/>
          <p:nvPr/>
        </p:nvSpPr>
        <p:spPr>
          <a:xfrm>
            <a:off x="7047281" y="4617720"/>
            <a:ext cx="7086600" cy="1645920"/>
          </a:xfrm>
          <a:prstGeom prst="roundRect">
            <a:avLst>
              <a:gd name="adj" fmla="val 5556"/>
            </a:avLst>
          </a:prstGeom>
          <a:solidFill>
            <a:srgbClr val="EEF3FA"/>
          </a:solidFill>
          <a:ln w="12700">
            <a:solidFill>
              <a:srgbClr val="D9E0EC"/>
            </a:solidFill>
          </a:ln>
        </p:spPr>
        <p:txBody>
          <a:bodyPr wrap="square" lIns="182880" tIns="128016" rIns="182880" bIns="91440" rtlCol="0" anchor="t"/>
          <a:lstStyle/>
          <a:p>
            <a:pPr algn="l" marL="228600" indent="-228600">
              <a:spcAft>
                <a:spcPts val="800"/>
              </a:spcAft>
              <a:buSzPct val="100000"/>
              <a:buChar char="•"/>
            </a:pPr>
            <a:r>
              <a:rPr lang="en-US" sz="1500" dirty="0">
                <a:solidFill>
                  <a:srgbClr val="2B3242"/>
                </a:solidFill>
                <a:latin typeface="Pretendard" pitchFamily="34" charset="0"/>
                <a:ea typeface="Pretendard" pitchFamily="34" charset="-122"/>
                <a:cs typeface="Pretendard" pitchFamily="34" charset="-120"/>
              </a:rPr>
              <a:t>NotImplementedError 빈칸 N: 아직 안 채움 또는 raise 줄을 안 지움</a:t>
            </a:r>
            <a:endParaRPr lang="en-US" sz="1500" dirty="0"/>
          </a:p>
          <a:p>
            <a:pPr algn="l" marL="228600" indent="-228600">
              <a:spcAft>
                <a:spcPts val="800"/>
              </a:spcAft>
              <a:buSzPct val="100000"/>
              <a:buChar char="•"/>
            </a:pPr>
            <a:r>
              <a:rPr lang="en-US" sz="1500" dirty="0">
                <a:solidFill>
                  <a:srgbClr val="2B3242"/>
                </a:solidFill>
                <a:latin typeface="Pretendard" pitchFamily="34" charset="0"/>
                <a:ea typeface="Pretendard" pitchFamily="34" charset="-122"/>
                <a:cs typeface="Pretendard" pitchFamily="34" charset="-120"/>
              </a:rPr>
              <a:t>[실습 함수 오류]와 Traceback: 본인 함수의 예외임</a:t>
            </a:r>
            <a:endParaRPr lang="en-US" sz="1500" dirty="0"/>
          </a:p>
          <a:p>
            <a:pPr algn="l" marL="228600" indent="-228600">
              <a:spcAft>
                <a:spcPts val="800"/>
              </a:spcAft>
              <a:buSzPct val="100000"/>
              <a:buChar char="•"/>
            </a:pPr>
            <a:r>
              <a:rPr lang="en-US" sz="1500" dirty="0">
                <a:solidFill>
                  <a:srgbClr val="2B3242"/>
                </a:solidFill>
                <a:latin typeface="Pretendard" pitchFamily="34" charset="0"/>
                <a:ea typeface="Pretendard" pitchFamily="34" charset="-122"/>
                <a:cs typeface="Pretendard" pitchFamily="34" charset="-120"/>
              </a:rPr>
              <a:t>429(호출 제한): 잠시 뒤 다시 실행</a:t>
            </a:r>
            <a:endParaRPr lang="en-US" sz="1500" dirty="0"/>
          </a:p>
          <a:p>
            <a:pPr algn="l" marL="228600" indent="-228600">
              <a:spcAft>
                <a:spcPts val="800"/>
              </a:spcAft>
              <a:buSzPct val="100000"/>
              <a:buChar char="•"/>
            </a:pPr>
            <a:r>
              <a:rPr lang="en-US" sz="1500" dirty="0">
                <a:solidFill>
                  <a:srgbClr val="2B3242"/>
                </a:solidFill>
                <a:latin typeface="Pretendard" pitchFamily="34" charset="0"/>
                <a:ea typeface="Pretendard" pitchFamily="34" charset="-122"/>
                <a:cs typeface="Pretendard" pitchFamily="34" charset="-120"/>
              </a:rPr>
              <a:t>강사와 툴 경로가 다름: 정상(신호와 판정으로 비교)</a:t>
            </a:r>
            <a:endParaRPr lang="en-US" sz="1500" dirty="0"/>
          </a:p>
        </p:txBody>
      </p:sp>
      <p:sp>
        <p:nvSpPr>
          <p:cNvPr id="29" name="Shape 27"/>
          <p:cNvSpPr/>
          <p:nvPr/>
        </p:nvSpPr>
        <p:spPr>
          <a:xfrm>
            <a:off x="509321" y="6355080"/>
            <a:ext cx="64008" cy="365760"/>
          </a:xfrm>
          <a:prstGeom prst="rect">
            <a:avLst/>
          </a:prstGeom>
          <a:solidFill>
            <a:srgbClr val="2E74C6"/>
          </a:solidFill>
          <a:ln/>
        </p:spPr>
      </p:sp>
      <p:sp>
        <p:nvSpPr>
          <p:cNvPr id="30" name="Text 28"/>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본인 함수에서 예외가 나면 감추지 않고 Traceback을 보여 주고 그 요청만 ⑩ 오류로 끝냄. 고리는 다시 돌지 않음</a:t>
            </a:r>
            <a:endParaRPr lang="en-US" sz="1600" dirty="0"/>
          </a:p>
        </p:txBody>
      </p:sp>
      <p:sp>
        <p:nvSpPr>
          <p:cNvPr id="31" name="Shape 29"/>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32" name="Text 30">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33" name="Shape 31"/>
          <p:cNvSpPr/>
          <p:nvPr/>
        </p:nvSpPr>
        <p:spPr>
          <a:xfrm>
            <a:off x="509321" y="7388352"/>
            <a:ext cx="13624560" cy="0"/>
          </a:xfrm>
          <a:prstGeom prst="line">
            <a:avLst/>
          </a:prstGeom>
          <a:noFill/>
          <a:ln w="12700">
            <a:solidFill>
              <a:srgbClr val="E9ECF3"/>
            </a:solidFill>
            <a:prstDash val="solid"/>
          </a:ln>
        </p:spPr>
      </p:sp>
      <p:sp>
        <p:nvSpPr>
          <p:cNvPr id="34" name="Text 32"/>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hands-on/solutions/graphrag/retriever/my_search.py, README.md 6장과 9장</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GraphRAG 검색 실습 가이드</dc:title>
  <dc:subject>PptxGenJS Presentation</dc:subject>
  <dc:creator>hybrid-ai 교육팀</dc:creator>
  <cp:lastModifiedBy>hybrid-ai 교육팀</cp:lastModifiedBy>
  <cp:revision>1</cp:revision>
  <dcterms:created xsi:type="dcterms:W3CDTF">2026-10-25T23:28:17Z</dcterms:created>
  <dcterms:modified xsi:type="dcterms:W3CDTF">2026-10-25T23:28:17Z</dcterms:modified>
</cp:coreProperties>
</file>