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④ 툴 실행 – 엔티티 직접 검색(find_entities, get_source_chunks)
「M-0000 회원의 첫 상담 불만은?」처럼 대상이 분명한 질문은 검색엔진보다 그래프에서 바로 찾는 편이 빠르고 정확합니다. find_entities가 그 일을 합니다.
처음에는 이름이 정확히 같은 엔티티를 찾으려 했습니다. 그런데 인덱싱한 그래프에는 공통 이름 속성이 없었습니다. 카드는 card_name, 조항은 clause_no, 상담은 record_id처럼 레이블마다 키가 다릅니다. 회원 노드도 없어서 상담 노드를 가명 id로 찾습니다. 그래서 E1이 레이블별로 글을 정리하고, E2가 레이블별 키로 찾습니다.
찾지 못하면 오류 대신 E3이 가까운 후보 3개를 돌려줍니다. 후보는 K6에서 만든 노드 설명 임베딩의 유사도로 고릅니다.
엔티티만으로는 답의 근거가 되지 않습니다. 답은 원문으로 확인해야 하므로 get_source_chunks로 그 엔티티가 나온 청크를 붙입니다. R2가 결과 청크를 식별자 필터로 다시 걸러, 엔티티 id로 다른 회원의 청크에 닿는 우회를 막습니다. 가져온 원문은 툴 안에서 거르지 않고 ⑤로 넘깁니다. 질의가 없는 툴이라 ⑤가 원 질문으로 채점합니다.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⑤ 채점 – 진단 신호와 Jev 원문 판정
⑤는 툴 결과마다 두 가지를 붙입니다. 하나는 코드가 계산하는 진단 신호이고, 하나는 Jev가 원문마다 내리는 판정입니다.
신호는 「왜 부족한가」를 알려 줍니다. 예를 들어 NO_COOCCUR는 질문의 핵심 명사 두 개가 한 문장에 함께 나온 근거가 없다는 뜻입니다. 「A카드의 B혜택」을 묻는데 B혜택이 다른 카드에만 있으면 이 신호가 납니다.
진단 신호와 그 기준값은 이 설계에서 정한 가정값입니다. 검색 결과를 채점해 다음 행동을 정하는 틀은 CRAG에서 왔지만, 신호의 종류와 값은 우리가 정했고 평가셋으로 조정합니다.
Jev 판정의 기준값은 TypeSafe 공식 쿡북(Classifying RAG passages)의 출발값입니다. 우리 원문은 한국어라 평가셋으로 다시 맞춥니다.
get_source_chunks처럼 질의 없이 엔티티로 가져온 원문은 비교할 질의가 없어서 원 질문으로 채점합니다. 원 질문과 겹치는 낱말이 적은 원문도 버리지 않고 표시만 합니다. 「A카드는 실적 우대 혜택을 제공함」처럼 관계로 이어져 정답의 한쪽이 되는 원문일 수 있기 때문입니다(⑦ 조건 ②).
NO_NEW는 Jev가 관련 있다고 본 새 원문이 없는 경우입니다. 세는 일은 Jev가 아니라 코드가 합니다. Jev는 세기에 약하다고 공식 문서가 밝히기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cs.typesafe.ai/cookbooks/classifying_rag_passages"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④ 툴 실행 – 엔티티 직접 검색(find_entities, get_source_chunks)</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찾을 대상이 분명하면 검색엔진을 거치지 않고 엔티티부터 찾고, 원문은 따로 붙임</a:t>
            </a:r>
            <a:endParaRPr lang="en-US" sz="1800" dirty="0"/>
          </a:p>
        </p:txBody>
      </p:sp>
      <p:sp>
        <p:nvSpPr>
          <p:cNvPr id="4" name="Shape 2"/>
          <p:cNvSpPr/>
          <p:nvPr/>
        </p:nvSpPr>
        <p:spPr>
          <a:xfrm>
            <a:off x="509321" y="1737360"/>
            <a:ext cx="13624560" cy="1280160"/>
          </a:xfrm>
          <a:prstGeom prst="roundRect">
            <a:avLst>
              <a:gd name="adj" fmla="val 7143"/>
            </a:avLst>
          </a:prstGeom>
          <a:solidFill>
            <a:srgbClr val="F5F8FC"/>
          </a:solidFill>
          <a:ln w="12700">
            <a:solidFill>
              <a:srgbClr val="D9E0EC"/>
            </a:solidFill>
            <a:prstDash val="solid"/>
          </a:ln>
        </p:spPr>
      </p:sp>
      <p:sp>
        <p:nvSpPr>
          <p:cNvPr id="5" name="Text 3"/>
          <p:cNvSpPr/>
          <p:nvPr/>
        </p:nvSpPr>
        <p:spPr>
          <a:xfrm>
            <a:off x="619049" y="1847088"/>
            <a:ext cx="2651760" cy="1060704"/>
          </a:xfrm>
          <a:prstGeom prst="roundRect">
            <a:avLst>
              <a:gd name="adj" fmla="val 6897"/>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find_entities(E)</a:t>
            </a:r>
            <a:endParaRPr lang="en-US" sz="1800" dirty="0"/>
          </a:p>
        </p:txBody>
      </p:sp>
      <p:sp>
        <p:nvSpPr>
          <p:cNvPr id="6" name="Text 4"/>
          <p:cNvSpPr/>
          <p:nvPr/>
        </p:nvSpPr>
        <p:spPr>
          <a:xfrm>
            <a:off x="3435401" y="1847088"/>
            <a:ext cx="2386584" cy="566928"/>
          </a:xfrm>
          <a:prstGeom prst="roundRect">
            <a:avLst>
              <a:gd name="adj" fmla="val 1612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E1 정규화</a:t>
            </a:r>
            <a:endParaRPr lang="en-US" sz="1800" dirty="0"/>
          </a:p>
        </p:txBody>
      </p:sp>
      <p:sp>
        <p:nvSpPr>
          <p:cNvPr id="7" name="Shape 5"/>
          <p:cNvSpPr/>
          <p:nvPr/>
        </p:nvSpPr>
        <p:spPr>
          <a:xfrm>
            <a:off x="5858561" y="2130552"/>
            <a:ext cx="274320" cy="0"/>
          </a:xfrm>
          <a:prstGeom prst="line">
            <a:avLst/>
          </a:prstGeom>
          <a:noFill/>
          <a:ln w="22225">
            <a:solidFill>
              <a:srgbClr val="2E74C6"/>
            </a:solidFill>
            <a:prstDash val="solid"/>
            <a:tailEnd type="triangle"/>
          </a:ln>
        </p:spPr>
      </p:sp>
      <p:sp>
        <p:nvSpPr>
          <p:cNvPr id="8" name="Text 6"/>
          <p:cNvSpPr/>
          <p:nvPr/>
        </p:nvSpPr>
        <p:spPr>
          <a:xfrm>
            <a:off x="6169457" y="1847088"/>
            <a:ext cx="2386584" cy="566928"/>
          </a:xfrm>
          <a:prstGeom prst="roundRect">
            <a:avLst>
              <a:gd name="adj" fmla="val 1612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E2 키 찾기</a:t>
            </a:r>
            <a:endParaRPr lang="en-US" sz="1800" dirty="0"/>
          </a:p>
        </p:txBody>
      </p:sp>
      <p:sp>
        <p:nvSpPr>
          <p:cNvPr id="9" name="Shape 7"/>
          <p:cNvSpPr/>
          <p:nvPr/>
        </p:nvSpPr>
        <p:spPr>
          <a:xfrm>
            <a:off x="8592617" y="2130552"/>
            <a:ext cx="274320" cy="0"/>
          </a:xfrm>
          <a:prstGeom prst="line">
            <a:avLst/>
          </a:prstGeom>
          <a:noFill/>
          <a:ln w="22225">
            <a:solidFill>
              <a:srgbClr val="2E74C6"/>
            </a:solidFill>
            <a:prstDash val="solid"/>
            <a:tailEnd type="triangle"/>
          </a:ln>
        </p:spPr>
      </p:sp>
      <p:sp>
        <p:nvSpPr>
          <p:cNvPr id="10" name="Text 8"/>
          <p:cNvSpPr/>
          <p:nvPr/>
        </p:nvSpPr>
        <p:spPr>
          <a:xfrm>
            <a:off x="8903513" y="1847088"/>
            <a:ext cx="2386584" cy="566928"/>
          </a:xfrm>
          <a:prstGeom prst="roundRect">
            <a:avLst>
              <a:gd name="adj" fmla="val 16129"/>
            </a:avLst>
          </a:prstGeom>
          <a:solidFill>
            <a:srgbClr val="404155"/>
          </a:solidFill>
          <a:ln/>
        </p:spPr>
        <p:txBody>
          <a:bodyPr wrap="square" lIns="63500" tIns="38100" rIns="63500" bIns="3810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E3 후보 제시(0건일 때)</a:t>
            </a:r>
            <a:endParaRPr lang="en-US" sz="1700" dirty="0"/>
          </a:p>
        </p:txBody>
      </p:sp>
      <p:sp>
        <p:nvSpPr>
          <p:cNvPr id="11" name="Shape 9"/>
          <p:cNvSpPr/>
          <p:nvPr/>
        </p:nvSpPr>
        <p:spPr>
          <a:xfrm>
            <a:off x="11326673" y="2130552"/>
            <a:ext cx="274320" cy="0"/>
          </a:xfrm>
          <a:prstGeom prst="line">
            <a:avLst/>
          </a:prstGeom>
          <a:noFill/>
          <a:ln w="22225">
            <a:solidFill>
              <a:srgbClr val="2E74C6"/>
            </a:solidFill>
            <a:prstDash val="solid"/>
            <a:tailEnd type="triangle"/>
          </a:ln>
        </p:spPr>
      </p:sp>
      <p:sp>
        <p:nvSpPr>
          <p:cNvPr id="12" name="Text 10"/>
          <p:cNvSpPr/>
          <p:nvPr/>
        </p:nvSpPr>
        <p:spPr>
          <a:xfrm>
            <a:off x="11637569" y="1847088"/>
            <a:ext cx="2386584" cy="566928"/>
          </a:xfrm>
          <a:prstGeom prst="roundRect">
            <a:avLst>
              <a:gd name="adj" fmla="val 1612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E4 이웃 탐색</a:t>
            </a:r>
            <a:endParaRPr lang="en-US" sz="1800" dirty="0"/>
          </a:p>
        </p:txBody>
      </p:sp>
      <p:sp>
        <p:nvSpPr>
          <p:cNvPr id="13" name="Text 11"/>
          <p:cNvSpPr txBox="1"/>
          <p:nvPr/>
        </p:nvSpPr>
        <p:spPr>
          <a:xfrm>
            <a:off x="3435401" y="2450592"/>
            <a:ext cx="10607040" cy="512064"/>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E1, E2는 레이블별 키(아래 표)로 찾음. 0건이면 E3이 노드 설명 임베딩(K6)으로 가까운 엔티티 3개를 후보로. E4는 L3과 같은 방식이며 원문은 붙이지 않음</a:t>
            </a:r>
            <a:endParaRPr lang="en-US" sz="1500" dirty="0"/>
          </a:p>
        </p:txBody>
      </p:sp>
      <p:sp>
        <p:nvSpPr>
          <p:cNvPr id="14" name="Shape 12"/>
          <p:cNvSpPr/>
          <p:nvPr/>
        </p:nvSpPr>
        <p:spPr>
          <a:xfrm>
            <a:off x="509321" y="3154680"/>
            <a:ext cx="13624560" cy="1280160"/>
          </a:xfrm>
          <a:prstGeom prst="roundRect">
            <a:avLst>
              <a:gd name="adj" fmla="val 7143"/>
            </a:avLst>
          </a:prstGeom>
          <a:solidFill>
            <a:srgbClr val="F5F8FC"/>
          </a:solidFill>
          <a:ln w="12700">
            <a:solidFill>
              <a:srgbClr val="D9E0EC"/>
            </a:solidFill>
            <a:prstDash val="solid"/>
          </a:ln>
        </p:spPr>
      </p:sp>
      <p:sp>
        <p:nvSpPr>
          <p:cNvPr id="15" name="Text 13"/>
          <p:cNvSpPr/>
          <p:nvPr/>
        </p:nvSpPr>
        <p:spPr>
          <a:xfrm>
            <a:off x="619049" y="3264408"/>
            <a:ext cx="2651760" cy="1060704"/>
          </a:xfrm>
          <a:prstGeom prst="roundRect">
            <a:avLst>
              <a:gd name="adj" fmla="val 6897"/>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get_source_chunks(R)</a:t>
            </a:r>
            <a:endParaRPr lang="en-US" sz="1800" dirty="0"/>
          </a:p>
        </p:txBody>
      </p:sp>
      <p:sp>
        <p:nvSpPr>
          <p:cNvPr id="16" name="Text 14"/>
          <p:cNvSpPr/>
          <p:nvPr/>
        </p:nvSpPr>
        <p:spPr>
          <a:xfrm>
            <a:off x="3435401" y="3264408"/>
            <a:ext cx="5120640" cy="566928"/>
          </a:xfrm>
          <a:prstGeom prst="roundRect">
            <a:avLst>
              <a:gd name="adj" fmla="val 1612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R1 원문 찾기(FROM_CHUNK)</a:t>
            </a:r>
            <a:endParaRPr lang="en-US" sz="1800" dirty="0"/>
          </a:p>
        </p:txBody>
      </p:sp>
      <p:sp>
        <p:nvSpPr>
          <p:cNvPr id="17" name="Shape 15"/>
          <p:cNvSpPr/>
          <p:nvPr/>
        </p:nvSpPr>
        <p:spPr>
          <a:xfrm>
            <a:off x="8592617" y="3547872"/>
            <a:ext cx="274320" cy="0"/>
          </a:xfrm>
          <a:prstGeom prst="line">
            <a:avLst/>
          </a:prstGeom>
          <a:noFill/>
          <a:ln w="22225">
            <a:solidFill>
              <a:srgbClr val="2E74C6"/>
            </a:solidFill>
            <a:prstDash val="solid"/>
            <a:tailEnd type="triangle"/>
          </a:ln>
        </p:spPr>
      </p:sp>
      <p:sp>
        <p:nvSpPr>
          <p:cNvPr id="18" name="Text 16"/>
          <p:cNvSpPr/>
          <p:nvPr/>
        </p:nvSpPr>
        <p:spPr>
          <a:xfrm>
            <a:off x="8903513" y="3264408"/>
            <a:ext cx="5120640" cy="566928"/>
          </a:xfrm>
          <a:prstGeom prst="roundRect">
            <a:avLst>
              <a:gd name="adj" fmla="val 1612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R2 필터 다시 걸기</a:t>
            </a:r>
            <a:endParaRPr lang="en-US" sz="1800" dirty="0"/>
          </a:p>
        </p:txBody>
      </p:sp>
      <p:sp>
        <p:nvSpPr>
          <p:cNvPr id="19" name="Text 17"/>
          <p:cNvSpPr txBox="1"/>
          <p:nvPr/>
        </p:nvSpPr>
        <p:spPr>
          <a:xfrm>
            <a:off x="3435401" y="3867912"/>
            <a:ext cx="10607040" cy="512064"/>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R1은 엔티티에서 FROM_CHUNK 관계로 원문 청크를 가져옴(with_reports면 보고서도). R2는 다른 회원 청크를 필터로 걸러 냄. 채점은 ⑤에서 원 질문으로 함</a:t>
            </a:r>
            <a:endParaRPr lang="en-US" sz="15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9321" y="4572000"/>
          <a:ext cx="13624560" cy="914400"/>
        </p:xfrm>
        <a:graphic>
          <a:graphicData uri="http://schemas.openxmlformats.org/drawingml/2006/table">
            <a:tbl>
              <a:tblPr/>
              <a:tblGrid>
                <a:gridCol w="3657600"/>
                <a:gridCol w="4754880"/>
                <a:gridCol w="5212080"/>
              </a:tblGrid>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레이블(E2 키 찾기)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키 속성</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E1 맞추는 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354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ProductGuide(카드)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card_name, product_id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「카드」 접미어 빼기, 별칭표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354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Clause(조항)</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clause_no</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「제10조①」과 「10조 1항」을 같은 꼴로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354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Consultation(상담)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member_pseudo_id, record_id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②가 바꾼 가명 id만 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354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Benefit(혜택)</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name, benefit_id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공백, 괄호 정리</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354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TermsDocument(약관)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version</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활성 약관 버전만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⑤ 채점 – 진단 신호와 Jev 원문 판정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코드가 신호를 매기고 Jev가 원문마다 쓸모를 판정해, 툴 결과와 함께 에이전트의 관찰로 돌려줌</a:t>
            </a:r>
            <a:endParaRPr lang="en-US" sz="1800" dirty="0"/>
          </a:p>
        </p:txBody>
      </p:sp>
      <p:sp>
        <p:nvSpPr>
          <p:cNvPr id="4" name="Text 2"/>
          <p:cNvSpPr/>
          <p:nvPr/>
        </p:nvSpPr>
        <p:spPr>
          <a:xfrm>
            <a:off x="509321" y="1737360"/>
            <a:ext cx="832104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진단 신호(코드)</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9321" y="2267712"/>
          <a:ext cx="8321040" cy="914400"/>
        </p:xfrm>
        <a:graphic>
          <a:graphicData uri="http://schemas.openxmlformats.org/drawingml/2006/table">
            <a:tbl>
              <a:tblPr/>
              <a:tblGrid>
                <a:gridCol w="2377440"/>
                <a:gridCol w="3200400"/>
                <a:gridCol w="274320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신호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판정 규칙(가정값)</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권장 행동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PASS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포함률 0.6 이상, 원문 2개 이상</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finish(sufficient)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NO_COOCCUR</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핵심 명사 두 개가 한 문장에 함께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나눠 찾기 1번, 남으면 확인 불가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NO_SEED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검색 결과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질의를 다시 써서 검색</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LOW_COVERAGE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포함률 0.6 미만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나누거나 다시 써서 검색</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SCATTERED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원문이 문서 3종 이상에 흩어짐</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global_search로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NO_REPORTS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관련 보고서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local_search로 사실부터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NO_NEW</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관련 있는 새 원문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finish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6" name="Text 3"/>
          <p:cNvSpPr/>
          <p:nvPr/>
        </p:nvSpPr>
        <p:spPr>
          <a:xfrm>
            <a:off x="9104681" y="1737360"/>
            <a:ext cx="5029200" cy="411480"/>
          </a:xfrm>
          <a:prstGeom prst="roundRect">
            <a:avLst>
              <a:gd name="adj" fmla="val 8889"/>
            </a:avLst>
          </a:prstGeom>
          <a:solidFill>
            <a:srgbClr val="2E74C6"/>
          </a:solid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Jev 원문 판정(원문마다 Noul 4개)</a:t>
            </a:r>
            <a:endParaRPr lang="en-US" sz="17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9104681" y="2267712"/>
          <a:ext cx="5029200" cy="914400"/>
        </p:xfrm>
        <a:graphic>
          <a:graphicData uri="http://schemas.openxmlformats.org/drawingml/2006/table">
            <a:tbl>
              <a:tblPr/>
              <a:tblGrid>
                <a:gridCol w="2743200"/>
                <a:gridCol w="228600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묻는 것</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결정(출발값)</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7548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질문의 주제를 다루나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0.45 미만이면 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바로 답이 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0.55 초과면 답 근거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7548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질문의 전제와 어긋나나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0.7 초과면 전제 충돌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시스템을 조종하려 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0.7 초과면 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8" name="Text 4"/>
          <p:cNvSpPr/>
          <p:nvPr/>
        </p:nvSpPr>
        <p:spPr>
          <a:xfrm>
            <a:off x="9104681" y="4718304"/>
            <a:ext cx="5029200" cy="1161288"/>
          </a:xfrm>
          <a:prstGeom prst="roundRect">
            <a:avLst>
              <a:gd name="adj" fmla="val 7874"/>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700" b="1" dirty="0">
                <a:solidFill>
                  <a:srgbClr val="1E2A5C"/>
                </a:solidFill>
                <a:latin typeface="Pretendard" pitchFamily="34" charset="0"/>
                <a:ea typeface="Pretendard" pitchFamily="34" charset="-122"/>
                <a:cs typeface="Pretendard" pitchFamily="34" charset="-120"/>
              </a:rPr>
              <a:t>질의가 없는 툴의 채점</a:t>
            </a:r>
            <a:endParaRPr lang="en-US" sz="1700" dirty="0"/>
          </a:p>
          <a:p>
            <a:pPr algn="l" indent="0" marL="0">
              <a:spcAft>
                <a:spcPts val="600"/>
              </a:spcAft>
              <a:buNone/>
            </a:pPr>
            <a:r>
              <a:rPr lang="en-US" sz="1400" dirty="0">
                <a:solidFill>
                  <a:srgbClr val="2B3242"/>
                </a:solidFill>
                <a:latin typeface="Pretendard" pitchFamily="34" charset="0"/>
                <a:ea typeface="Pretendard" pitchFamily="34" charset="-122"/>
                <a:cs typeface="Pretendard" pitchFamily="34" charset="-120"/>
              </a:rPr>
              <a:t>get_source_chunks 결과는 질의가 없어 원 질문으로 채점. 관련 낮은 청크도 버리지 않고 표시(관계로 이어진 근거일 수 있음)</a:t>
            </a:r>
            <a:endParaRPr lang="en-US" sz="1700" dirty="0"/>
          </a:p>
        </p:txBody>
      </p:sp>
      <p:sp>
        <p:nvSpPr>
          <p:cNvPr id="9" name="Shape 5"/>
          <p:cNvSpPr/>
          <p:nvPr/>
        </p:nvSpPr>
        <p:spPr>
          <a:xfrm>
            <a:off x="509321" y="5989320"/>
            <a:ext cx="64008" cy="502920"/>
          </a:xfrm>
          <a:prstGeom prst="rect">
            <a:avLst/>
          </a:prstGeom>
          <a:solidFill>
            <a:srgbClr val="2E74C6"/>
          </a:solidFill>
          <a:ln/>
        </p:spPr>
      </p:sp>
      <p:sp>
        <p:nvSpPr>
          <p:cNvPr id="10" name="Text 6"/>
          <p:cNvSpPr txBox="1"/>
          <p:nvPr/>
        </p:nvSpPr>
        <p:spPr>
          <a:xfrm>
            <a:off x="692201" y="5989320"/>
            <a:ext cx="13441680" cy="502920"/>
          </a:xfrm>
          <a:prstGeom prst="rect">
            <a:avLst/>
          </a:prstGeom>
          <a:noFill/>
          <a:ln/>
        </p:spPr>
        <p:txBody>
          <a:bodyPr wrap="square" lIns="0" tIns="0" rIns="0" bIns="0" rtlCol="0" anchor="ctr"/>
          <a:lstStyle/>
          <a:p>
            <a:pPr indent="0" marL="0">
              <a:buNone/>
            </a:pPr>
            <a:r>
              <a:rPr lang="en-US" sz="1600" b="1" i="1" dirty="0">
                <a:solidFill>
                  <a:srgbClr val="1E2A5C"/>
                </a:solidFill>
                <a:latin typeface="Pretendard" pitchFamily="34" charset="0"/>
                <a:ea typeface="Pretendard" pitchFamily="34" charset="-122"/>
                <a:cs typeface="Pretendard" pitchFamily="34" charset="-120"/>
              </a:rPr>
              <a:t>권장 행동은 지침일 뿐 따르지 않아도 됨. 반드시 지킬 것은 다음 장의 상한과 ⑦의 재확인이 막음</a:t>
            </a:r>
            <a:endParaRPr lang="en-US" sz="1600" dirty="0"/>
          </a:p>
        </p:txBody>
      </p:sp>
      <p:sp>
        <p:nvSpPr>
          <p:cNvPr id="11" name="Text 7"/>
          <p:cNvSpPr txBox="1"/>
          <p:nvPr/>
        </p:nvSpPr>
        <p:spPr>
          <a:xfrm>
            <a:off x="509321" y="6556248"/>
            <a:ext cx="13624560" cy="713232"/>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 진단 신호와 기준값은 이 설계의 가정값(평가셋으로 조정 예정). Jev 판정 기준값은 </a:t>
            </a:r>
            <a:pPr indent="0" marL="0">
              <a:buNone/>
            </a:pPr>
            <a:r>
              <a:rPr lang="en-US" sz="1400" u="sng" dirty="0">
                <a:solidFill>
                  <a:srgbClr val="2E74C6"/>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TypeSafe 공식 쿡북</a:t>
            </a:r>
            <a:pPr indent="0" marL="0">
              <a:buNone/>
            </a:pPr>
            <a:r>
              <a:rPr lang="en-US" sz="1400" dirty="0">
                <a:solidFill>
                  <a:srgbClr val="4A5364"/>
                </a:solidFill>
                <a:latin typeface="Pretendard" pitchFamily="34" charset="0"/>
                <a:ea typeface="Pretendard" pitchFamily="34" charset="-122"/>
                <a:cs typeface="Pretendard" pitchFamily="34" charset="-120"/>
              </a:rPr>
              <a:t>의 출발값</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그래프 검색 교재</dc:title>
  <dc:subject>PptxGenJS Presentation</dc:subject>
  <dc:creator>hybrid-ai 교육팀</dc:creator>
  <cp:lastModifiedBy>hybrid-ai 교육팀</cp:lastModifiedBy>
  <cp:revision>1</cp:revision>
  <dcterms:created xsi:type="dcterms:W3CDTF">2026-10-25T07:54:48Z</dcterms:created>
  <dcterms:modified xsi:type="dcterms:W3CDTF">2026-10-25T07:54:48Z</dcterms:modified>
</cp:coreProperties>
</file>