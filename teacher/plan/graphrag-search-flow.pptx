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검색 워크플로우: 질문의 답이 있는 자리에 따라 길을 나눔
평가셋 25문항 중 Q01 ~ Q17은 사실, Q23과 Q24는 경향, Q25는 경향과 사실을 함께 묻습니다.
Q18 ~ Q22 다섯 문항은 answerable이 false인 함정 질문입니다. 검색 방식이 아니라 결과로 다룹니다.
「하이브리드」라는 말이 세 가지 뜻으로 쓰여 혼동이 생기므로 이 장에서 약속을 먼저 정합니다.
상세 문서: https://github.com/unicorn-campus/hybrid-ai/blob/main/teacher/plan/graphrag-search-flow.md#1-왜-세-가지-검색인가-why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실무 Best Practice: 질문 유형별로 길을 나누고, 후보와 홉 수를 묶음
https://arxiv.org/html/2506.05690v3 (단순 사실과 요약에서 RAG와 GraphRAG 비교, 토큰 수치)
https://opensearch.org/blog/introducing-reciprocal-rank-fusion-hybrid-search/ (OpenSearch 2.19 RRF, 기본 k 60)
https://docs.digitalocean.com/products/vector-databases/opensearch/concepts/hybrid-search/ (k는 최종의 3배 이상, 필터는 두 갈래에 똑같이)
https://raw.githubusercontent.com/microsoft/graphrag/main/docs/query/local_search.md (Local 컨텍스트 구성)
https://www.microsoft.com/en-us/research/blog/graphrag-improving-global-search-via-dynamic-community-selection/ (77% 절감, 데이터셋 1개와 질문 50개 기준)
https://raw.githubusercontent.com/microsoft/graphrag/main/docs/query/drift_search.md (Primer, Follow-up, Output)
https://neo4j.com/blog/developer/microsoft-graphrag-neo4j/ (엔티티 검색에 키워드 병행 권고)
Microsoft GraphRAG 저장소는 유지보수 모드로 표시되어 있습니다. 개념은 참고하되 구현은 Neo4j와 OpenSearch로 직접 합니다.
상세 문서: https://github.com/unicorn-campus/hybrid-ai/blob/main/teacher/plan/graphrag-search-flow.md#2-실무-best-practice-조사-요약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 전체 흐름: 앞단에서 조건을 고정하고, 라우터가 세 길 중 하나로 보냄
v0는 라우터를 먼저 부르고 그 뒤에 활성 세대를 읽습니다. 플로니 리뷰에서 세대 고정을 첫 노드로 올렸습니다.
질문 벡터는 한 번만 계산해 청크 갈래, 엔티티 갈래, 보고서 검색이 같이 씁니다.
라우터가 답 꼴을 지키지 못하면 Local로 보냅니다. Local도 보고서를 함께 넣으므로 거시 질문을 잘못 보내도 맥락이 남습니다.
상세 문서: https://github.com/unicorn-campus/hybrid-ai/blob/main/teacher/plan/graphrag-search-flow.md#3-전체-흐름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 Local Search: 세 갈래로 시작점을 찾고, 1-hop으로 넓혀 원문 위주로 답함
v0 청크 갈래는 BM25 10개와 벡터 10개를 RRF로 합쳐 4개를 고릅니다. 리랭커를 붙이려면 고를 후보가 있어야 하므로 25개씩으로 늘립니다.
엔티티 벡터만으로는 「한빛 가족돌봄 카드」, 「연회비 면제」처럼 낱말이 중요한 질문(Q01, Q09)의 시작점을 놓쳐 청크 갈래를 더했습니다.
지식니 확인: 상담 청크 260개 본문에 M-1042가 한 번도 나오지 않습니다. 회원번호는 가명 id로 바꿔 메타데이터 필터로 써야 합니다.
이름 갈래는 정식 카드명과 조항 번호처럼 정확히 같은 값이 있는 것만 맡습니다.
상세 문서: https://github.com/unicorn-campus/hybrid-ai/blob/main/teacher/plan/graphrag-search-flow.md#4-local-search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 Local Search 상세: 한 번의 Cypher로 이웃, 원문, 보고서를 함께 가져옴
발췌는 실제 소스의 줄 순서를 따르고, 긴 맵 리터럴만 {...}로 줄였습니다. ①②③ 번호와 「질문과 비슷한 이웃부터」 주석은 설명용으로 더했습니다.
neo4j-graphrag의 VectorCypherRetriever가 벡터로 엔티티를 찾은 뒤 이 Cypher를 이어서 실행합니다. filters로 활성 세대만 봅니다.
Microsoft 기본값은 원문 0.5, 커뮤니티 0.15이고 나머지 0.35를 엔티티와 관계 몫으로 해석했습니다. 원문에 명시된 해석은 아닙니다.
v0는 몫 대신 건수와 글자 상한(MAX_CHUNKS 5, CHUNK_CHARS 700)으로 자릅니다. 청크 갈래 4개가 원문 칸 5개 중 4개를 먼저 차지합니다.
상세 문서: https://github.com/unicorn-campus/hybrid-ai/blob/main/teacher/plan/graphrag-search-flow.md#4-local-search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 Global Search: 관련 보고서를 묶음마다 요약하고, 점수 높은 것만 합쳐 답함
v0는 보고서 벡터로 상위 5개를 고른 뒤 바로 답합니다. Map과 Reduce는 확장입니다.
지식니 의견: 청크 260개, 묶음 최소 크기 3이면 보고서 수가 많지 않을 것으로 보여 전부 읽는 편이 단순하고 재현율이 높습니다. 실제 보고서 수는 재색인 뒤 확인합니다.
Map은 보고서 묶음마다 LLM을 한 번씩 부르므로 묶음 수가 곧 비용입니다. 동시 호출은 전역 4개로 묶습니다.
지식니 확인: 상담 그래프 스키마의 노드는 Consultation, Complaint, Proposal, ReconsiderCondition 4종이고 고객군은 없습니다.
상세 문서: https://github.com/unicorn-campus/hybrid-ai/blob/main/teacher/plan/graphrag-search-flow.md#5-global-search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 Hybrid Search: 보고서로 주제를 먼저 잡고, 주제마다 Local로 근거를 붙임
Microsoft DRIFT 기본값은 후속 질문 20개, 깊이 3입니다. 교육용으로 라운드 1회, 후속 질문 5개로 줄였습니다.
DRIFT는 후속 질문마다 중간 답을 만들지만, 이 구성은 검색만 하고 마지막에 한 번 답해 LLM 호출을 3회로 묶습니다.
후속 질문 수는 지식니(주제당 1개, 상한 6)와 플로니(3개, 동시성 부담) 의견을 합쳐 주제당 1개, 상한 5로 정했습니다.
예시 흐름은 설명용 가정입니다. 실제 주제와 조항은 실행 결과로 확인합니다.
상세 문서: https://github.com/unicorn-campus/hybrid-ai/blob/main/teacher/plan/graphrag-search-flow.md#6-hybrid-search-주제-후-근거-검색-확장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 세 방식 비교: 무엇에서 출발하고 얼마나 드는가
LLM 호출 수는 설계로 계산한 값입니다. 형식 오류 재시도는 넣지 않았습니다.
토큰과 지연은 아직 측정하지 않았습니다. 10장의 실행 순서 1번이 기준선 측정입니다.
상세 문서: https://github.com/unicorn-campus/hybrid-ai/blob/main/teacher/plan/graphrag-search-flow.md#3-전체-흐름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9: 실행 규칙과 실패 대체: 막히면 한 단계 낮춰서라도 답함
v0 LLM 호출은 429와 5xx에서 6번까지 다시 부르고 한 번에 최대 90초를 기다립니다. 색인에는 맞지만 질의에서는 라우터 하나가 몇 분 멈출 수 있습니다.
그래서 질의 경로는 재시도 횟수와 대기 상한을 따로 둡니다.
Hybrid는 후속 질문 검색이 동시에 여러 개 돌므로 LLM과 Neo4j 세션의 전역 상한이 필요합니다.
LangGraph API 이름(Send, RetryPolicy 등)은 구현 전에 공식 문서로 다시 확인합니다.
상세 문서: https://github.com/unicorn-campus/hybrid-ai/blob/main/teacher/plan/graphrag-search-flow.md#7-실행-규칙과-실패-대체-플로니-리뷰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10: 바깥 계약: 오래 걸리는 검색은 단계 이벤트로 흘려 보냄
v0 search()는 마지막에 dict 하나만 돌려줘서 진행 표시를 할 수 없습니다. 단계 이벤트를 내는 생성기로 바꿉니다.
v0 답은 JSON 모드라 토큰을 흘려 보낼 수 없습니다. 답은 평문으로 흘리고 인용 검사는 끝난 뒤에 합니다.
공개 mode 이름은 local, global, hybrid로 정리하고, 보고서를 뺀 비교용은 디버그 옵션으로 뺍니다.
연결이 끊기면 진행 중인 LLM 호출을 취소합니다.
상세 문서: https://github.com/unicorn-campus/hybrid-ai/blob/main/teacher/plan/graphrag-search-flow.md#8-바깥-계약-스택니-리뷰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11: 팀원 리뷰: 네 명 모두 「수정 후 사용」, 지적 사항은 모두 반영함
리뷰는 토론형으로 진행했습니다. 네 명이 같은 초안을 서로의 의견을 보지 않고 따로 읽었습니다.
리뷰에서 나온 사실 주장 세 가지(회원번호 0건, 700자 넘는 청크 131개, 429 재시도 6회와 최대 90초 대기)는 클로니가 다시 확인했습니다.
상세 문서: https://github.com/unicorn-campus/hybrid-ai/blob/main/teacher/plan/graphrag-search-flow.md#11-리뷰-기록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12: 최종안: 측정부터 하고, Local을 다지고, Global과 Hybrid를 차례로 넓힘
평가셋에는 지금 정답 경로 필드가 없어 라우팅 정확도를 잴 수 없습니다. 라벨부터 붙입니다.
원문을 700자에서 자르면 검색이 맞아도 정답 문장이 잘려 적중률이 낮게 나옵니다. 상한을 올린 뒤 기준선을 잽니다.
거절률 목표값은 실측 전까지 가정값으로 둡니다.
https://docs.ragas.io/en/stable/concepts/metrics/available_metrics/faithfulness/
상세 문서: https://github.com/unicorn-campus/hybrid-ai/blob/main/teacher/plan/graphrag-search-flow.md#10-실행-순서-로드맵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1-&#50780;-&#49464;-&#44032;&#51648;-&#44160;&#49353;&#51064;&#44032;-why"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2-&#49892;&#47924;-best-practice-&#51312;&#49324;-&#50836;&#50557;"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3-&#51204;&#52404;-&#55120;&#47492;"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4-local-search"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4-local-search"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5-global-search"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6-hybrid-search-&#51452;&#51228;-&#54980;-&#44540;&#44144;-&#44160;&#49353;-&#54869;&#51109;" TargetMode="Externa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3-&#51204;&#52404;-&#55120;&#47492;"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7-&#49892;&#54665;-&#44508;&#52825;&#44284;-&#49892;&#54056;-&#45824;&#52404;-&#54540;&#47196;&#45768;-&#47532;&#48624;"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8-&#48148;&#44645;-&#44228;&#50557;-&#49828;&#53469;&#45768;-&#47532;&#48624;"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11-&#47532;&#48624;-&#44592;&#47197;"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search-flow.md#10-&#49892;&#54665;-&#49692;&#49436;-&#47196;&#46300;&#47605;"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질문의 답이 있는 자리에 따라 길을 나눔</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사실은 청크와 엔티티에, 경향은 커뮤니티 보고서에 있으므로 Local, Global, Hybrid로 검색 길을 나눔</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377440"/>
                <a:gridCol w="5120640"/>
                <a:gridCol w="3566160"/>
                <a:gridCol w="2560320"/>
              </a:tblGrid>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질문 유형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예시(평가셋)</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답이 있는 자리</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검색 방식</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6692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특정 대상의 사실</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Q01 연회비 면제 조건은? / Q14 M-1042 회원의 첫 요청은?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청크 몇 개와 엔티티</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Local Search</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여러 문서의 경향</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Q23 고객군별 불만 주제 / Q24 받아들인 제안의 공통점</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커뮤니티 보고서 여러 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Global Search</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경향 + 근거 사실</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Q25 불만 주제별 관련 약관 조항과 카드 혜택</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보고서로 주제, 주제마다 원문</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Hybrid Search</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답할 수 없음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Q18 ~ Q22 대상은 있지만 문서에 사실이 없음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없음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Local 후 「근거에 없음」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Text 2"/>
          <p:cNvSpPr/>
          <p:nvPr/>
        </p:nvSpPr>
        <p:spPr>
          <a:xfrm>
            <a:off x="509321" y="4690872"/>
            <a:ext cx="237744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용어 약속</a:t>
            </a:r>
            <a:endParaRPr lang="en-US" sz="1800" dirty="0"/>
          </a:p>
        </p:txBody>
      </p:sp>
      <p:sp>
        <p:nvSpPr>
          <p:cNvPr id="6" name="Text 3"/>
          <p:cNvSpPr/>
          <p:nvPr/>
        </p:nvSpPr>
        <p:spPr>
          <a:xfrm>
            <a:off x="509321" y="5239512"/>
            <a:ext cx="4419600" cy="1481328"/>
          </a:xfrm>
          <a:prstGeom prst="roundRect">
            <a:avLst>
              <a:gd name="adj" fmla="val 6173"/>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Hybrid Search = 주제 후 근거 검색</a:t>
            </a:r>
            <a:endParaRPr lang="en-US" sz="2000" dirty="0"/>
          </a:p>
          <a:p>
            <a:pPr algn="l"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Global로 주제를 잡고 주제마다 Local로 원문 근거를 찾음</a:t>
            </a:r>
            <a:endParaRPr lang="en-US" sz="2000" dirty="0"/>
          </a:p>
        </p:txBody>
      </p:sp>
      <p:sp>
        <p:nvSpPr>
          <p:cNvPr id="7" name="Text 4"/>
          <p:cNvSpPr/>
          <p:nvPr/>
        </p:nvSpPr>
        <p:spPr>
          <a:xfrm>
            <a:off x="5111801" y="5239512"/>
            <a:ext cx="4419600" cy="1481328"/>
          </a:xfrm>
          <a:prstGeom prst="roundRect">
            <a:avLst>
              <a:gd name="adj" fmla="val 6173"/>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키워드와 벡터 순위 융합(RRF)</a:t>
            </a:r>
            <a:endParaRPr lang="en-US" sz="2000" dirty="0"/>
          </a:p>
          <a:p>
            <a:pPr algn="l"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BM25 순위와 벡터 순위를 합쳐 한 줄로 세움. 「하이브리드」라 부르지 않음</a:t>
            </a:r>
            <a:endParaRPr lang="en-US" sz="2000" dirty="0"/>
          </a:p>
        </p:txBody>
      </p:sp>
      <p:sp>
        <p:nvSpPr>
          <p:cNvPr id="8" name="Text 5"/>
          <p:cNvSpPr/>
          <p:nvPr/>
        </p:nvSpPr>
        <p:spPr>
          <a:xfrm>
            <a:off x="9714281" y="5239512"/>
            <a:ext cx="4419600" cy="1481328"/>
          </a:xfrm>
          <a:prstGeom prst="roundRect">
            <a:avLst>
              <a:gd name="adj" fmla="val 6173"/>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v0 코드 이름</a:t>
            </a:r>
            <a:endParaRPr lang="en-US" sz="2000" dirty="0"/>
          </a:p>
          <a:p>
            <a:pPr algn="l"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--mode hybrid가 이 장표의 Local, --mode local은 보고서를 뺀 비교용 스위치</a:t>
            </a:r>
            <a:endParaRPr lang="en-US" sz="2000" dirty="0"/>
          </a:p>
        </p:txBody>
      </p:sp>
      <p:sp>
        <p:nvSpPr>
          <p:cNvPr id="9" name="Shape 6"/>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0" name="Text 7">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11" name="Shape 8"/>
          <p:cNvSpPr/>
          <p:nvPr/>
        </p:nvSpPr>
        <p:spPr>
          <a:xfrm>
            <a:off x="509321" y="7388352"/>
            <a:ext cx="13624560" cy="0"/>
          </a:xfrm>
          <a:prstGeom prst="line">
            <a:avLst/>
          </a:prstGeom>
          <a:noFill/>
          <a:ln w="12700">
            <a:solidFill>
              <a:srgbClr val="E9ECF3"/>
            </a:solidFill>
            <a:prstDash val="solid"/>
          </a:ln>
        </p:spPr>
      </p:sp>
      <p:sp>
        <p:nvSpPr>
          <p:cNvPr id="12" name="Text 9"/>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hands-on/solutions/eval-set.json 25문항, teacher/graphrag/v0/graph_search.py</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실무 Best Practice: 질문 유형별로 길을 나누고, 후보와 홉 수를 묶음</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단순 사실은 원문 중심 검색이 더 정확하고, 요약과 추론은 그래프가 앞선다는 결과가 공통으로 나옴</a:t>
            </a:r>
            <a:endParaRPr lang="en-US" sz="1800" dirty="0"/>
          </a:p>
        </p:txBody>
      </p:sp>
      <p:sp>
        <p:nvSpPr>
          <p:cNvPr id="4" name="Shape 2"/>
          <p:cNvSpPr/>
          <p:nvPr/>
        </p:nvSpPr>
        <p:spPr>
          <a:xfrm>
            <a:off x="509321" y="1737360"/>
            <a:ext cx="9235440" cy="754380"/>
          </a:xfrm>
          <a:prstGeom prst="roundRect">
            <a:avLst>
              <a:gd name="adj" fmla="val 9697"/>
            </a:avLst>
          </a:prstGeom>
          <a:solidFill>
            <a:srgbClr val="F5F8FC"/>
          </a:solidFill>
          <a:ln w="12700">
            <a:solidFill>
              <a:srgbClr val="D9E0EC"/>
            </a:solidFill>
            <a:prstDash val="solid"/>
          </a:ln>
        </p:spPr>
      </p:sp>
      <p:sp>
        <p:nvSpPr>
          <p:cNvPr id="5" name="Shape 3"/>
          <p:cNvSpPr/>
          <p:nvPr/>
        </p:nvSpPr>
        <p:spPr>
          <a:xfrm>
            <a:off x="646481" y="1913382"/>
            <a:ext cx="402336" cy="402336"/>
          </a:xfrm>
          <a:prstGeom prst="roundRect">
            <a:avLst>
              <a:gd name="adj" fmla="val 11364"/>
            </a:avLst>
          </a:prstGeom>
          <a:solidFill>
            <a:srgbClr val="2E74C6"/>
          </a:solidFill>
          <a:ln/>
        </p:spPr>
      </p:sp>
      <p:sp>
        <p:nvSpPr>
          <p:cNvPr id="6" name="Text 4"/>
          <p:cNvSpPr/>
          <p:nvPr/>
        </p:nvSpPr>
        <p:spPr>
          <a:xfrm>
            <a:off x="646481" y="191338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7" name="Text 5"/>
          <p:cNvSpPr txBox="1"/>
          <p:nvPr/>
        </p:nvSpPr>
        <p:spPr>
          <a:xfrm>
            <a:off x="1167689" y="1737360"/>
            <a:ext cx="8439912" cy="75438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질문 유형별로 경로를 나눔: 단순 사실은 rerank RAG 60.9 대 GraphRAG 49.3, 요약은 GraphRAG 우세</a:t>
            </a:r>
            <a:endParaRPr lang="en-US" sz="1800" dirty="0"/>
          </a:p>
        </p:txBody>
      </p:sp>
      <p:sp>
        <p:nvSpPr>
          <p:cNvPr id="8" name="Shape 6"/>
          <p:cNvSpPr/>
          <p:nvPr/>
        </p:nvSpPr>
        <p:spPr>
          <a:xfrm>
            <a:off x="509321" y="2583180"/>
            <a:ext cx="9235440" cy="754380"/>
          </a:xfrm>
          <a:prstGeom prst="roundRect">
            <a:avLst>
              <a:gd name="adj" fmla="val 9697"/>
            </a:avLst>
          </a:prstGeom>
          <a:solidFill>
            <a:srgbClr val="F5F8FC"/>
          </a:solidFill>
          <a:ln w="12700">
            <a:solidFill>
              <a:srgbClr val="D9E0EC"/>
            </a:solidFill>
            <a:prstDash val="solid"/>
          </a:ln>
        </p:spPr>
      </p:sp>
      <p:sp>
        <p:nvSpPr>
          <p:cNvPr id="9" name="Shape 7"/>
          <p:cNvSpPr/>
          <p:nvPr/>
        </p:nvSpPr>
        <p:spPr>
          <a:xfrm>
            <a:off x="646481" y="2759202"/>
            <a:ext cx="402336" cy="402336"/>
          </a:xfrm>
          <a:prstGeom prst="roundRect">
            <a:avLst>
              <a:gd name="adj" fmla="val 11364"/>
            </a:avLst>
          </a:prstGeom>
          <a:solidFill>
            <a:srgbClr val="2E74C6"/>
          </a:solidFill>
          <a:ln/>
        </p:spPr>
      </p:sp>
      <p:sp>
        <p:nvSpPr>
          <p:cNvPr id="10" name="Text 8"/>
          <p:cNvSpPr/>
          <p:nvPr/>
        </p:nvSpPr>
        <p:spPr>
          <a:xfrm>
            <a:off x="646481" y="275920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1" name="Text 9"/>
          <p:cNvSpPr txBox="1"/>
          <p:nvPr/>
        </p:nvSpPr>
        <p:spPr>
          <a:xfrm>
            <a:off x="1167689" y="2583180"/>
            <a:ext cx="8439912" cy="75438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청크는 BM25와 벡터를 RRF(k 60)로 합침. 벡터 후보는 최종 개수의 3배 이상</a:t>
            </a:r>
            <a:endParaRPr lang="en-US" sz="1800" dirty="0"/>
          </a:p>
        </p:txBody>
      </p:sp>
      <p:sp>
        <p:nvSpPr>
          <p:cNvPr id="12" name="Shape 10"/>
          <p:cNvSpPr/>
          <p:nvPr/>
        </p:nvSpPr>
        <p:spPr>
          <a:xfrm>
            <a:off x="509321" y="3429000"/>
            <a:ext cx="9235440" cy="754380"/>
          </a:xfrm>
          <a:prstGeom prst="roundRect">
            <a:avLst>
              <a:gd name="adj" fmla="val 9697"/>
            </a:avLst>
          </a:prstGeom>
          <a:solidFill>
            <a:srgbClr val="F5F8FC"/>
          </a:solidFill>
          <a:ln w="12700">
            <a:solidFill>
              <a:srgbClr val="D9E0EC"/>
            </a:solidFill>
            <a:prstDash val="solid"/>
          </a:ln>
        </p:spPr>
      </p:sp>
      <p:sp>
        <p:nvSpPr>
          <p:cNvPr id="13" name="Shape 11"/>
          <p:cNvSpPr/>
          <p:nvPr/>
        </p:nvSpPr>
        <p:spPr>
          <a:xfrm>
            <a:off x="646481" y="3605022"/>
            <a:ext cx="402336" cy="402336"/>
          </a:xfrm>
          <a:prstGeom prst="roundRect">
            <a:avLst>
              <a:gd name="adj" fmla="val 11364"/>
            </a:avLst>
          </a:prstGeom>
          <a:solidFill>
            <a:srgbClr val="2E74C6"/>
          </a:solidFill>
          <a:ln/>
        </p:spPr>
      </p:sp>
      <p:sp>
        <p:nvSpPr>
          <p:cNvPr id="14" name="Text 12"/>
          <p:cNvSpPr/>
          <p:nvPr/>
        </p:nvSpPr>
        <p:spPr>
          <a:xfrm>
            <a:off x="646481" y="360502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5" name="Text 13"/>
          <p:cNvSpPr txBox="1"/>
          <p:nvPr/>
        </p:nvSpPr>
        <p:spPr>
          <a:xfrm>
            <a:off x="1167689" y="3429000"/>
            <a:ext cx="8439912" cy="75438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Local은 엔티티에서 출발해 관계, 원문, 보고서를 한 컨텍스트로. 몫은 원문 0.5, 보고서 0.15</a:t>
            </a:r>
            <a:endParaRPr lang="en-US" sz="1800" dirty="0"/>
          </a:p>
        </p:txBody>
      </p:sp>
      <p:sp>
        <p:nvSpPr>
          <p:cNvPr id="16" name="Shape 14"/>
          <p:cNvSpPr/>
          <p:nvPr/>
        </p:nvSpPr>
        <p:spPr>
          <a:xfrm>
            <a:off x="509321" y="4274820"/>
            <a:ext cx="9235440" cy="754380"/>
          </a:xfrm>
          <a:prstGeom prst="roundRect">
            <a:avLst>
              <a:gd name="adj" fmla="val 9697"/>
            </a:avLst>
          </a:prstGeom>
          <a:solidFill>
            <a:srgbClr val="F5F8FC"/>
          </a:solidFill>
          <a:ln w="12700">
            <a:solidFill>
              <a:srgbClr val="D9E0EC"/>
            </a:solidFill>
            <a:prstDash val="solid"/>
          </a:ln>
        </p:spPr>
      </p:sp>
      <p:sp>
        <p:nvSpPr>
          <p:cNvPr id="17" name="Shape 15"/>
          <p:cNvSpPr/>
          <p:nvPr/>
        </p:nvSpPr>
        <p:spPr>
          <a:xfrm>
            <a:off x="646481" y="4450842"/>
            <a:ext cx="402336" cy="402336"/>
          </a:xfrm>
          <a:prstGeom prst="roundRect">
            <a:avLst>
              <a:gd name="adj" fmla="val 11364"/>
            </a:avLst>
          </a:prstGeom>
          <a:solidFill>
            <a:srgbClr val="2E74C6"/>
          </a:solidFill>
          <a:ln/>
        </p:spPr>
      </p:sp>
      <p:sp>
        <p:nvSpPr>
          <p:cNvPr id="18" name="Text 16"/>
          <p:cNvSpPr/>
          <p:nvPr/>
        </p:nvSpPr>
        <p:spPr>
          <a:xfrm>
            <a:off x="646481" y="44508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19" name="Text 17"/>
          <p:cNvSpPr txBox="1"/>
          <p:nvPr/>
        </p:nvSpPr>
        <p:spPr>
          <a:xfrm>
            <a:off x="1167689" y="4274820"/>
            <a:ext cx="8439912" cy="75438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엔티티 찾기에도 키워드를 섞고, 그래프 탐색은 홉 수와 후보 수를 제한함</a:t>
            </a:r>
            <a:endParaRPr lang="en-US" sz="1800" dirty="0"/>
          </a:p>
        </p:txBody>
      </p:sp>
      <p:sp>
        <p:nvSpPr>
          <p:cNvPr id="20" name="Shape 18"/>
          <p:cNvSpPr/>
          <p:nvPr/>
        </p:nvSpPr>
        <p:spPr>
          <a:xfrm>
            <a:off x="509321" y="5120640"/>
            <a:ext cx="9235440" cy="754380"/>
          </a:xfrm>
          <a:prstGeom prst="roundRect">
            <a:avLst>
              <a:gd name="adj" fmla="val 9697"/>
            </a:avLst>
          </a:prstGeom>
          <a:solidFill>
            <a:srgbClr val="F5F8FC"/>
          </a:solidFill>
          <a:ln w="12700">
            <a:solidFill>
              <a:srgbClr val="D9E0EC"/>
            </a:solidFill>
            <a:prstDash val="solid"/>
          </a:ln>
        </p:spPr>
      </p:sp>
      <p:sp>
        <p:nvSpPr>
          <p:cNvPr id="21" name="Shape 19"/>
          <p:cNvSpPr/>
          <p:nvPr/>
        </p:nvSpPr>
        <p:spPr>
          <a:xfrm>
            <a:off x="646481" y="5296662"/>
            <a:ext cx="402336" cy="402336"/>
          </a:xfrm>
          <a:prstGeom prst="roundRect">
            <a:avLst>
              <a:gd name="adj" fmla="val 11364"/>
            </a:avLst>
          </a:prstGeom>
          <a:solidFill>
            <a:srgbClr val="2E74C6"/>
          </a:solidFill>
          <a:ln/>
        </p:spPr>
      </p:sp>
      <p:sp>
        <p:nvSpPr>
          <p:cNvPr id="22" name="Text 20"/>
          <p:cNvSpPr/>
          <p:nvPr/>
        </p:nvSpPr>
        <p:spPr>
          <a:xfrm>
            <a:off x="646481" y="529666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23" name="Text 21"/>
          <p:cNvSpPr txBox="1"/>
          <p:nvPr/>
        </p:nvSpPr>
        <p:spPr>
          <a:xfrm>
            <a:off x="1167689" y="5120640"/>
            <a:ext cx="8439912" cy="75438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Global은 관련 보고서만 골라 map-reduce. 동적 선택으로 토큰 77% 절감</a:t>
            </a:r>
            <a:endParaRPr lang="en-US" sz="1800" dirty="0"/>
          </a:p>
        </p:txBody>
      </p:sp>
      <p:sp>
        <p:nvSpPr>
          <p:cNvPr id="24" name="Shape 22"/>
          <p:cNvSpPr/>
          <p:nvPr/>
        </p:nvSpPr>
        <p:spPr>
          <a:xfrm>
            <a:off x="509321" y="5966460"/>
            <a:ext cx="9235440" cy="754380"/>
          </a:xfrm>
          <a:prstGeom prst="roundRect">
            <a:avLst>
              <a:gd name="adj" fmla="val 9697"/>
            </a:avLst>
          </a:prstGeom>
          <a:solidFill>
            <a:srgbClr val="F5F8FC"/>
          </a:solidFill>
          <a:ln w="12700">
            <a:solidFill>
              <a:srgbClr val="D9E0EC"/>
            </a:solidFill>
            <a:prstDash val="solid"/>
          </a:ln>
        </p:spPr>
      </p:sp>
      <p:sp>
        <p:nvSpPr>
          <p:cNvPr id="25" name="Shape 23"/>
          <p:cNvSpPr/>
          <p:nvPr/>
        </p:nvSpPr>
        <p:spPr>
          <a:xfrm>
            <a:off x="646481" y="6142482"/>
            <a:ext cx="402336" cy="402336"/>
          </a:xfrm>
          <a:prstGeom prst="roundRect">
            <a:avLst>
              <a:gd name="adj" fmla="val 11364"/>
            </a:avLst>
          </a:prstGeom>
          <a:solidFill>
            <a:srgbClr val="2E74C6"/>
          </a:solidFill>
          <a:ln/>
        </p:spPr>
      </p:sp>
      <p:sp>
        <p:nvSpPr>
          <p:cNvPr id="26" name="Text 24"/>
          <p:cNvSpPr/>
          <p:nvPr/>
        </p:nvSpPr>
        <p:spPr>
          <a:xfrm>
            <a:off x="646481" y="614248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6</a:t>
            </a:r>
            <a:endParaRPr lang="en-US" sz="1800" dirty="0"/>
          </a:p>
        </p:txBody>
      </p:sp>
      <p:sp>
        <p:nvSpPr>
          <p:cNvPr id="27" name="Text 25"/>
          <p:cNvSpPr txBox="1"/>
          <p:nvPr/>
        </p:nvSpPr>
        <p:spPr>
          <a:xfrm>
            <a:off x="1167689" y="5966460"/>
            <a:ext cx="8439912" cy="75438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넓은 질문을 사실까지 내리려면 DRIFT: 보고서로 초안과 후속 질문, 후속 질문마다 Local</a:t>
            </a:r>
            <a:endParaRPr lang="en-US" sz="1800" dirty="0"/>
          </a:p>
        </p:txBody>
      </p:sp>
      <p:sp>
        <p:nvSpPr>
          <p:cNvPr id="28" name="Shape 26"/>
          <p:cNvSpPr/>
          <p:nvPr/>
        </p:nvSpPr>
        <p:spPr>
          <a:xfrm>
            <a:off x="9966960" y="1737360"/>
            <a:ext cx="4166921" cy="4983480"/>
          </a:xfrm>
          <a:prstGeom prst="roundRect">
            <a:avLst>
              <a:gd name="adj" fmla="val 2194"/>
            </a:avLst>
          </a:prstGeom>
          <a:solidFill>
            <a:srgbClr val="EEF3FA"/>
          </a:solidFill>
          <a:ln w="12700">
            <a:solidFill>
              <a:srgbClr val="D9E0EC"/>
            </a:solidFill>
            <a:prstDash val="solid"/>
          </a:ln>
        </p:spPr>
      </p:sp>
      <p:sp>
        <p:nvSpPr>
          <p:cNvPr id="29" name="Text 27"/>
          <p:cNvSpPr txBox="1"/>
          <p:nvPr/>
        </p:nvSpPr>
        <p:spPr>
          <a:xfrm>
            <a:off x="10149840" y="1874520"/>
            <a:ext cx="3801161" cy="411480"/>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질의당 평균 토큰</a:t>
            </a:r>
            <a:endParaRPr lang="en-US" sz="2200" dirty="0"/>
          </a:p>
        </p:txBody>
      </p:sp>
      <p:sp>
        <p:nvSpPr>
          <p:cNvPr id="30" name="Shape 28"/>
          <p:cNvSpPr/>
          <p:nvPr/>
        </p:nvSpPr>
        <p:spPr>
          <a:xfrm>
            <a:off x="10149840" y="2468880"/>
            <a:ext cx="3801161" cy="1051560"/>
          </a:xfrm>
          <a:prstGeom prst="roundRect">
            <a:avLst>
              <a:gd name="adj" fmla="val 6957"/>
            </a:avLst>
          </a:prstGeom>
          <a:solidFill>
            <a:srgbClr val="FFFFFF"/>
          </a:solidFill>
          <a:ln w="12700">
            <a:solidFill>
              <a:srgbClr val="D9E0EC"/>
            </a:solidFill>
            <a:prstDash val="solid"/>
          </a:ln>
        </p:spPr>
      </p:sp>
      <p:sp>
        <p:nvSpPr>
          <p:cNvPr id="31" name="Text 29"/>
          <p:cNvSpPr txBox="1"/>
          <p:nvPr/>
        </p:nvSpPr>
        <p:spPr>
          <a:xfrm>
            <a:off x="10287000" y="2542032"/>
            <a:ext cx="3526841" cy="347472"/>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벡터 RAG</a:t>
            </a:r>
            <a:endParaRPr lang="en-US" sz="1600" dirty="0"/>
          </a:p>
        </p:txBody>
      </p:sp>
      <p:sp>
        <p:nvSpPr>
          <p:cNvPr id="32" name="Text 30"/>
          <p:cNvSpPr txBox="1"/>
          <p:nvPr/>
        </p:nvSpPr>
        <p:spPr>
          <a:xfrm>
            <a:off x="10287000" y="2889504"/>
            <a:ext cx="3526841" cy="548640"/>
          </a:xfrm>
          <a:prstGeom prst="rect">
            <a:avLst/>
          </a:prstGeom>
          <a:noFill/>
          <a:ln/>
        </p:spPr>
        <p:txBody>
          <a:bodyPr wrap="square" lIns="0" tIns="0" rIns="0" bIns="0" rtlCol="0" anchor="ctr"/>
          <a:lstStyle/>
          <a:p>
            <a:pPr indent="0" marL="0">
              <a:buNone/>
            </a:pPr>
            <a:r>
              <a:rPr lang="en-US" sz="3000" b="1" dirty="0">
                <a:solidFill>
                  <a:srgbClr val="1E2A5C"/>
                </a:solidFill>
                <a:latin typeface="Pretendard" pitchFamily="34" charset="0"/>
                <a:ea typeface="Pretendard" pitchFamily="34" charset="-122"/>
                <a:cs typeface="Pretendard" pitchFamily="34" charset="-120"/>
              </a:rPr>
              <a:t>879</a:t>
            </a:r>
            <a:pPr indent="0" marL="0">
              <a:buNone/>
            </a:pPr>
            <a:r>
              <a:rPr lang="en-US" sz="1600" dirty="0">
                <a:solidFill>
                  <a:srgbClr val="4A5364"/>
                </a:solidFill>
                <a:latin typeface="Pretendard" pitchFamily="34" charset="0"/>
                <a:ea typeface="Pretendard" pitchFamily="34" charset="-122"/>
                <a:cs typeface="Pretendard" pitchFamily="34" charset="-120"/>
              </a:rPr>
              <a:t> 토큰</a:t>
            </a:r>
            <a:endParaRPr lang="en-US" sz="3000" dirty="0"/>
          </a:p>
        </p:txBody>
      </p:sp>
      <p:sp>
        <p:nvSpPr>
          <p:cNvPr id="33" name="Shape 31"/>
          <p:cNvSpPr/>
          <p:nvPr/>
        </p:nvSpPr>
        <p:spPr>
          <a:xfrm>
            <a:off x="10149840" y="3657600"/>
            <a:ext cx="3801161" cy="1051560"/>
          </a:xfrm>
          <a:prstGeom prst="roundRect">
            <a:avLst>
              <a:gd name="adj" fmla="val 6957"/>
            </a:avLst>
          </a:prstGeom>
          <a:solidFill>
            <a:srgbClr val="FFFFFF"/>
          </a:solidFill>
          <a:ln w="12700">
            <a:solidFill>
              <a:srgbClr val="D9E0EC"/>
            </a:solidFill>
            <a:prstDash val="solid"/>
          </a:ln>
        </p:spPr>
      </p:sp>
      <p:sp>
        <p:nvSpPr>
          <p:cNvPr id="34" name="Text 32"/>
          <p:cNvSpPr txBox="1"/>
          <p:nvPr/>
        </p:nvSpPr>
        <p:spPr>
          <a:xfrm>
            <a:off x="10287000" y="3730752"/>
            <a:ext cx="3526841" cy="347472"/>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GraphRAG Local</a:t>
            </a:r>
            <a:endParaRPr lang="en-US" sz="1600" dirty="0"/>
          </a:p>
        </p:txBody>
      </p:sp>
      <p:sp>
        <p:nvSpPr>
          <p:cNvPr id="35" name="Text 33"/>
          <p:cNvSpPr txBox="1"/>
          <p:nvPr/>
        </p:nvSpPr>
        <p:spPr>
          <a:xfrm>
            <a:off x="10287000" y="4078224"/>
            <a:ext cx="3526841" cy="548640"/>
          </a:xfrm>
          <a:prstGeom prst="rect">
            <a:avLst/>
          </a:prstGeom>
          <a:noFill/>
          <a:ln/>
        </p:spPr>
        <p:txBody>
          <a:bodyPr wrap="square" lIns="0" tIns="0" rIns="0" bIns="0" rtlCol="0" anchor="ctr"/>
          <a:lstStyle/>
          <a:p>
            <a:pPr indent="0" marL="0">
              <a:buNone/>
            </a:pPr>
            <a:r>
              <a:rPr lang="en-US" sz="3000" b="1" dirty="0">
                <a:solidFill>
                  <a:srgbClr val="1E2A5C"/>
                </a:solidFill>
                <a:latin typeface="Pretendard" pitchFamily="34" charset="0"/>
                <a:ea typeface="Pretendard" pitchFamily="34" charset="-122"/>
                <a:cs typeface="Pretendard" pitchFamily="34" charset="-120"/>
              </a:rPr>
              <a:t>38,707</a:t>
            </a:r>
            <a:pPr indent="0" marL="0">
              <a:buNone/>
            </a:pPr>
            <a:r>
              <a:rPr lang="en-US" sz="1600" dirty="0">
                <a:solidFill>
                  <a:srgbClr val="4A5364"/>
                </a:solidFill>
                <a:latin typeface="Pretendard" pitchFamily="34" charset="0"/>
                <a:ea typeface="Pretendard" pitchFamily="34" charset="-122"/>
                <a:cs typeface="Pretendard" pitchFamily="34" charset="-120"/>
              </a:rPr>
              <a:t> 토큰</a:t>
            </a:r>
            <a:endParaRPr lang="en-US" sz="3000" dirty="0"/>
          </a:p>
        </p:txBody>
      </p:sp>
      <p:sp>
        <p:nvSpPr>
          <p:cNvPr id="36" name="Shape 34"/>
          <p:cNvSpPr/>
          <p:nvPr/>
        </p:nvSpPr>
        <p:spPr>
          <a:xfrm>
            <a:off x="10149840" y="4846320"/>
            <a:ext cx="3801161" cy="1051560"/>
          </a:xfrm>
          <a:prstGeom prst="roundRect">
            <a:avLst>
              <a:gd name="adj" fmla="val 6957"/>
            </a:avLst>
          </a:prstGeom>
          <a:solidFill>
            <a:srgbClr val="FFFFFF"/>
          </a:solidFill>
          <a:ln w="12700">
            <a:solidFill>
              <a:srgbClr val="D9E0EC"/>
            </a:solidFill>
            <a:prstDash val="solid"/>
          </a:ln>
        </p:spPr>
      </p:sp>
      <p:sp>
        <p:nvSpPr>
          <p:cNvPr id="37" name="Text 35"/>
          <p:cNvSpPr txBox="1"/>
          <p:nvPr/>
        </p:nvSpPr>
        <p:spPr>
          <a:xfrm>
            <a:off x="10287000" y="4919472"/>
            <a:ext cx="3526841" cy="347472"/>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GraphRAG Global</a:t>
            </a:r>
            <a:endParaRPr lang="en-US" sz="1600" dirty="0"/>
          </a:p>
        </p:txBody>
      </p:sp>
      <p:sp>
        <p:nvSpPr>
          <p:cNvPr id="38" name="Text 36"/>
          <p:cNvSpPr txBox="1"/>
          <p:nvPr/>
        </p:nvSpPr>
        <p:spPr>
          <a:xfrm>
            <a:off x="10287000" y="5266944"/>
            <a:ext cx="3526841" cy="548640"/>
          </a:xfrm>
          <a:prstGeom prst="rect">
            <a:avLst/>
          </a:prstGeom>
          <a:noFill/>
          <a:ln/>
        </p:spPr>
        <p:txBody>
          <a:bodyPr wrap="square" lIns="0" tIns="0" rIns="0" bIns="0" rtlCol="0" anchor="ctr"/>
          <a:lstStyle/>
          <a:p>
            <a:pPr indent="0" marL="0">
              <a:buNone/>
            </a:pPr>
            <a:r>
              <a:rPr lang="en-US" sz="3000" b="1" dirty="0">
                <a:solidFill>
                  <a:srgbClr val="2E74C6"/>
                </a:solidFill>
                <a:latin typeface="Pretendard" pitchFamily="34" charset="0"/>
                <a:ea typeface="Pretendard" pitchFamily="34" charset="-122"/>
                <a:cs typeface="Pretendard" pitchFamily="34" charset="-120"/>
              </a:rPr>
              <a:t>331,375</a:t>
            </a:r>
            <a:pPr indent="0" marL="0">
              <a:buNone/>
            </a:pPr>
            <a:r>
              <a:rPr lang="en-US" sz="1600" dirty="0">
                <a:solidFill>
                  <a:srgbClr val="4A5364"/>
                </a:solidFill>
                <a:latin typeface="Pretendard" pitchFamily="34" charset="0"/>
                <a:ea typeface="Pretendard" pitchFamily="34" charset="-122"/>
                <a:cs typeface="Pretendard" pitchFamily="34" charset="-120"/>
              </a:rPr>
              <a:t> 토큰</a:t>
            </a:r>
            <a:endParaRPr lang="en-US" sz="3000" dirty="0"/>
          </a:p>
        </p:txBody>
      </p:sp>
      <p:sp>
        <p:nvSpPr>
          <p:cNvPr id="39" name="Text 37"/>
          <p:cNvSpPr txBox="1"/>
          <p:nvPr/>
        </p:nvSpPr>
        <p:spPr>
          <a:xfrm>
            <a:off x="10149840" y="6080760"/>
            <a:ext cx="3801161" cy="548640"/>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GraphRAG-Bench(GPT-4o-mini) 외부 벤치마크. 우리 시스템 측정값 아님</a:t>
            </a:r>
            <a:endParaRPr lang="en-US" sz="1400" dirty="0"/>
          </a:p>
        </p:txBody>
      </p:sp>
      <p:sp>
        <p:nvSpPr>
          <p:cNvPr id="40" name="Shape 38"/>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41" name="Text 39">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42" name="Shape 40"/>
          <p:cNvSpPr/>
          <p:nvPr/>
        </p:nvSpPr>
        <p:spPr>
          <a:xfrm>
            <a:off x="509321" y="7388352"/>
            <a:ext cx="13624560" cy="0"/>
          </a:xfrm>
          <a:prstGeom prst="line">
            <a:avLst/>
          </a:prstGeom>
          <a:noFill/>
          <a:ln w="12700">
            <a:solidFill>
              <a:srgbClr val="E9ECF3"/>
            </a:solidFill>
            <a:prstDash val="solid"/>
          </a:ln>
        </p:spPr>
      </p:sp>
      <p:sp>
        <p:nvSpPr>
          <p:cNvPr id="43" name="Text 41"/>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GraphRAG-Bench(arXiv 2506.05690), Microsoft GraphRAG 문서와 블로그, OpenSearch RRF 블로그, Neo4j 블로그</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전체 흐름: 앞단에서 조건을 고정하고, 라우터가 세 길 중 하나로 보냄</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세대, 마감 시각, 질문 벡터를 처음에 한 번 정해 모든 갈래가 같은 조건으로 찾게 함</a:t>
            </a:r>
            <a:endParaRPr lang="en-US" sz="1800" dirty="0"/>
          </a:p>
        </p:txBody>
      </p:sp>
      <p:sp>
        <p:nvSpPr>
          <p:cNvPr id="4" name="Text 2"/>
          <p:cNvSpPr/>
          <p:nvPr/>
        </p:nvSpPr>
        <p:spPr>
          <a:xfrm>
            <a:off x="509321" y="2148840"/>
            <a:ext cx="1143000" cy="1280160"/>
          </a:xfrm>
          <a:prstGeom prst="roundRect">
            <a:avLst>
              <a:gd name="adj" fmla="val 8000"/>
            </a:avLst>
          </a:prstGeom>
          <a:solidFill>
            <a:srgbClr val="404155"/>
          </a:solidFill>
          <a:ln/>
        </p:spPr>
        <p:txBody>
          <a:bodyPr wrap="square" lIns="101600" tIns="63500" rIns="101600" bIns="63500" rtlCol="0" anchor="ctr"/>
          <a:lstStyle/>
          <a:p>
            <a:pPr algn="ctr" indent="0" marL="0">
              <a:spcAft>
                <a:spcPts val="400"/>
              </a:spcAft>
              <a:buNone/>
            </a:pPr>
            <a:r>
              <a:rPr lang="en-US" sz="2000" b="1" dirty="0">
                <a:solidFill>
                  <a:srgbClr val="FFFFFF"/>
                </a:solidFill>
                <a:latin typeface="Pretendard" pitchFamily="34" charset="0"/>
                <a:ea typeface="Pretendard" pitchFamily="34" charset="-122"/>
                <a:cs typeface="Pretendard" pitchFamily="34" charset="-120"/>
              </a:rPr>
              <a:t>질문</a:t>
            </a:r>
            <a:endParaRPr lang="en-US" sz="2000" dirty="0"/>
          </a:p>
        </p:txBody>
      </p:sp>
      <p:sp>
        <p:nvSpPr>
          <p:cNvPr id="5" name="Shape 3"/>
          <p:cNvSpPr/>
          <p:nvPr/>
        </p:nvSpPr>
        <p:spPr>
          <a:xfrm>
            <a:off x="1737360" y="2651760"/>
            <a:ext cx="274320" cy="274320"/>
          </a:xfrm>
          <a:prstGeom prst="rightArrow">
            <a:avLst/>
          </a:prstGeom>
          <a:solidFill>
            <a:srgbClr val="2E74C6"/>
          </a:solidFill>
          <a:ln/>
        </p:spPr>
      </p:sp>
      <p:sp>
        <p:nvSpPr>
          <p:cNvPr id="6" name="Text 4"/>
          <p:cNvSpPr/>
          <p:nvPr/>
        </p:nvSpPr>
        <p:spPr>
          <a:xfrm>
            <a:off x="2103120" y="2148840"/>
            <a:ext cx="3017520" cy="1280160"/>
          </a:xfrm>
          <a:prstGeom prst="roundRect">
            <a:avLst>
              <a:gd name="adj" fmla="val 7143"/>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⓪ 앞단</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세대 고정, 마감 시각, 질문 정리, 임베딩 1회</a:t>
            </a:r>
            <a:endParaRPr lang="en-US" sz="2000" dirty="0"/>
          </a:p>
        </p:txBody>
      </p:sp>
      <p:sp>
        <p:nvSpPr>
          <p:cNvPr id="7" name="Shape 5"/>
          <p:cNvSpPr/>
          <p:nvPr/>
        </p:nvSpPr>
        <p:spPr>
          <a:xfrm>
            <a:off x="5212080" y="2651760"/>
            <a:ext cx="274320" cy="274320"/>
          </a:xfrm>
          <a:prstGeom prst="rightArrow">
            <a:avLst/>
          </a:prstGeom>
          <a:solidFill>
            <a:srgbClr val="2E74C6"/>
          </a:solidFill>
          <a:ln/>
        </p:spPr>
      </p:sp>
      <p:sp>
        <p:nvSpPr>
          <p:cNvPr id="8" name="Text 6"/>
          <p:cNvSpPr/>
          <p:nvPr/>
        </p:nvSpPr>
        <p:spPr>
          <a:xfrm>
            <a:off x="5577840" y="2148840"/>
            <a:ext cx="2331720" cy="1280160"/>
          </a:xfrm>
          <a:prstGeom prst="roundRect">
            <a:avLst>
              <a:gd name="adj" fmla="val 7143"/>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① 라우터</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규칙 먼저, LLM이 3분류</a:t>
            </a:r>
            <a:endParaRPr lang="en-US" sz="2000" dirty="0"/>
          </a:p>
        </p:txBody>
      </p:sp>
      <p:sp>
        <p:nvSpPr>
          <p:cNvPr id="9" name="Shape 7"/>
          <p:cNvSpPr/>
          <p:nvPr/>
        </p:nvSpPr>
        <p:spPr>
          <a:xfrm>
            <a:off x="7909560" y="2788920"/>
            <a:ext cx="274320" cy="0"/>
          </a:xfrm>
          <a:prstGeom prst="line">
            <a:avLst/>
          </a:prstGeom>
          <a:noFill/>
          <a:ln w="25400">
            <a:solidFill>
              <a:srgbClr val="2E74C6"/>
            </a:solidFill>
            <a:prstDash val="solid"/>
          </a:ln>
        </p:spPr>
      </p:sp>
      <p:sp>
        <p:nvSpPr>
          <p:cNvPr id="10" name="Shape 8"/>
          <p:cNvSpPr/>
          <p:nvPr/>
        </p:nvSpPr>
        <p:spPr>
          <a:xfrm>
            <a:off x="8183880" y="2121408"/>
            <a:ext cx="0" cy="1463040"/>
          </a:xfrm>
          <a:prstGeom prst="line">
            <a:avLst/>
          </a:prstGeom>
          <a:noFill/>
          <a:ln w="25400">
            <a:solidFill>
              <a:srgbClr val="2E74C6"/>
            </a:solidFill>
            <a:prstDash val="solid"/>
          </a:ln>
        </p:spPr>
      </p:sp>
      <p:sp>
        <p:nvSpPr>
          <p:cNvPr id="11" name="Shape 9"/>
          <p:cNvSpPr/>
          <p:nvPr/>
        </p:nvSpPr>
        <p:spPr>
          <a:xfrm>
            <a:off x="8183880" y="2121408"/>
            <a:ext cx="274320" cy="0"/>
          </a:xfrm>
          <a:prstGeom prst="line">
            <a:avLst/>
          </a:prstGeom>
          <a:noFill/>
          <a:ln w="25400">
            <a:solidFill>
              <a:srgbClr val="2E74C6"/>
            </a:solidFill>
            <a:prstDash val="solid"/>
          </a:ln>
        </p:spPr>
      </p:sp>
      <p:sp>
        <p:nvSpPr>
          <p:cNvPr id="12" name="Text 10"/>
          <p:cNvSpPr/>
          <p:nvPr/>
        </p:nvSpPr>
        <p:spPr>
          <a:xfrm>
            <a:off x="8458200" y="1783080"/>
            <a:ext cx="2423160" cy="676656"/>
          </a:xfrm>
          <a:prstGeom prst="roundRect">
            <a:avLst>
              <a:gd name="adj" fmla="val 13514"/>
            </a:avLst>
          </a:prstGeom>
          <a:solidFill>
            <a:srgbClr val="1E2A5C"/>
          </a:solidFill>
          <a:ln/>
        </p:spPr>
        <p:txBody>
          <a:bodyPr wrap="square" lIns="101600" tIns="63500" rIns="101600" bIns="63500" rtlCol="0" anchor="ctr"/>
          <a:lstStyle/>
          <a:p>
            <a:pPr algn="ctr" indent="0" marL="0">
              <a:spcAft>
                <a:spcPts val="400"/>
              </a:spcAft>
              <a:buNone/>
            </a:pPr>
            <a:r>
              <a:rPr lang="en-US" sz="1500" b="1" dirty="0">
                <a:solidFill>
                  <a:srgbClr val="FFFFFF"/>
                </a:solidFill>
                <a:latin typeface="Pretendard" pitchFamily="34" charset="0"/>
                <a:ea typeface="Pretendard" pitchFamily="34" charset="-122"/>
                <a:cs typeface="Pretendard" pitchFamily="34" charset="-120"/>
              </a:rPr>
              <a:t>Local Search</a:t>
            </a:r>
            <a:endParaRPr lang="en-US" sz="1500" dirty="0"/>
          </a:p>
          <a:p>
            <a:pPr algn="ctr" indent="0" marL="0">
              <a:spcAft>
                <a:spcPts val="200"/>
              </a:spcAft>
              <a:buNone/>
            </a:pPr>
            <a:r>
              <a:rPr lang="en-US" sz="1400" dirty="0">
                <a:solidFill>
                  <a:srgbClr val="FFFFFF"/>
                </a:solidFill>
                <a:latin typeface="Pretendard" pitchFamily="34" charset="0"/>
                <a:ea typeface="Pretendard" pitchFamily="34" charset="-122"/>
                <a:cs typeface="Pretendard" pitchFamily="34" charset="-120"/>
              </a:rPr>
              <a:t>사실 질문</a:t>
            </a:r>
            <a:endParaRPr lang="en-US" sz="1500" dirty="0"/>
          </a:p>
        </p:txBody>
      </p:sp>
      <p:sp>
        <p:nvSpPr>
          <p:cNvPr id="13" name="Shape 11"/>
          <p:cNvSpPr/>
          <p:nvPr/>
        </p:nvSpPr>
        <p:spPr>
          <a:xfrm>
            <a:off x="10881360" y="2121408"/>
            <a:ext cx="274320" cy="0"/>
          </a:xfrm>
          <a:prstGeom prst="line">
            <a:avLst/>
          </a:prstGeom>
          <a:noFill/>
          <a:ln w="25400">
            <a:solidFill>
              <a:srgbClr val="2E74C6"/>
            </a:solidFill>
            <a:prstDash val="solid"/>
          </a:ln>
        </p:spPr>
      </p:sp>
      <p:sp>
        <p:nvSpPr>
          <p:cNvPr id="14" name="Shape 12"/>
          <p:cNvSpPr/>
          <p:nvPr/>
        </p:nvSpPr>
        <p:spPr>
          <a:xfrm>
            <a:off x="8183880" y="2852928"/>
            <a:ext cx="274320" cy="0"/>
          </a:xfrm>
          <a:prstGeom prst="line">
            <a:avLst/>
          </a:prstGeom>
          <a:noFill/>
          <a:ln w="25400">
            <a:solidFill>
              <a:srgbClr val="2E74C6"/>
            </a:solidFill>
            <a:prstDash val="solid"/>
          </a:ln>
        </p:spPr>
      </p:sp>
      <p:sp>
        <p:nvSpPr>
          <p:cNvPr id="15" name="Text 13"/>
          <p:cNvSpPr/>
          <p:nvPr/>
        </p:nvSpPr>
        <p:spPr>
          <a:xfrm>
            <a:off x="8458200" y="2514600"/>
            <a:ext cx="2423160" cy="676656"/>
          </a:xfrm>
          <a:prstGeom prst="roundRect">
            <a:avLst>
              <a:gd name="adj" fmla="val 13514"/>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1500" b="1" dirty="0">
                <a:solidFill>
                  <a:srgbClr val="1E2A5C"/>
                </a:solidFill>
                <a:latin typeface="Pretendard" pitchFamily="34" charset="0"/>
                <a:ea typeface="Pretendard" pitchFamily="34" charset="-122"/>
                <a:cs typeface="Pretendard" pitchFamily="34" charset="-120"/>
              </a:rPr>
              <a:t>Global Search</a:t>
            </a:r>
            <a:endParaRPr lang="en-US" sz="1500" dirty="0"/>
          </a:p>
          <a:p>
            <a:pPr algn="ctr" indent="0" marL="0">
              <a:spcAft>
                <a:spcPts val="200"/>
              </a:spcAft>
              <a:buNone/>
            </a:pPr>
            <a:r>
              <a:rPr lang="en-US" sz="1400" dirty="0">
                <a:solidFill>
                  <a:srgbClr val="2B3242"/>
                </a:solidFill>
                <a:latin typeface="Pretendard" pitchFamily="34" charset="0"/>
                <a:ea typeface="Pretendard" pitchFamily="34" charset="-122"/>
                <a:cs typeface="Pretendard" pitchFamily="34" charset="-120"/>
              </a:rPr>
              <a:t>경향 질문</a:t>
            </a:r>
            <a:endParaRPr lang="en-US" sz="1500" dirty="0"/>
          </a:p>
        </p:txBody>
      </p:sp>
      <p:sp>
        <p:nvSpPr>
          <p:cNvPr id="16" name="Shape 14"/>
          <p:cNvSpPr/>
          <p:nvPr/>
        </p:nvSpPr>
        <p:spPr>
          <a:xfrm>
            <a:off x="10881360" y="2852928"/>
            <a:ext cx="274320" cy="0"/>
          </a:xfrm>
          <a:prstGeom prst="line">
            <a:avLst/>
          </a:prstGeom>
          <a:noFill/>
          <a:ln w="25400">
            <a:solidFill>
              <a:srgbClr val="2E74C6"/>
            </a:solidFill>
            <a:prstDash val="solid"/>
          </a:ln>
        </p:spPr>
      </p:sp>
      <p:sp>
        <p:nvSpPr>
          <p:cNvPr id="17" name="Shape 15"/>
          <p:cNvSpPr/>
          <p:nvPr/>
        </p:nvSpPr>
        <p:spPr>
          <a:xfrm>
            <a:off x="8183880" y="3584448"/>
            <a:ext cx="274320" cy="0"/>
          </a:xfrm>
          <a:prstGeom prst="line">
            <a:avLst/>
          </a:prstGeom>
          <a:noFill/>
          <a:ln w="25400">
            <a:solidFill>
              <a:srgbClr val="2E74C6"/>
            </a:solidFill>
            <a:prstDash val="solid"/>
          </a:ln>
        </p:spPr>
      </p:sp>
      <p:sp>
        <p:nvSpPr>
          <p:cNvPr id="18" name="Text 16"/>
          <p:cNvSpPr/>
          <p:nvPr/>
        </p:nvSpPr>
        <p:spPr>
          <a:xfrm>
            <a:off x="8458200" y="3246120"/>
            <a:ext cx="2423160" cy="676656"/>
          </a:xfrm>
          <a:prstGeom prst="roundRect">
            <a:avLst>
              <a:gd name="adj" fmla="val 13514"/>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1500" b="1" dirty="0">
                <a:solidFill>
                  <a:srgbClr val="1E2A5C"/>
                </a:solidFill>
                <a:latin typeface="Pretendard" pitchFamily="34" charset="0"/>
                <a:ea typeface="Pretendard" pitchFamily="34" charset="-122"/>
                <a:cs typeface="Pretendard" pitchFamily="34" charset="-120"/>
              </a:rPr>
              <a:t>Hybrid Search</a:t>
            </a:r>
            <a:endParaRPr lang="en-US" sz="1500" dirty="0"/>
          </a:p>
          <a:p>
            <a:pPr algn="ctr" indent="0" marL="0">
              <a:spcAft>
                <a:spcPts val="200"/>
              </a:spcAft>
              <a:buNone/>
            </a:pPr>
            <a:r>
              <a:rPr lang="en-US" sz="1400" dirty="0">
                <a:solidFill>
                  <a:srgbClr val="2B3242"/>
                </a:solidFill>
                <a:latin typeface="Pretendard" pitchFamily="34" charset="0"/>
                <a:ea typeface="Pretendard" pitchFamily="34" charset="-122"/>
                <a:cs typeface="Pretendard" pitchFamily="34" charset="-120"/>
              </a:rPr>
              <a:t>경향 + 근거</a:t>
            </a:r>
            <a:endParaRPr lang="en-US" sz="1500" dirty="0"/>
          </a:p>
        </p:txBody>
      </p:sp>
      <p:sp>
        <p:nvSpPr>
          <p:cNvPr id="19" name="Shape 17"/>
          <p:cNvSpPr/>
          <p:nvPr/>
        </p:nvSpPr>
        <p:spPr>
          <a:xfrm>
            <a:off x="10881360" y="3584448"/>
            <a:ext cx="274320" cy="0"/>
          </a:xfrm>
          <a:prstGeom prst="line">
            <a:avLst/>
          </a:prstGeom>
          <a:noFill/>
          <a:ln w="25400">
            <a:solidFill>
              <a:srgbClr val="2E74C6"/>
            </a:solidFill>
            <a:prstDash val="solid"/>
          </a:ln>
        </p:spPr>
      </p:sp>
      <p:sp>
        <p:nvSpPr>
          <p:cNvPr id="20" name="Shape 18"/>
          <p:cNvSpPr/>
          <p:nvPr/>
        </p:nvSpPr>
        <p:spPr>
          <a:xfrm>
            <a:off x="11155680" y="2121408"/>
            <a:ext cx="0" cy="1463040"/>
          </a:xfrm>
          <a:prstGeom prst="line">
            <a:avLst/>
          </a:prstGeom>
          <a:noFill/>
          <a:ln w="25400">
            <a:solidFill>
              <a:srgbClr val="2E74C6"/>
            </a:solidFill>
            <a:prstDash val="solid"/>
          </a:ln>
        </p:spPr>
      </p:sp>
      <p:sp>
        <p:nvSpPr>
          <p:cNvPr id="21" name="Shape 19"/>
          <p:cNvSpPr/>
          <p:nvPr/>
        </p:nvSpPr>
        <p:spPr>
          <a:xfrm>
            <a:off x="11155680" y="2651760"/>
            <a:ext cx="292608" cy="274320"/>
          </a:xfrm>
          <a:prstGeom prst="rightArrow">
            <a:avLst/>
          </a:prstGeom>
          <a:solidFill>
            <a:srgbClr val="2E74C6"/>
          </a:solidFill>
          <a:ln/>
        </p:spPr>
      </p:sp>
      <p:sp>
        <p:nvSpPr>
          <p:cNvPr id="22" name="Text 20"/>
          <p:cNvSpPr/>
          <p:nvPr/>
        </p:nvSpPr>
        <p:spPr>
          <a:xfrm>
            <a:off x="11521440" y="2148840"/>
            <a:ext cx="2612441" cy="1280160"/>
          </a:xfrm>
          <a:prstGeom prst="roundRect">
            <a:avLst>
              <a:gd name="adj" fmla="val 7143"/>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⑤ 뒷단</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근거 묶기, 답 스트리밍, 인용 검사</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9321" y="4069080"/>
          <a:ext cx="13624560" cy="914400"/>
        </p:xfrm>
        <a:graphic>
          <a:graphicData uri="http://schemas.openxmlformats.org/drawingml/2006/table">
            <a:tbl>
              <a:tblPr/>
              <a:tblGrid>
                <a:gridCol w="2377440"/>
                <a:gridCol w="8778240"/>
                <a:gridCol w="2468880"/>
              </a:tblGrid>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하는 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상태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3891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⓪-1 세대 고정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첫 노드에서 활성 세대와 인덱스 이름을 한 번 읽고 질의 끝까지 바꾸지 않음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확장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3891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⓪-2 마감 시각</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Local 45초, Global 90초, Hybrid 150초. 넘으면 모은 근거로 부분 답</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확장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3891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⓪-3 질문 정리</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카드명 별칭을 정식 이름으로, 회원번호를 가명 id로 바꿔 필터로 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확장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3891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① 라우터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v0는 LLM 2분류. 규칙 먼저 보고 LLM 3분류, 꼴 오류면 Local</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일부 구현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3891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⑤ 뒷단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사실은 원문 우선, 보고서는 맥락. 답이 끝나면 인용 id 검사</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일부 구현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24" name="Shape 21"/>
          <p:cNvSpPr/>
          <p:nvPr/>
        </p:nvSpPr>
        <p:spPr>
          <a:xfrm>
            <a:off x="509321" y="6894576"/>
            <a:ext cx="384048" cy="256032"/>
          </a:xfrm>
          <a:prstGeom prst="roundRect">
            <a:avLst>
              <a:gd name="adj" fmla="val 17857"/>
            </a:avLst>
          </a:prstGeom>
          <a:solidFill>
            <a:srgbClr val="1E2A5C"/>
          </a:solidFill>
          <a:ln/>
        </p:spPr>
      </p:sp>
      <p:sp>
        <p:nvSpPr>
          <p:cNvPr id="25" name="Text 22"/>
          <p:cNvSpPr txBox="1"/>
          <p:nvPr/>
        </p:nvSpPr>
        <p:spPr>
          <a:xfrm>
            <a:off x="98480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v0 구현됨</a:t>
            </a:r>
            <a:endParaRPr lang="en-US" sz="1400" dirty="0"/>
          </a:p>
        </p:txBody>
      </p:sp>
      <p:sp>
        <p:nvSpPr>
          <p:cNvPr id="26" name="Shape 23"/>
          <p:cNvSpPr/>
          <p:nvPr/>
        </p:nvSpPr>
        <p:spPr>
          <a:xfrm>
            <a:off x="2841041" y="6894576"/>
            <a:ext cx="384048" cy="256032"/>
          </a:xfrm>
          <a:prstGeom prst="roundRect">
            <a:avLst>
              <a:gd name="adj" fmla="val 17857"/>
            </a:avLst>
          </a:prstGeom>
          <a:solidFill>
            <a:srgbClr val="EEF3FA"/>
          </a:solidFill>
          <a:ln w="19050">
            <a:solidFill>
              <a:srgbClr val="1E2A5C"/>
            </a:solidFill>
            <a:prstDash val="solid"/>
          </a:ln>
        </p:spPr>
      </p:sp>
      <p:sp>
        <p:nvSpPr>
          <p:cNvPr id="27" name="Text 24"/>
          <p:cNvSpPr txBox="1"/>
          <p:nvPr/>
        </p:nvSpPr>
        <p:spPr>
          <a:xfrm>
            <a:off x="331652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일부 구현</a:t>
            </a:r>
            <a:endParaRPr lang="en-US" sz="1400" dirty="0"/>
          </a:p>
        </p:txBody>
      </p:sp>
      <p:sp>
        <p:nvSpPr>
          <p:cNvPr id="28" name="Shape 25"/>
          <p:cNvSpPr/>
          <p:nvPr/>
        </p:nvSpPr>
        <p:spPr>
          <a:xfrm>
            <a:off x="5172761" y="6894576"/>
            <a:ext cx="384048" cy="256032"/>
          </a:xfrm>
          <a:prstGeom prst="roundRect">
            <a:avLst>
              <a:gd name="adj" fmla="val 17857"/>
            </a:avLst>
          </a:prstGeom>
          <a:solidFill>
            <a:srgbClr val="FFFFFF"/>
          </a:solidFill>
          <a:ln w="19050">
            <a:solidFill>
              <a:srgbClr val="2E74C6"/>
            </a:solidFill>
            <a:prstDash val="dash"/>
          </a:ln>
        </p:spPr>
      </p:sp>
      <p:sp>
        <p:nvSpPr>
          <p:cNvPr id="29" name="Text 26"/>
          <p:cNvSpPr txBox="1"/>
          <p:nvPr/>
        </p:nvSpPr>
        <p:spPr>
          <a:xfrm>
            <a:off x="564824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확장(최종안)</a:t>
            </a:r>
            <a:endParaRPr lang="en-US" sz="1400" dirty="0"/>
          </a:p>
        </p:txBody>
      </p:sp>
      <p:sp>
        <p:nvSpPr>
          <p:cNvPr id="30" name="Shape 27"/>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31" name="Text 28">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32" name="Shape 29"/>
          <p:cNvSpPr/>
          <p:nvPr/>
        </p:nvSpPr>
        <p:spPr>
          <a:xfrm>
            <a:off x="509321" y="7388352"/>
            <a:ext cx="13624560" cy="0"/>
          </a:xfrm>
          <a:prstGeom prst="line">
            <a:avLst/>
          </a:prstGeom>
          <a:noFill/>
          <a:ln w="12700">
            <a:solidFill>
              <a:srgbClr val="E9ECF3"/>
            </a:solidFill>
            <a:prstDash val="solid"/>
          </a:ln>
        </p:spPr>
      </p:sp>
      <p:sp>
        <p:nvSpPr>
          <p:cNvPr id="33" name="Text 30"/>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teacher/plan/graphrag-search-flow.md 3절, teacher/graphrag/v0/graph_search.py</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Local Search: 세 갈래로 시작점을 찾고, 1-hop으로 넓혀 원문 위주로 답함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회원번호와 카드는 필터로 범위를 먼저 좁히고, 청크와 엔티티와 이름 갈래가 함께 시작점을 찾음</a:t>
            </a:r>
            <a:endParaRPr lang="en-US" sz="1800" dirty="0"/>
          </a:p>
        </p:txBody>
      </p:sp>
      <p:sp>
        <p:nvSpPr>
          <p:cNvPr id="4" name="Text 2"/>
          <p:cNvSpPr/>
          <p:nvPr/>
        </p:nvSpPr>
        <p:spPr>
          <a:xfrm>
            <a:off x="509321" y="1737360"/>
            <a:ext cx="2560320" cy="457200"/>
          </a:xfrm>
          <a:prstGeom prst="roundRect">
            <a:avLst>
              <a:gd name="adj" fmla="val 20000"/>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1600" b="1" dirty="0">
                <a:solidFill>
                  <a:srgbClr val="1E2A5C"/>
                </a:solidFill>
                <a:latin typeface="Pretendard" pitchFamily="34" charset="0"/>
                <a:ea typeface="Pretendard" pitchFamily="34" charset="-122"/>
                <a:cs typeface="Pretendard" pitchFamily="34" charset="-120"/>
              </a:rPr>
              <a:t>범위 좁히기(필터)</a:t>
            </a:r>
            <a:endParaRPr lang="en-US" sz="1600" dirty="0"/>
          </a:p>
        </p:txBody>
      </p:sp>
      <p:sp>
        <p:nvSpPr>
          <p:cNvPr id="5" name="Text 3"/>
          <p:cNvSpPr txBox="1"/>
          <p:nvPr/>
        </p:nvSpPr>
        <p:spPr>
          <a:xfrm>
            <a:off x="3206801" y="1737360"/>
            <a:ext cx="7870241" cy="457200"/>
          </a:xfrm>
          <a:prstGeom prst="rect">
            <a:avLst/>
          </a:prstGeom>
          <a:noFill/>
          <a:ln/>
        </p:spPr>
        <p:txBody>
          <a:bodyPr wrap="square" lIns="0" tIns="0" rIns="0" bIns="0" rtlCol="0" anchor="ctr"/>
          <a:lstStyle/>
          <a:p>
            <a:pPr indent="0" marL="0">
              <a:buNone/>
            </a:pPr>
            <a:r>
              <a:rPr lang="en-US" sz="1500" dirty="0">
                <a:solidFill>
                  <a:srgbClr val="2B3242"/>
                </a:solidFill>
                <a:latin typeface="Pretendard" pitchFamily="34" charset="0"/>
                <a:ea typeface="Pretendard" pitchFamily="34" charset="-122"/>
                <a:cs typeface="Pretendard" pitchFamily="34" charset="-120"/>
              </a:rPr>
              <a:t>회원번호 M-1042 → 가명 id, 카드명 → product_id. 상담 청크 본문에는 회원번호가 없음</a:t>
            </a:r>
            <a:endParaRPr lang="en-US" sz="1500" dirty="0"/>
          </a:p>
        </p:txBody>
      </p:sp>
      <p:sp>
        <p:nvSpPr>
          <p:cNvPr id="6" name="Text 4"/>
          <p:cNvSpPr/>
          <p:nvPr/>
        </p:nvSpPr>
        <p:spPr>
          <a:xfrm>
            <a:off x="509321" y="2377440"/>
            <a:ext cx="1828800" cy="960120"/>
          </a:xfrm>
          <a:prstGeom prst="roundRect">
            <a:avLst>
              <a:gd name="adj" fmla="val 9524"/>
            </a:avLst>
          </a:prstGeom>
          <a:solidFill>
            <a:srgbClr val="404155"/>
          </a:solidFill>
          <a:ln/>
        </p:spPr>
        <p:txBody>
          <a:bodyPr wrap="square" lIns="101600" tIns="63500" rIns="101600" bIns="63500" rtlCol="0" anchor="ctr"/>
          <a:lstStyle/>
          <a:p>
            <a:pPr algn="ctr" indent="0" marL="0">
              <a:spcAft>
                <a:spcPts val="400"/>
              </a:spcAft>
              <a:buNone/>
            </a:pPr>
            <a:r>
              <a:rPr lang="en-US" sz="1800" b="1" dirty="0">
                <a:solidFill>
                  <a:srgbClr val="FFFFFF"/>
                </a:solidFill>
                <a:latin typeface="Pretendard" pitchFamily="34" charset="0"/>
                <a:ea typeface="Pretendard" pitchFamily="34" charset="-122"/>
                <a:cs typeface="Pretendard" pitchFamily="34" charset="-120"/>
              </a:rPr>
              <a:t>청크 갈래</a:t>
            </a:r>
            <a:endParaRPr lang="en-US" sz="1800" dirty="0"/>
          </a:p>
        </p:txBody>
      </p:sp>
      <p:sp>
        <p:nvSpPr>
          <p:cNvPr id="7" name="Shape 5"/>
          <p:cNvSpPr/>
          <p:nvPr/>
        </p:nvSpPr>
        <p:spPr>
          <a:xfrm>
            <a:off x="2383841" y="2720340"/>
            <a:ext cx="274320" cy="274320"/>
          </a:xfrm>
          <a:prstGeom prst="rightArrow">
            <a:avLst/>
          </a:prstGeom>
          <a:solidFill>
            <a:srgbClr val="2E74C6"/>
          </a:solidFill>
          <a:ln/>
        </p:spPr>
      </p:sp>
      <p:sp>
        <p:nvSpPr>
          <p:cNvPr id="8" name="Text 6"/>
          <p:cNvSpPr/>
          <p:nvPr/>
        </p:nvSpPr>
        <p:spPr>
          <a:xfrm>
            <a:off x="2703881" y="2377440"/>
            <a:ext cx="2286000" cy="960120"/>
          </a:xfrm>
          <a:prstGeom prst="roundRect">
            <a:avLst>
              <a:gd name="adj" fmla="val 9524"/>
            </a:avLst>
          </a:prstGeom>
          <a:solidFill>
            <a:srgbClr val="1E2A5C"/>
          </a:solidFill>
          <a:ln/>
        </p:spPr>
        <p:txBody>
          <a:bodyPr wrap="square" lIns="101600" tIns="63500" rIns="101600" bIns="63500" rtlCol="0" anchor="ctr"/>
          <a:lstStyle/>
          <a:p>
            <a:pPr algn="ctr" indent="0" marL="0">
              <a:spcAft>
                <a:spcPts val="200"/>
              </a:spcAft>
              <a:buNone/>
            </a:pPr>
            <a:r>
              <a:rPr lang="en-US" sz="1600" dirty="0">
                <a:solidFill>
                  <a:srgbClr val="FFFFFF"/>
                </a:solidFill>
                <a:latin typeface="Pretendard" pitchFamily="34" charset="0"/>
                <a:ea typeface="Pretendard" pitchFamily="34" charset="-122"/>
                <a:cs typeface="Pretendard" pitchFamily="34" charset="-120"/>
              </a:rPr>
              <a:t>OpenSearch BM25 25 + 벡터 25</a:t>
            </a:r>
            <a:endParaRPr lang="en-US" sz="1600" dirty="0"/>
          </a:p>
        </p:txBody>
      </p:sp>
      <p:sp>
        <p:nvSpPr>
          <p:cNvPr id="9" name="Shape 7"/>
          <p:cNvSpPr/>
          <p:nvPr/>
        </p:nvSpPr>
        <p:spPr>
          <a:xfrm>
            <a:off x="5035601" y="2720340"/>
            <a:ext cx="274320" cy="274320"/>
          </a:xfrm>
          <a:prstGeom prst="rightArrow">
            <a:avLst/>
          </a:prstGeom>
          <a:solidFill>
            <a:srgbClr val="2E74C6"/>
          </a:solidFill>
          <a:ln/>
        </p:spPr>
      </p:sp>
      <p:sp>
        <p:nvSpPr>
          <p:cNvPr id="10" name="Text 8"/>
          <p:cNvSpPr/>
          <p:nvPr/>
        </p:nvSpPr>
        <p:spPr>
          <a:xfrm>
            <a:off x="5355641" y="2377440"/>
            <a:ext cx="2286000" cy="960120"/>
          </a:xfrm>
          <a:prstGeom prst="roundRect">
            <a:avLst>
              <a:gd name="adj" fmla="val 9524"/>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200"/>
              </a:spcAft>
              <a:buNone/>
            </a:pPr>
            <a:r>
              <a:rPr lang="en-US" sz="1600" dirty="0">
                <a:solidFill>
                  <a:srgbClr val="2B3242"/>
                </a:solidFill>
                <a:latin typeface="Pretendard" pitchFamily="34" charset="0"/>
                <a:ea typeface="Pretendard" pitchFamily="34" charset="-122"/>
                <a:cs typeface="Pretendard" pitchFamily="34" charset="-120"/>
              </a:rPr>
              <a:t>RRF(k 60) + 리랭커</a:t>
            </a:r>
            <a:endParaRPr lang="en-US" sz="1600" dirty="0"/>
          </a:p>
        </p:txBody>
      </p:sp>
      <p:sp>
        <p:nvSpPr>
          <p:cNvPr id="11" name="Shape 9"/>
          <p:cNvSpPr/>
          <p:nvPr/>
        </p:nvSpPr>
        <p:spPr>
          <a:xfrm>
            <a:off x="7687361" y="2720340"/>
            <a:ext cx="274320" cy="274320"/>
          </a:xfrm>
          <a:prstGeom prst="rightArrow">
            <a:avLst/>
          </a:prstGeom>
          <a:solidFill>
            <a:srgbClr val="2E74C6"/>
          </a:solidFill>
          <a:ln/>
        </p:spPr>
      </p:sp>
      <p:sp>
        <p:nvSpPr>
          <p:cNvPr id="12" name="Text 10"/>
          <p:cNvSpPr/>
          <p:nvPr/>
        </p:nvSpPr>
        <p:spPr>
          <a:xfrm>
            <a:off x="8007401" y="2377440"/>
            <a:ext cx="2286000" cy="960120"/>
          </a:xfrm>
          <a:prstGeom prst="roundRect">
            <a:avLst>
              <a:gd name="adj" fmla="val 9524"/>
            </a:avLst>
          </a:prstGeom>
          <a:solidFill>
            <a:srgbClr val="1E2A5C"/>
          </a:solidFill>
          <a:ln/>
        </p:spPr>
        <p:txBody>
          <a:bodyPr wrap="square" lIns="101600" tIns="63500" rIns="101600" bIns="63500" rtlCol="0" anchor="ctr"/>
          <a:lstStyle/>
          <a:p>
            <a:pPr algn="ctr" indent="0" marL="0">
              <a:spcAft>
                <a:spcPts val="200"/>
              </a:spcAft>
              <a:buNone/>
            </a:pPr>
            <a:r>
              <a:rPr lang="en-US" sz="1600" dirty="0">
                <a:solidFill>
                  <a:srgbClr val="FFFFFF"/>
                </a:solidFill>
                <a:latin typeface="Pretendard" pitchFamily="34" charset="0"/>
                <a:ea typeface="Pretendard" pitchFamily="34" charset="-122"/>
                <a:cs typeface="Pretendard" pitchFamily="34" charset="-120"/>
              </a:rPr>
              <a:t>청크 4 ~ 6개 → 그 청크의 엔티티</a:t>
            </a:r>
            <a:endParaRPr lang="en-US" sz="1600" dirty="0"/>
          </a:p>
        </p:txBody>
      </p:sp>
      <p:sp>
        <p:nvSpPr>
          <p:cNvPr id="13" name="Text 11"/>
          <p:cNvSpPr/>
          <p:nvPr/>
        </p:nvSpPr>
        <p:spPr>
          <a:xfrm>
            <a:off x="509321" y="3474720"/>
            <a:ext cx="1828800" cy="960120"/>
          </a:xfrm>
          <a:prstGeom prst="roundRect">
            <a:avLst>
              <a:gd name="adj" fmla="val 9524"/>
            </a:avLst>
          </a:prstGeom>
          <a:solidFill>
            <a:srgbClr val="404155"/>
          </a:solidFill>
          <a:ln/>
        </p:spPr>
        <p:txBody>
          <a:bodyPr wrap="square" lIns="101600" tIns="63500" rIns="101600" bIns="63500" rtlCol="0" anchor="ctr"/>
          <a:lstStyle/>
          <a:p>
            <a:pPr algn="ctr" indent="0" marL="0">
              <a:spcAft>
                <a:spcPts val="400"/>
              </a:spcAft>
              <a:buNone/>
            </a:pPr>
            <a:r>
              <a:rPr lang="en-US" sz="1800" b="1" dirty="0">
                <a:solidFill>
                  <a:srgbClr val="FFFFFF"/>
                </a:solidFill>
                <a:latin typeface="Pretendard" pitchFamily="34" charset="0"/>
                <a:ea typeface="Pretendard" pitchFamily="34" charset="-122"/>
                <a:cs typeface="Pretendard" pitchFamily="34" charset="-120"/>
              </a:rPr>
              <a:t>엔티티 갈래</a:t>
            </a:r>
            <a:endParaRPr lang="en-US" sz="1800" dirty="0"/>
          </a:p>
        </p:txBody>
      </p:sp>
      <p:sp>
        <p:nvSpPr>
          <p:cNvPr id="14" name="Shape 12"/>
          <p:cNvSpPr/>
          <p:nvPr/>
        </p:nvSpPr>
        <p:spPr>
          <a:xfrm>
            <a:off x="2383841" y="3817620"/>
            <a:ext cx="274320" cy="274320"/>
          </a:xfrm>
          <a:prstGeom prst="rightArrow">
            <a:avLst/>
          </a:prstGeom>
          <a:solidFill>
            <a:srgbClr val="2E74C6"/>
          </a:solidFill>
          <a:ln/>
        </p:spPr>
      </p:sp>
      <p:sp>
        <p:nvSpPr>
          <p:cNvPr id="15" name="Text 13"/>
          <p:cNvSpPr/>
          <p:nvPr/>
        </p:nvSpPr>
        <p:spPr>
          <a:xfrm>
            <a:off x="2703881" y="3474720"/>
            <a:ext cx="2286000" cy="960120"/>
          </a:xfrm>
          <a:prstGeom prst="roundRect">
            <a:avLst>
              <a:gd name="adj" fmla="val 9524"/>
            </a:avLst>
          </a:prstGeom>
          <a:solidFill>
            <a:srgbClr val="1E2A5C"/>
          </a:solidFill>
          <a:ln/>
        </p:spPr>
        <p:txBody>
          <a:bodyPr wrap="square" lIns="101600" tIns="63500" rIns="101600" bIns="63500" rtlCol="0" anchor="ctr"/>
          <a:lstStyle/>
          <a:p>
            <a:pPr algn="ctr" indent="0" marL="0">
              <a:spcAft>
                <a:spcPts val="200"/>
              </a:spcAft>
              <a:buNone/>
            </a:pPr>
            <a:r>
              <a:rPr lang="en-US" sz="1600" dirty="0">
                <a:solidFill>
                  <a:srgbClr val="FFFFFF"/>
                </a:solidFill>
                <a:latin typeface="Pretendard" pitchFamily="34" charset="0"/>
                <a:ea typeface="Pretendard" pitchFamily="34" charset="-122"/>
                <a:cs typeface="Pretendard" pitchFamily="34" charset="-120"/>
              </a:rPr>
              <a:t>Neo4j 벡터 인덱스 kg_entity_embedding</a:t>
            </a:r>
            <a:endParaRPr lang="en-US" sz="1600" dirty="0"/>
          </a:p>
        </p:txBody>
      </p:sp>
      <p:sp>
        <p:nvSpPr>
          <p:cNvPr id="16" name="Shape 14"/>
          <p:cNvSpPr/>
          <p:nvPr/>
        </p:nvSpPr>
        <p:spPr>
          <a:xfrm>
            <a:off x="5035601" y="3817620"/>
            <a:ext cx="274320" cy="274320"/>
          </a:xfrm>
          <a:prstGeom prst="rightArrow">
            <a:avLst/>
          </a:prstGeom>
          <a:solidFill>
            <a:srgbClr val="2E74C6"/>
          </a:solidFill>
          <a:ln/>
        </p:spPr>
      </p:sp>
      <p:sp>
        <p:nvSpPr>
          <p:cNvPr id="17" name="Text 15"/>
          <p:cNvSpPr/>
          <p:nvPr/>
        </p:nvSpPr>
        <p:spPr>
          <a:xfrm>
            <a:off x="5355641" y="3474720"/>
            <a:ext cx="2286000" cy="960120"/>
          </a:xfrm>
          <a:prstGeom prst="roundRect">
            <a:avLst>
              <a:gd name="adj" fmla="val 9524"/>
            </a:avLst>
          </a:prstGeom>
          <a:solidFill>
            <a:srgbClr val="1E2A5C"/>
          </a:solidFill>
          <a:ln/>
        </p:spPr>
        <p:txBody>
          <a:bodyPr wrap="square" lIns="101600" tIns="63500" rIns="101600" bIns="63500" rtlCol="0" anchor="ctr"/>
          <a:lstStyle/>
          <a:p>
            <a:pPr algn="ctr" indent="0" marL="0">
              <a:spcAft>
                <a:spcPts val="200"/>
              </a:spcAft>
              <a:buNone/>
            </a:pPr>
            <a:r>
              <a:rPr lang="en-US" sz="1600" dirty="0">
                <a:solidFill>
                  <a:srgbClr val="FFFFFF"/>
                </a:solidFill>
                <a:latin typeface="Pretendard" pitchFamily="34" charset="0"/>
                <a:ea typeface="Pretendard" pitchFamily="34" charset="-122"/>
                <a:cs typeface="Pretendard" pitchFamily="34" charset="-120"/>
              </a:rPr>
              <a:t>엔티티 8개(세대 필터)</a:t>
            </a:r>
            <a:endParaRPr lang="en-US" sz="1600" dirty="0"/>
          </a:p>
        </p:txBody>
      </p:sp>
      <p:sp>
        <p:nvSpPr>
          <p:cNvPr id="18" name="Shape 16"/>
          <p:cNvSpPr/>
          <p:nvPr/>
        </p:nvSpPr>
        <p:spPr>
          <a:xfrm>
            <a:off x="7687361" y="3817620"/>
            <a:ext cx="274320" cy="274320"/>
          </a:xfrm>
          <a:prstGeom prst="rightArrow">
            <a:avLst/>
          </a:prstGeom>
          <a:solidFill>
            <a:srgbClr val="2E74C6"/>
          </a:solidFill>
          <a:ln/>
        </p:spPr>
      </p:sp>
      <p:sp>
        <p:nvSpPr>
          <p:cNvPr id="19" name="Text 17"/>
          <p:cNvSpPr/>
          <p:nvPr/>
        </p:nvSpPr>
        <p:spPr>
          <a:xfrm>
            <a:off x="8007401" y="3474720"/>
            <a:ext cx="2286000" cy="960120"/>
          </a:xfrm>
          <a:prstGeom prst="roundRect">
            <a:avLst>
              <a:gd name="adj" fmla="val 9524"/>
            </a:avLst>
          </a:prstGeom>
          <a:solidFill>
            <a:srgbClr val="1E2A5C"/>
          </a:solidFill>
          <a:ln/>
        </p:spPr>
        <p:txBody>
          <a:bodyPr wrap="square" lIns="101600" tIns="63500" rIns="101600" bIns="63500" rtlCol="0" anchor="ctr"/>
          <a:lstStyle/>
          <a:p>
            <a:pPr algn="ctr" indent="0" marL="0">
              <a:spcAft>
                <a:spcPts val="200"/>
              </a:spcAft>
              <a:buNone/>
            </a:pPr>
            <a:r>
              <a:rPr lang="en-US" sz="1600" dirty="0">
                <a:solidFill>
                  <a:srgbClr val="FFFFFF"/>
                </a:solidFill>
                <a:latin typeface="Pretendard" pitchFamily="34" charset="0"/>
                <a:ea typeface="Pretendard" pitchFamily="34" charset="-122"/>
                <a:cs typeface="Pretendard" pitchFamily="34" charset="-120"/>
              </a:rPr>
              <a:t>1-hop 이웃 6, 원문, 보고서</a:t>
            </a:r>
            <a:endParaRPr lang="en-US" sz="1600" dirty="0"/>
          </a:p>
        </p:txBody>
      </p:sp>
      <p:sp>
        <p:nvSpPr>
          <p:cNvPr id="20" name="Text 18"/>
          <p:cNvSpPr/>
          <p:nvPr/>
        </p:nvSpPr>
        <p:spPr>
          <a:xfrm>
            <a:off x="509321" y="4572000"/>
            <a:ext cx="1828800" cy="960120"/>
          </a:xfrm>
          <a:prstGeom prst="roundRect">
            <a:avLst>
              <a:gd name="adj" fmla="val 9524"/>
            </a:avLst>
          </a:prstGeom>
          <a:solidFill>
            <a:srgbClr val="404155"/>
          </a:solidFill>
          <a:ln/>
        </p:spPr>
        <p:txBody>
          <a:bodyPr wrap="square" lIns="101600" tIns="63500" rIns="101600" bIns="63500" rtlCol="0" anchor="ctr"/>
          <a:lstStyle/>
          <a:p>
            <a:pPr algn="ctr" indent="0" marL="0">
              <a:spcAft>
                <a:spcPts val="400"/>
              </a:spcAft>
              <a:buNone/>
            </a:pPr>
            <a:r>
              <a:rPr lang="en-US" sz="1800" b="1" dirty="0">
                <a:solidFill>
                  <a:srgbClr val="FFFFFF"/>
                </a:solidFill>
                <a:latin typeface="Pretendard" pitchFamily="34" charset="0"/>
                <a:ea typeface="Pretendard" pitchFamily="34" charset="-122"/>
                <a:cs typeface="Pretendard" pitchFamily="34" charset="-120"/>
              </a:rPr>
              <a:t>이름 갈래</a:t>
            </a:r>
            <a:endParaRPr lang="en-US" sz="1800" dirty="0"/>
          </a:p>
        </p:txBody>
      </p:sp>
      <p:sp>
        <p:nvSpPr>
          <p:cNvPr id="21" name="Shape 19"/>
          <p:cNvSpPr/>
          <p:nvPr/>
        </p:nvSpPr>
        <p:spPr>
          <a:xfrm>
            <a:off x="2383841" y="4914900"/>
            <a:ext cx="274320" cy="274320"/>
          </a:xfrm>
          <a:prstGeom prst="rightArrow">
            <a:avLst/>
          </a:prstGeom>
          <a:solidFill>
            <a:srgbClr val="2E74C6"/>
          </a:solidFill>
          <a:ln/>
        </p:spPr>
      </p:sp>
      <p:sp>
        <p:nvSpPr>
          <p:cNvPr id="22" name="Text 20"/>
          <p:cNvSpPr/>
          <p:nvPr/>
        </p:nvSpPr>
        <p:spPr>
          <a:xfrm>
            <a:off x="2703881" y="4572000"/>
            <a:ext cx="2286000" cy="960120"/>
          </a:xfrm>
          <a:prstGeom prst="roundRect">
            <a:avLst>
              <a:gd name="adj" fmla="val 9524"/>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200"/>
              </a:spcAft>
              <a:buNone/>
            </a:pPr>
            <a:r>
              <a:rPr lang="en-US" sz="1600" dirty="0">
                <a:solidFill>
                  <a:srgbClr val="2B3242"/>
                </a:solidFill>
                <a:latin typeface="Pretendard" pitchFamily="34" charset="0"/>
                <a:ea typeface="Pretendard" pitchFamily="34" charset="-122"/>
                <a:cs typeface="Pretendard" pitchFamily="34" charset="-120"/>
              </a:rPr>
              <a:t>정식 카드명, 조항 번호</a:t>
            </a:r>
            <a:endParaRPr lang="en-US" sz="1600" dirty="0"/>
          </a:p>
        </p:txBody>
      </p:sp>
      <p:sp>
        <p:nvSpPr>
          <p:cNvPr id="23" name="Shape 21"/>
          <p:cNvSpPr/>
          <p:nvPr/>
        </p:nvSpPr>
        <p:spPr>
          <a:xfrm>
            <a:off x="5035601" y="4914900"/>
            <a:ext cx="274320" cy="274320"/>
          </a:xfrm>
          <a:prstGeom prst="rightArrow">
            <a:avLst/>
          </a:prstGeom>
          <a:solidFill>
            <a:srgbClr val="2E74C6"/>
          </a:solidFill>
          <a:ln/>
        </p:spPr>
      </p:sp>
      <p:sp>
        <p:nvSpPr>
          <p:cNvPr id="24" name="Text 22"/>
          <p:cNvSpPr/>
          <p:nvPr/>
        </p:nvSpPr>
        <p:spPr>
          <a:xfrm>
            <a:off x="5355641" y="4572000"/>
            <a:ext cx="2286000" cy="960120"/>
          </a:xfrm>
          <a:prstGeom prst="roundRect">
            <a:avLst>
              <a:gd name="adj" fmla="val 9524"/>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200"/>
              </a:spcAft>
              <a:buNone/>
            </a:pPr>
            <a:r>
              <a:rPr lang="en-US" sz="1600" dirty="0">
                <a:solidFill>
                  <a:srgbClr val="2B3242"/>
                </a:solidFill>
                <a:latin typeface="Pretendard" pitchFamily="34" charset="0"/>
                <a:ea typeface="Pretendard" pitchFamily="34" charset="-122"/>
                <a:cs typeface="Pretendard" pitchFamily="34" charset="-120"/>
              </a:rPr>
              <a:t>Cypher 정확 일치</a:t>
            </a:r>
            <a:endParaRPr lang="en-US" sz="1600" dirty="0"/>
          </a:p>
        </p:txBody>
      </p:sp>
      <p:sp>
        <p:nvSpPr>
          <p:cNvPr id="25" name="Shape 23"/>
          <p:cNvSpPr/>
          <p:nvPr/>
        </p:nvSpPr>
        <p:spPr>
          <a:xfrm>
            <a:off x="7687361" y="4914900"/>
            <a:ext cx="274320" cy="274320"/>
          </a:xfrm>
          <a:prstGeom prst="rightArrow">
            <a:avLst/>
          </a:prstGeom>
          <a:solidFill>
            <a:srgbClr val="2E74C6"/>
          </a:solidFill>
          <a:ln/>
        </p:spPr>
      </p:sp>
      <p:sp>
        <p:nvSpPr>
          <p:cNvPr id="26" name="Text 24"/>
          <p:cNvSpPr/>
          <p:nvPr/>
        </p:nvSpPr>
        <p:spPr>
          <a:xfrm>
            <a:off x="8007401" y="4572000"/>
            <a:ext cx="2286000" cy="960120"/>
          </a:xfrm>
          <a:prstGeom prst="roundRect">
            <a:avLst>
              <a:gd name="adj" fmla="val 9524"/>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200"/>
              </a:spcAft>
              <a:buNone/>
            </a:pPr>
            <a:r>
              <a:rPr lang="en-US" sz="1600" dirty="0">
                <a:solidFill>
                  <a:srgbClr val="2B3242"/>
                </a:solidFill>
                <a:latin typeface="Pretendard" pitchFamily="34" charset="0"/>
                <a:ea typeface="Pretendard" pitchFamily="34" charset="-122"/>
                <a:cs typeface="Pretendard" pitchFamily="34" charset="-120"/>
              </a:rPr>
              <a:t>엔티티 → 원문, 보고서</a:t>
            </a:r>
            <a:endParaRPr lang="en-US" sz="1600" dirty="0"/>
          </a:p>
        </p:txBody>
      </p:sp>
      <p:sp>
        <p:nvSpPr>
          <p:cNvPr id="27" name="Shape 25"/>
          <p:cNvSpPr/>
          <p:nvPr/>
        </p:nvSpPr>
        <p:spPr>
          <a:xfrm>
            <a:off x="10293401" y="2857500"/>
            <a:ext cx="182880" cy="0"/>
          </a:xfrm>
          <a:prstGeom prst="line">
            <a:avLst/>
          </a:prstGeom>
          <a:noFill/>
          <a:ln w="25400">
            <a:solidFill>
              <a:srgbClr val="2E74C6"/>
            </a:solidFill>
            <a:prstDash val="solid"/>
          </a:ln>
        </p:spPr>
      </p:sp>
      <p:sp>
        <p:nvSpPr>
          <p:cNvPr id="28" name="Shape 26"/>
          <p:cNvSpPr/>
          <p:nvPr/>
        </p:nvSpPr>
        <p:spPr>
          <a:xfrm>
            <a:off x="10293401" y="3954780"/>
            <a:ext cx="182880" cy="0"/>
          </a:xfrm>
          <a:prstGeom prst="line">
            <a:avLst/>
          </a:prstGeom>
          <a:noFill/>
          <a:ln w="25400">
            <a:solidFill>
              <a:srgbClr val="2E74C6"/>
            </a:solidFill>
            <a:prstDash val="solid"/>
          </a:ln>
        </p:spPr>
      </p:sp>
      <p:sp>
        <p:nvSpPr>
          <p:cNvPr id="29" name="Shape 27"/>
          <p:cNvSpPr/>
          <p:nvPr/>
        </p:nvSpPr>
        <p:spPr>
          <a:xfrm>
            <a:off x="10293401" y="5052060"/>
            <a:ext cx="182880" cy="0"/>
          </a:xfrm>
          <a:prstGeom prst="line">
            <a:avLst/>
          </a:prstGeom>
          <a:noFill/>
          <a:ln w="25400">
            <a:solidFill>
              <a:srgbClr val="2E74C6"/>
            </a:solidFill>
            <a:prstDash val="solid"/>
          </a:ln>
        </p:spPr>
      </p:sp>
      <p:sp>
        <p:nvSpPr>
          <p:cNvPr id="30" name="Shape 28"/>
          <p:cNvSpPr/>
          <p:nvPr/>
        </p:nvSpPr>
        <p:spPr>
          <a:xfrm>
            <a:off x="10476281" y="2857500"/>
            <a:ext cx="0" cy="2194560"/>
          </a:xfrm>
          <a:prstGeom prst="line">
            <a:avLst/>
          </a:prstGeom>
          <a:noFill/>
          <a:ln w="25400">
            <a:solidFill>
              <a:srgbClr val="2E74C6"/>
            </a:solidFill>
            <a:prstDash val="solid"/>
          </a:ln>
        </p:spPr>
      </p:sp>
      <p:sp>
        <p:nvSpPr>
          <p:cNvPr id="31" name="Shape 29"/>
          <p:cNvSpPr/>
          <p:nvPr/>
        </p:nvSpPr>
        <p:spPr>
          <a:xfrm>
            <a:off x="10476281" y="3268980"/>
            <a:ext cx="365760" cy="274320"/>
          </a:xfrm>
          <a:prstGeom prst="rightArrow">
            <a:avLst/>
          </a:prstGeom>
          <a:solidFill>
            <a:srgbClr val="2E74C6"/>
          </a:solidFill>
          <a:ln/>
        </p:spPr>
      </p:sp>
      <p:sp>
        <p:nvSpPr>
          <p:cNvPr id="32" name="Text 30"/>
          <p:cNvSpPr/>
          <p:nvPr/>
        </p:nvSpPr>
        <p:spPr>
          <a:xfrm>
            <a:off x="10887761" y="2377440"/>
            <a:ext cx="3246120" cy="2057400"/>
          </a:xfrm>
          <a:prstGeom prst="roundRect">
            <a:avLst>
              <a:gd name="adj" fmla="val 4444"/>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고르고 자르기</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갈래별 쿼터</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몫 원문 0.5</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관계 0.35</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보고서 0.15</a:t>
            </a:r>
            <a:endParaRPr lang="en-US" sz="2000" dirty="0"/>
          </a:p>
        </p:txBody>
      </p:sp>
      <p:sp>
        <p:nvSpPr>
          <p:cNvPr id="33" name="Shape 31"/>
          <p:cNvSpPr/>
          <p:nvPr/>
        </p:nvSpPr>
        <p:spPr>
          <a:xfrm>
            <a:off x="12373661" y="4434840"/>
            <a:ext cx="274320" cy="137160"/>
          </a:xfrm>
          <a:prstGeom prst="downArrow">
            <a:avLst/>
          </a:prstGeom>
          <a:solidFill>
            <a:srgbClr val="2E74C6"/>
          </a:solidFill>
          <a:ln/>
        </p:spPr>
      </p:sp>
      <p:sp>
        <p:nvSpPr>
          <p:cNvPr id="34" name="Text 32"/>
          <p:cNvSpPr/>
          <p:nvPr/>
        </p:nvSpPr>
        <p:spPr>
          <a:xfrm>
            <a:off x="10887761" y="4572000"/>
            <a:ext cx="3246120" cy="960120"/>
          </a:xfrm>
          <a:prstGeom prst="roundRect">
            <a:avLst>
              <a:gd name="adj" fmla="val 9524"/>
            </a:avLst>
          </a:prstGeom>
          <a:solidFill>
            <a:srgbClr val="1E2A5C"/>
          </a:solidFill>
          <a:ln/>
        </p:spPr>
        <p:txBody>
          <a:bodyPr wrap="square" lIns="101600" tIns="63500" rIns="101600" bIns="63500" rtlCol="0" anchor="ctr"/>
          <a:lstStyle/>
          <a:p>
            <a:pPr algn="ctr" indent="0" marL="0">
              <a:spcAft>
                <a:spcPts val="400"/>
              </a:spcAft>
              <a:buNone/>
            </a:pPr>
            <a:r>
              <a:rPr lang="en-US" sz="2000" b="1" dirty="0">
                <a:solidFill>
                  <a:srgbClr val="FFFFFF"/>
                </a:solidFill>
                <a:latin typeface="Pretendard" pitchFamily="34" charset="0"/>
                <a:ea typeface="Pretendard" pitchFamily="34" charset="-122"/>
                <a:cs typeface="Pretendard" pitchFamily="34" charset="-120"/>
              </a:rPr>
              <a:t>답</a:t>
            </a:r>
            <a:endParaRPr lang="en-US" sz="2000" dirty="0"/>
          </a:p>
          <a:p>
            <a:pPr algn="ctr" indent="0" marL="0">
              <a:spcAft>
                <a:spcPts val="200"/>
              </a:spcAft>
              <a:buNone/>
            </a:pPr>
            <a:r>
              <a:rPr lang="en-US" sz="1500" dirty="0">
                <a:solidFill>
                  <a:srgbClr val="FFFFFF"/>
                </a:solidFill>
                <a:latin typeface="Pretendard" pitchFamily="34" charset="0"/>
                <a:ea typeface="Pretendard" pitchFamily="34" charset="-122"/>
                <a:cs typeface="Pretendard" pitchFamily="34" charset="-120"/>
              </a:rPr>
              <a:t>원문 id 인용, 없으면 「근거에 없음」</a:t>
            </a:r>
            <a:endParaRPr lang="en-US" sz="2000" dirty="0"/>
          </a:p>
        </p:txBody>
      </p:sp>
      <p:sp>
        <p:nvSpPr>
          <p:cNvPr id="35" name="Shape 33"/>
          <p:cNvSpPr/>
          <p:nvPr/>
        </p:nvSpPr>
        <p:spPr>
          <a:xfrm>
            <a:off x="509321" y="5760720"/>
            <a:ext cx="64008" cy="548640"/>
          </a:xfrm>
          <a:prstGeom prst="rect">
            <a:avLst/>
          </a:prstGeom>
          <a:solidFill>
            <a:srgbClr val="2E74C6"/>
          </a:solidFill>
          <a:ln/>
        </p:spPr>
      </p:sp>
      <p:sp>
        <p:nvSpPr>
          <p:cNvPr id="36" name="Text 34"/>
          <p:cNvSpPr txBox="1"/>
          <p:nvPr/>
        </p:nvSpPr>
        <p:spPr>
          <a:xfrm>
            <a:off x="692201" y="5760720"/>
            <a:ext cx="13441680" cy="548640"/>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세 갈래가 모두 0건이면 BM25만 한 번 더 찾고, 그래도 없으면 LLM을 부르지 않고 「근거에 없음」으로 답함</a:t>
            </a:r>
            <a:endParaRPr lang="en-US" sz="1700" dirty="0"/>
          </a:p>
        </p:txBody>
      </p:sp>
      <p:sp>
        <p:nvSpPr>
          <p:cNvPr id="37" name="Shape 35"/>
          <p:cNvSpPr/>
          <p:nvPr/>
        </p:nvSpPr>
        <p:spPr>
          <a:xfrm>
            <a:off x="509321" y="6894576"/>
            <a:ext cx="384048" cy="256032"/>
          </a:xfrm>
          <a:prstGeom prst="roundRect">
            <a:avLst>
              <a:gd name="adj" fmla="val 17857"/>
            </a:avLst>
          </a:prstGeom>
          <a:solidFill>
            <a:srgbClr val="1E2A5C"/>
          </a:solidFill>
          <a:ln/>
        </p:spPr>
      </p:sp>
      <p:sp>
        <p:nvSpPr>
          <p:cNvPr id="38" name="Text 36"/>
          <p:cNvSpPr txBox="1"/>
          <p:nvPr/>
        </p:nvSpPr>
        <p:spPr>
          <a:xfrm>
            <a:off x="98480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v0 구현됨</a:t>
            </a:r>
            <a:endParaRPr lang="en-US" sz="1400" dirty="0"/>
          </a:p>
        </p:txBody>
      </p:sp>
      <p:sp>
        <p:nvSpPr>
          <p:cNvPr id="39" name="Shape 37"/>
          <p:cNvSpPr/>
          <p:nvPr/>
        </p:nvSpPr>
        <p:spPr>
          <a:xfrm>
            <a:off x="2841041" y="6894576"/>
            <a:ext cx="384048" cy="256032"/>
          </a:xfrm>
          <a:prstGeom prst="roundRect">
            <a:avLst>
              <a:gd name="adj" fmla="val 17857"/>
            </a:avLst>
          </a:prstGeom>
          <a:solidFill>
            <a:srgbClr val="EEF3FA"/>
          </a:solidFill>
          <a:ln w="19050">
            <a:solidFill>
              <a:srgbClr val="1E2A5C"/>
            </a:solidFill>
            <a:prstDash val="solid"/>
          </a:ln>
        </p:spPr>
      </p:sp>
      <p:sp>
        <p:nvSpPr>
          <p:cNvPr id="40" name="Text 38"/>
          <p:cNvSpPr txBox="1"/>
          <p:nvPr/>
        </p:nvSpPr>
        <p:spPr>
          <a:xfrm>
            <a:off x="331652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일부 구현</a:t>
            </a:r>
            <a:endParaRPr lang="en-US" sz="1400" dirty="0"/>
          </a:p>
        </p:txBody>
      </p:sp>
      <p:sp>
        <p:nvSpPr>
          <p:cNvPr id="41" name="Shape 39"/>
          <p:cNvSpPr/>
          <p:nvPr/>
        </p:nvSpPr>
        <p:spPr>
          <a:xfrm>
            <a:off x="5172761" y="6894576"/>
            <a:ext cx="384048" cy="256032"/>
          </a:xfrm>
          <a:prstGeom prst="roundRect">
            <a:avLst>
              <a:gd name="adj" fmla="val 17857"/>
            </a:avLst>
          </a:prstGeom>
          <a:solidFill>
            <a:srgbClr val="FFFFFF"/>
          </a:solidFill>
          <a:ln w="19050">
            <a:solidFill>
              <a:srgbClr val="2E74C6"/>
            </a:solidFill>
            <a:prstDash val="dash"/>
          </a:ln>
        </p:spPr>
      </p:sp>
      <p:sp>
        <p:nvSpPr>
          <p:cNvPr id="42" name="Text 40"/>
          <p:cNvSpPr txBox="1"/>
          <p:nvPr/>
        </p:nvSpPr>
        <p:spPr>
          <a:xfrm>
            <a:off x="564824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확장(최종안)</a:t>
            </a:r>
            <a:endParaRPr lang="en-US" sz="1400" dirty="0"/>
          </a:p>
        </p:txBody>
      </p:sp>
      <p:sp>
        <p:nvSpPr>
          <p:cNvPr id="43" name="Shape 41"/>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44" name="Text 42">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45" name="Shape 43"/>
          <p:cNvSpPr/>
          <p:nvPr/>
        </p:nvSpPr>
        <p:spPr>
          <a:xfrm>
            <a:off x="509321" y="7388352"/>
            <a:ext cx="13624560" cy="0"/>
          </a:xfrm>
          <a:prstGeom prst="line">
            <a:avLst/>
          </a:prstGeom>
          <a:noFill/>
          <a:ln w="12700">
            <a:solidFill>
              <a:srgbClr val="E9ECF3"/>
            </a:solidFill>
            <a:prstDash val="solid"/>
          </a:ln>
        </p:spPr>
      </p:sp>
      <p:sp>
        <p:nvSpPr>
          <p:cNvPr id="46" name="Text 44"/>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teacher/graphrag/v0/graph_search.py, Microsoft GraphRAG local_search.md, Neo4j 블로그(키워드 병행)</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Local Search 상세: 한 번의 Cypher로 이웃, 원문, 보고서를 함께 가져옴</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그래프는 1-hop까지만 넓히고, 컨텍스트 칸은 원문에 가장 많이 나눠 줌</a:t>
            </a:r>
            <a:endParaRPr lang="en-US" sz="1800" dirty="0"/>
          </a:p>
        </p:txBody>
      </p:sp>
      <p:sp>
        <p:nvSpPr>
          <p:cNvPr id="4" name="Shape 2"/>
          <p:cNvSpPr/>
          <p:nvPr/>
        </p:nvSpPr>
        <p:spPr>
          <a:xfrm>
            <a:off x="509321" y="1737360"/>
            <a:ext cx="13624560" cy="2788920"/>
          </a:xfrm>
          <a:prstGeom prst="roundRect">
            <a:avLst>
              <a:gd name="adj" fmla="val 2623"/>
            </a:avLst>
          </a:prstGeom>
          <a:solidFill>
            <a:srgbClr val="F5F8FC"/>
          </a:solidFill>
          <a:ln w="12700">
            <a:solidFill>
              <a:srgbClr val="D9E0EC"/>
            </a:solidFill>
            <a:prstDash val="solid"/>
          </a:ln>
        </p:spPr>
      </p:sp>
      <p:sp>
        <p:nvSpPr>
          <p:cNvPr id="5" name="Text 3"/>
          <p:cNvSpPr txBox="1"/>
          <p:nvPr/>
        </p:nvSpPr>
        <p:spPr>
          <a:xfrm>
            <a:off x="646481" y="1810512"/>
            <a:ext cx="13350240" cy="2642616"/>
          </a:xfrm>
          <a:prstGeom prst="rect">
            <a:avLst/>
          </a:prstGeom>
          <a:noFill/>
          <a:ln/>
        </p:spPr>
        <p:txBody>
          <a:bodyPr wrap="square" lIns="0" tIns="0" rIns="0" bIns="0" rtlCol="0" anchor="t"/>
          <a:lstStyle/>
          <a:p>
            <a:pPr indent="0" marL="0">
              <a:spcAft>
                <a:spcPts val="400"/>
              </a:spcAft>
              <a:buNone/>
            </a:pPr>
            <a:r>
              <a:rPr lang="en-US" sz="1600" b="1" dirty="0">
                <a:solidFill>
                  <a:srgbClr val="4A5364"/>
                </a:solidFill>
                <a:latin typeface="Pretendard" pitchFamily="34" charset="0"/>
                <a:ea typeface="Pretendard" pitchFamily="34" charset="-122"/>
                <a:cs typeface="Pretendard" pitchFamily="34" charset="-120"/>
              </a:rPr>
              <a:t>엔티티 갈래 Cypher(graph_search.py HYBRID_QUERY 발췌)</a:t>
            </a:r>
            <a:endParaRPr lang="en-US" sz="1600" dirty="0"/>
          </a:p>
          <a:p>
            <a:pPr indent="0" marL="0">
              <a:buNone/>
            </a:pPr>
            <a:r>
              <a:rPr lang="en-US" sz="1500" dirty="0">
                <a:solidFill>
                  <a:srgbClr val="2B3242"/>
                </a:solidFill>
                <a:latin typeface="Pretendard" pitchFamily="34" charset="0"/>
                <a:ea typeface="Pretendard" pitchFamily="34" charset="-122"/>
                <a:cs typeface="Pretendard" pitchFamily="34" charset="-120"/>
              </a:rPr>
              <a:t>WITH node AS e, score</a:t>
            </a:r>
            <a:endParaRPr lang="en-US" sz="1600" dirty="0"/>
          </a:p>
          <a:p>
            <a:pPr indent="0" marL="0">
              <a:buNone/>
            </a:pPr>
            <a:r>
              <a:rPr lang="en-US" sz="1500" b="1" dirty="0">
                <a:solidFill>
                  <a:srgbClr val="1E2A5C"/>
                </a:solidFill>
                <a:latin typeface="Pretendard" pitchFamily="34" charset="0"/>
                <a:ea typeface="Pretendard" pitchFamily="34" charset="-122"/>
                <a:cs typeface="Pretendard" pitchFamily="34" charset="-120"/>
              </a:rPr>
              <a:t>① OPTIONAL MATCH (e)-[r]-(n:__Entity__ {generation: e.generation})</a:t>
            </a:r>
            <a:endParaRPr lang="en-US" sz="1600" dirty="0"/>
          </a:p>
          <a:p>
            <a:pPr indent="0" marL="0">
              <a:buNone/>
            </a:pPr>
            <a:r>
              <a:rPr lang="en-US" sz="1500" dirty="0">
                <a:solidFill>
                  <a:srgbClr val="2B3242"/>
                </a:solidFill>
                <a:latin typeface="Pretendard" pitchFamily="34" charset="0"/>
                <a:ea typeface="Pretendard" pitchFamily="34" charset="-122"/>
                <a:cs typeface="Pretendard" pitchFamily="34" charset="-120"/>
              </a:rPr>
              <a:t>   WITH e, score, r, n, coalesce(vector.similarity.cosine(n.embedding, $query_vector), -1.0) AS sim</a:t>
            </a:r>
            <a:endParaRPr lang="en-US" sz="1600" dirty="0"/>
          </a:p>
          <a:p>
            <a:pPr indent="0" marL="0">
              <a:buNone/>
            </a:pPr>
            <a:r>
              <a:rPr lang="en-US" sz="1500" dirty="0">
                <a:solidFill>
                  <a:srgbClr val="2B3242"/>
                </a:solidFill>
                <a:latin typeface="Pretendard" pitchFamily="34" charset="0"/>
                <a:ea typeface="Pretendard" pitchFamily="34" charset="-122"/>
                <a:cs typeface="Pretendard" pitchFamily="34" charset="-120"/>
              </a:rPr>
              <a:t>   ORDER BY sim DESC</a:t>
            </a:r>
            <a:pPr indent="0" marL="0">
              <a:buNone/>
            </a:pPr>
            <a:r>
              <a:rPr lang="en-US" sz="1500" dirty="0">
                <a:solidFill>
                  <a:srgbClr val="2E74C6"/>
                </a:solidFill>
                <a:latin typeface="Pretendard" pitchFamily="34" charset="0"/>
                <a:ea typeface="Pretendard" pitchFamily="34" charset="-122"/>
                <a:cs typeface="Pretendard" pitchFamily="34" charset="-120"/>
              </a:rPr>
              <a:t>   // 질문과 비슷한 이웃부터</a:t>
            </a:r>
            <a:endParaRPr lang="en-US" sz="1600" dirty="0"/>
          </a:p>
          <a:p>
            <a:pPr indent="0" marL="0">
              <a:buNone/>
            </a:pPr>
            <a:r>
              <a:rPr lang="en-US" sz="1500" dirty="0">
                <a:solidFill>
                  <a:srgbClr val="2B3242"/>
                </a:solidFill>
                <a:latin typeface="Pretendard" pitchFamily="34" charset="0"/>
                <a:ea typeface="Pretendard" pitchFamily="34" charset="-122"/>
                <a:cs typeface="Pretendard" pitchFamily="34" charset="-120"/>
              </a:rPr>
              <a:t>   WITH e, score, collect(DISTINCT {...})[..$max_neighbors] AS neighbors</a:t>
            </a:r>
            <a:endParaRPr lang="en-US" sz="1600" dirty="0"/>
          </a:p>
          <a:p>
            <a:pPr indent="0" marL="0">
              <a:buNone/>
            </a:pPr>
            <a:r>
              <a:rPr lang="en-US" sz="1500" b="1" dirty="0">
                <a:solidFill>
                  <a:srgbClr val="1E2A5C"/>
                </a:solidFill>
                <a:latin typeface="Pretendard" pitchFamily="34" charset="0"/>
                <a:ea typeface="Pretendard" pitchFamily="34" charset="-122"/>
                <a:cs typeface="Pretendard" pitchFamily="34" charset="-120"/>
              </a:rPr>
              <a:t>② OPTIONAL MATCH (e)-[:FROM_CHUNK]-&gt;(k:Chunk)</a:t>
            </a:r>
            <a:endParaRPr lang="en-US" sz="1600" dirty="0"/>
          </a:p>
          <a:p>
            <a:pPr indent="0" marL="0">
              <a:buNone/>
            </a:pPr>
            <a:r>
              <a:rPr lang="en-US" sz="1500" dirty="0">
                <a:solidFill>
                  <a:srgbClr val="2B3242"/>
                </a:solidFill>
                <a:latin typeface="Pretendard" pitchFamily="34" charset="0"/>
                <a:ea typeface="Pretendard" pitchFamily="34" charset="-122"/>
                <a:cs typeface="Pretendard" pitchFamily="34" charset="-120"/>
              </a:rPr>
              <a:t>   WITH e, score, neighbors, collect(DISTINCT {...}) AS chunks</a:t>
            </a:r>
            <a:endParaRPr lang="en-US" sz="1600" dirty="0"/>
          </a:p>
          <a:p>
            <a:pPr indent="0" marL="0">
              <a:buNone/>
            </a:pPr>
            <a:r>
              <a:rPr lang="en-US" sz="1500" b="1" dirty="0">
                <a:solidFill>
                  <a:srgbClr val="1E2A5C"/>
                </a:solidFill>
                <a:latin typeface="Pretendard" pitchFamily="34" charset="0"/>
                <a:ea typeface="Pretendard" pitchFamily="34" charset="-122"/>
                <a:cs typeface="Pretendard" pitchFamily="34" charset="-120"/>
              </a:rPr>
              <a:t>③ OPTIONAL MATCH (e)-[:IN_COMMUNITY]-&gt;(c:Community)</a:t>
            </a:r>
            <a:endParaRPr lang="en-US" sz="1600" dirty="0"/>
          </a:p>
          <a:p>
            <a:pPr indent="0" marL="0">
              <a:buNone/>
            </a:pPr>
            <a:r>
              <a:rPr lang="en-US" sz="1500" dirty="0">
                <a:solidFill>
                  <a:srgbClr val="2B3242"/>
                </a:solidFill>
                <a:latin typeface="Pretendard" pitchFamily="34" charset="0"/>
                <a:ea typeface="Pretendard" pitchFamily="34" charset="-122"/>
                <a:cs typeface="Pretendard" pitchFamily="34" charset="-120"/>
              </a:rPr>
              <a:t>   RETURN ..., neighbors, chunks, ... {title: c.title, summary: c.summary, ...} ...</a:t>
            </a:r>
            <a:endParaRPr lang="en-US" sz="1600" dirty="0"/>
          </a:p>
        </p:txBody>
      </p:sp>
      <p:sp>
        <p:nvSpPr>
          <p:cNvPr id="6" name="Text 4"/>
          <p:cNvSpPr/>
          <p:nvPr/>
        </p:nvSpPr>
        <p:spPr>
          <a:xfrm>
            <a:off x="509321" y="4709160"/>
            <a:ext cx="4419600" cy="2011680"/>
          </a:xfrm>
          <a:prstGeom prst="roundRect">
            <a:avLst>
              <a:gd name="adj" fmla="val 4545"/>
            </a:avLst>
          </a:prstGeom>
          <a:solidFill>
            <a:srgbClr val="EEF3FA"/>
          </a:solidFill>
          <a:ln w="12700">
            <a:solidFill>
              <a:srgbClr val="D9E0EC"/>
            </a:solidFill>
          </a:ln>
        </p:spPr>
        <p:txBody>
          <a:bodyPr wrap="square" lIns="182880" tIns="128016" rIns="182880" bIns="91440" rtlCol="0" anchor="t"/>
          <a:lstStyle/>
          <a:p>
            <a:pPr algn="l" indent="0" marL="0">
              <a:spcAft>
                <a:spcPts val="1200"/>
              </a:spcAft>
              <a:buNone/>
            </a:pPr>
            <a:r>
              <a:rPr lang="en-US" sz="1600" dirty="0">
                <a:solidFill>
                  <a:srgbClr val="2B3242"/>
                </a:solidFill>
                <a:latin typeface="Pretendard" pitchFamily="34" charset="0"/>
                <a:ea typeface="Pretendard" pitchFamily="34" charset="-122"/>
                <a:cs typeface="Pretendard" pitchFamily="34" charset="-120"/>
              </a:rPr>
              <a:t>① 이웃: 관계 1개로 이어진 엔티티 중 질문과 가장 비슷한 6개. 사실 근거</a:t>
            </a:r>
            <a:endParaRPr lang="en-US" sz="1600" dirty="0"/>
          </a:p>
          <a:p>
            <a:pPr algn="l" indent="0" marL="0">
              <a:spcAft>
                <a:spcPts val="1200"/>
              </a:spcAft>
              <a:buNone/>
            </a:pPr>
            <a:r>
              <a:rPr lang="en-US" sz="1600" dirty="0">
                <a:solidFill>
                  <a:srgbClr val="2B3242"/>
                </a:solidFill>
                <a:latin typeface="Pretendard" pitchFamily="34" charset="0"/>
                <a:ea typeface="Pretendard" pitchFamily="34" charset="-122"/>
                <a:cs typeface="Pretendard" pitchFamily="34" charset="-120"/>
              </a:rPr>
              <a:t>② 원문: 엔티티가 나온 청크. 사실 근거이며 가장 우선함</a:t>
            </a:r>
            <a:endParaRPr lang="en-US" sz="1600" dirty="0"/>
          </a:p>
          <a:p>
            <a:pPr algn="l" indent="0" marL="0">
              <a:spcAft>
                <a:spcPts val="1200"/>
              </a:spcAft>
              <a:buNone/>
            </a:pPr>
            <a:r>
              <a:rPr lang="en-US" sz="1600" dirty="0">
                <a:solidFill>
                  <a:srgbClr val="2B3242"/>
                </a:solidFill>
                <a:latin typeface="Pretendard" pitchFamily="34" charset="0"/>
                <a:ea typeface="Pretendard" pitchFamily="34" charset="-122"/>
                <a:cs typeface="Pretendard" pitchFamily="34" charset="-120"/>
              </a:rPr>
              <a:t>③ 보고서: 엔티티가 속한 묶음의 요약. 맥락 근거</a:t>
            </a:r>
            <a:endParaRPr lang="en-US" sz="1600" dirty="0"/>
          </a:p>
        </p:txBody>
      </p:sp>
      <p:sp>
        <p:nvSpPr>
          <p:cNvPr id="7" name="Shape 5"/>
          <p:cNvSpPr/>
          <p:nvPr/>
        </p:nvSpPr>
        <p:spPr>
          <a:xfrm>
            <a:off x="5111801" y="4709160"/>
            <a:ext cx="4419600" cy="2011680"/>
          </a:xfrm>
          <a:prstGeom prst="roundRect">
            <a:avLst>
              <a:gd name="adj" fmla="val 4545"/>
            </a:avLst>
          </a:prstGeom>
          <a:solidFill>
            <a:srgbClr val="EEF3FA"/>
          </a:solidFill>
          <a:ln w="12700">
            <a:solidFill>
              <a:srgbClr val="D9E0EC"/>
            </a:solidFill>
            <a:prstDash val="solid"/>
          </a:ln>
        </p:spPr>
      </p:sp>
      <p:sp>
        <p:nvSpPr>
          <p:cNvPr id="8" name="Text 6"/>
          <p:cNvSpPr txBox="1"/>
          <p:nvPr/>
        </p:nvSpPr>
        <p:spPr>
          <a:xfrm>
            <a:off x="5294681" y="4818888"/>
            <a:ext cx="4053840" cy="365760"/>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컨텍스트 몫(출발값)</a:t>
            </a:r>
            <a:endParaRPr lang="en-US" sz="1800" dirty="0"/>
          </a:p>
        </p:txBody>
      </p:sp>
      <p:sp>
        <p:nvSpPr>
          <p:cNvPr id="9" name="Text 7"/>
          <p:cNvSpPr/>
          <p:nvPr/>
        </p:nvSpPr>
        <p:spPr>
          <a:xfrm>
            <a:off x="5294681" y="5349240"/>
            <a:ext cx="2026920" cy="566928"/>
          </a:xfrm>
          <a:prstGeom prst="rect">
            <a:avLst/>
          </a:prstGeom>
          <a:solidFill>
            <a:srgbClr val="1E2A5C"/>
          </a:solidFill>
          <a:ln w="12700">
            <a:solidFill>
              <a:srgbClr val="FFFFFF"/>
            </a:solid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50%</a:t>
            </a:r>
            <a:endParaRPr lang="en-US" sz="1600" dirty="0"/>
          </a:p>
        </p:txBody>
      </p:sp>
      <p:sp>
        <p:nvSpPr>
          <p:cNvPr id="10" name="Text 8"/>
          <p:cNvSpPr txBox="1"/>
          <p:nvPr/>
        </p:nvSpPr>
        <p:spPr>
          <a:xfrm>
            <a:off x="5294681" y="6025896"/>
            <a:ext cx="4053840" cy="310896"/>
          </a:xfrm>
          <a:prstGeom prst="rect">
            <a:avLst/>
          </a:prstGeom>
          <a:noFill/>
          <a:ln/>
        </p:spPr>
        <p:txBody>
          <a:bodyPr wrap="square" lIns="0" tIns="0" rIns="0" bIns="0" rtlCol="0" anchor="ctr"/>
          <a:lstStyle/>
          <a:p>
            <a:pPr indent="0" marL="0">
              <a:buNone/>
            </a:pPr>
            <a:r>
              <a:rPr lang="en-US" sz="1500" dirty="0">
                <a:solidFill>
                  <a:srgbClr val="1E2A5C"/>
                </a:solidFill>
                <a:latin typeface="Pretendard" pitchFamily="34" charset="0"/>
                <a:ea typeface="Pretendard" pitchFamily="34" charset="-122"/>
                <a:cs typeface="Pretendard" pitchFamily="34" charset="-120"/>
              </a:rPr>
              <a:t>■ </a:t>
            </a:r>
            <a:pPr indent="0" marL="0">
              <a:buNone/>
            </a:pPr>
            <a:r>
              <a:rPr lang="en-US" sz="1500" dirty="0">
                <a:solidFill>
                  <a:srgbClr val="2B3242"/>
                </a:solidFill>
                <a:latin typeface="Pretendard" pitchFamily="34" charset="0"/>
                <a:ea typeface="Pretendard" pitchFamily="34" charset="-122"/>
                <a:cs typeface="Pretendard" pitchFamily="34" charset="-120"/>
              </a:rPr>
              <a:t>원문</a:t>
            </a:r>
            <a:endParaRPr lang="en-US" sz="1500" dirty="0"/>
          </a:p>
        </p:txBody>
      </p:sp>
      <p:sp>
        <p:nvSpPr>
          <p:cNvPr id="11" name="Text 9"/>
          <p:cNvSpPr/>
          <p:nvPr/>
        </p:nvSpPr>
        <p:spPr>
          <a:xfrm>
            <a:off x="7321601" y="5349240"/>
            <a:ext cx="1418844" cy="566928"/>
          </a:xfrm>
          <a:prstGeom prst="rect">
            <a:avLst/>
          </a:prstGeom>
          <a:solidFill>
            <a:srgbClr val="2E74C6"/>
          </a:solidFill>
          <a:ln w="12700">
            <a:solidFill>
              <a:srgbClr val="FFFFFF"/>
            </a:solid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35%</a:t>
            </a:r>
            <a:endParaRPr lang="en-US" sz="1600" dirty="0"/>
          </a:p>
        </p:txBody>
      </p:sp>
      <p:sp>
        <p:nvSpPr>
          <p:cNvPr id="12" name="Text 10"/>
          <p:cNvSpPr txBox="1"/>
          <p:nvPr/>
        </p:nvSpPr>
        <p:spPr>
          <a:xfrm>
            <a:off x="5294681" y="6355080"/>
            <a:ext cx="4053840" cy="310896"/>
          </a:xfrm>
          <a:prstGeom prst="rect">
            <a:avLst/>
          </a:prstGeom>
          <a:noFill/>
          <a:ln/>
        </p:spPr>
        <p:txBody>
          <a:bodyPr wrap="square" lIns="0" tIns="0" rIns="0" bIns="0" rtlCol="0" anchor="ctr"/>
          <a:lstStyle/>
          <a:p>
            <a:pPr indent="0" marL="0">
              <a:buNone/>
            </a:pPr>
            <a:r>
              <a:rPr lang="en-US" sz="1500" dirty="0">
                <a:solidFill>
                  <a:srgbClr val="2E74C6"/>
                </a:solidFill>
                <a:latin typeface="Pretendard" pitchFamily="34" charset="0"/>
                <a:ea typeface="Pretendard" pitchFamily="34" charset="-122"/>
                <a:cs typeface="Pretendard" pitchFamily="34" charset="-120"/>
              </a:rPr>
              <a:t>■ </a:t>
            </a:r>
            <a:pPr indent="0" marL="0">
              <a:buNone/>
            </a:pPr>
            <a:r>
              <a:rPr lang="en-US" sz="1500" dirty="0">
                <a:solidFill>
                  <a:srgbClr val="2B3242"/>
                </a:solidFill>
                <a:latin typeface="Pretendard" pitchFamily="34" charset="0"/>
                <a:ea typeface="Pretendard" pitchFamily="34" charset="-122"/>
                <a:cs typeface="Pretendard" pitchFamily="34" charset="-120"/>
              </a:rPr>
              <a:t>엔티티와 관계</a:t>
            </a:r>
            <a:endParaRPr lang="en-US" sz="1500" dirty="0"/>
          </a:p>
        </p:txBody>
      </p:sp>
      <p:sp>
        <p:nvSpPr>
          <p:cNvPr id="13" name="Text 11"/>
          <p:cNvSpPr/>
          <p:nvPr/>
        </p:nvSpPr>
        <p:spPr>
          <a:xfrm>
            <a:off x="8740445" y="5349240"/>
            <a:ext cx="608076" cy="566928"/>
          </a:xfrm>
          <a:prstGeom prst="rect">
            <a:avLst/>
          </a:prstGeom>
          <a:solidFill>
            <a:srgbClr val="404155"/>
          </a:solidFill>
          <a:ln w="12700">
            <a:solidFill>
              <a:srgbClr val="FFFFFF"/>
            </a:solid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15%</a:t>
            </a:r>
            <a:endParaRPr lang="en-US" sz="1600" dirty="0"/>
          </a:p>
        </p:txBody>
      </p:sp>
      <p:sp>
        <p:nvSpPr>
          <p:cNvPr id="14" name="Text 12"/>
          <p:cNvSpPr txBox="1"/>
          <p:nvPr/>
        </p:nvSpPr>
        <p:spPr>
          <a:xfrm>
            <a:off x="5294681" y="6684264"/>
            <a:ext cx="4053840" cy="310896"/>
          </a:xfrm>
          <a:prstGeom prst="rect">
            <a:avLst/>
          </a:prstGeom>
          <a:noFill/>
          <a:ln/>
        </p:spPr>
        <p:txBody>
          <a:bodyPr wrap="square" lIns="0" tIns="0" rIns="0" bIns="0" rtlCol="0" anchor="ctr"/>
          <a:lstStyle/>
          <a:p>
            <a:pPr indent="0" marL="0">
              <a:buNone/>
            </a:pPr>
            <a:r>
              <a:rPr lang="en-US" sz="1500" dirty="0">
                <a:solidFill>
                  <a:srgbClr val="404155"/>
                </a:solidFill>
                <a:latin typeface="Pretendard" pitchFamily="34" charset="0"/>
                <a:ea typeface="Pretendard" pitchFamily="34" charset="-122"/>
                <a:cs typeface="Pretendard" pitchFamily="34" charset="-120"/>
              </a:rPr>
              <a:t>■ </a:t>
            </a:r>
            <a:pPr indent="0" marL="0">
              <a:buNone/>
            </a:pPr>
            <a:r>
              <a:rPr lang="en-US" sz="1500" dirty="0">
                <a:solidFill>
                  <a:srgbClr val="2B3242"/>
                </a:solidFill>
                <a:latin typeface="Pretendard" pitchFamily="34" charset="0"/>
                <a:ea typeface="Pretendard" pitchFamily="34" charset="-122"/>
                <a:cs typeface="Pretendard" pitchFamily="34" charset="-120"/>
              </a:rPr>
              <a:t>보고서</a:t>
            </a:r>
            <a:endParaRPr lang="en-US" sz="1500" dirty="0"/>
          </a:p>
        </p:txBody>
      </p:sp>
      <p:sp>
        <p:nvSpPr>
          <p:cNvPr id="15" name="Text 13"/>
          <p:cNvSpPr/>
          <p:nvPr/>
        </p:nvSpPr>
        <p:spPr>
          <a:xfrm>
            <a:off x="9714281" y="4709160"/>
            <a:ext cx="4419600" cy="2011680"/>
          </a:xfrm>
          <a:prstGeom prst="roundRect">
            <a:avLst>
              <a:gd name="adj" fmla="val 4545"/>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700" b="1" dirty="0">
                <a:solidFill>
                  <a:srgbClr val="1E2A5C"/>
                </a:solidFill>
                <a:latin typeface="Pretendard" pitchFamily="34" charset="0"/>
                <a:ea typeface="Pretendard" pitchFamily="34" charset="-122"/>
                <a:cs typeface="Pretendard" pitchFamily="34" charset="-120"/>
              </a:rPr>
              <a:t>최종안에서 바꾸는 점</a:t>
            </a:r>
            <a:endParaRPr lang="en-US" sz="1700" dirty="0"/>
          </a:p>
          <a:p>
            <a:pPr algn="l" marL="228600" indent="-228600">
              <a:spcAft>
                <a:spcPts val="700"/>
              </a:spcAft>
              <a:buSzPct val="100000"/>
              <a:buChar char="•"/>
            </a:pPr>
            <a:r>
              <a:rPr lang="en-US" sz="1400" dirty="0">
                <a:solidFill>
                  <a:srgbClr val="2B3242"/>
                </a:solidFill>
                <a:latin typeface="Pretendard" pitchFamily="34" charset="0"/>
                <a:ea typeface="Pretendard" pitchFamily="34" charset="-122"/>
                <a:cs typeface="Pretendard" pitchFamily="34" charset="-120"/>
              </a:rPr>
              <a:t>원문 상한 700자 → 1600자(청크 260개 중 131개가 700자를 넘음)</a:t>
            </a:r>
            <a:endParaRPr lang="en-US" sz="1700" dirty="0"/>
          </a:p>
          <a:p>
            <a:pPr algn="l" marL="228600" indent="-228600">
              <a:spcAft>
                <a:spcPts val="700"/>
              </a:spcAft>
              <a:buSzPct val="100000"/>
              <a:buChar char="•"/>
            </a:pPr>
            <a:r>
              <a:rPr lang="en-US" sz="1400" dirty="0">
                <a:solidFill>
                  <a:srgbClr val="2B3242"/>
                </a:solidFill>
                <a:latin typeface="Pretendard" pitchFamily="34" charset="0"/>
                <a:ea typeface="Pretendard" pitchFamily="34" charset="-122"/>
                <a:cs typeface="Pretendard" pitchFamily="34" charset="-120"/>
              </a:rPr>
              <a:t>원문 칸 쿼터: 청크 갈래 3, 엔티티 갈래 2 이상</a:t>
            </a:r>
            <a:endParaRPr lang="en-US" sz="1700" dirty="0"/>
          </a:p>
          <a:p>
            <a:pPr algn="l" marL="228600" indent="-228600">
              <a:spcAft>
                <a:spcPts val="700"/>
              </a:spcAft>
              <a:buSzPct val="100000"/>
              <a:buChar char="•"/>
            </a:pPr>
            <a:r>
              <a:rPr lang="en-US" sz="1400" dirty="0">
                <a:solidFill>
                  <a:srgbClr val="2B3242"/>
                </a:solidFill>
                <a:latin typeface="Pretendard" pitchFamily="34" charset="0"/>
                <a:ea typeface="Pretendard" pitchFamily="34" charset="-122"/>
                <a:cs typeface="Pretendard" pitchFamily="34" charset="-120"/>
              </a:rPr>
              <a:t>상담 질문은 첫 상담과 가장 최근 상담을 먼저 고정 칸에 넣음</a:t>
            </a:r>
            <a:endParaRPr lang="en-US" sz="1700" dirty="0"/>
          </a:p>
        </p:txBody>
      </p:sp>
      <p:sp>
        <p:nvSpPr>
          <p:cNvPr id="16" name="Shape 14"/>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7" name="Text 15">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18" name="Shape 16"/>
          <p:cNvSpPr/>
          <p:nvPr/>
        </p:nvSpPr>
        <p:spPr>
          <a:xfrm>
            <a:off x="509321" y="7388352"/>
            <a:ext cx="13624560" cy="0"/>
          </a:xfrm>
          <a:prstGeom prst="line">
            <a:avLst/>
          </a:prstGeom>
          <a:noFill/>
          <a:ln w="12700">
            <a:solidFill>
              <a:srgbClr val="E9ECF3"/>
            </a:solidFill>
            <a:prstDash val="solid"/>
          </a:ln>
        </p:spPr>
      </p:sp>
      <p:sp>
        <p:nvSpPr>
          <p:cNvPr id="19" name="Text 17"/>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teacher/graphrag/v0/graph_search.py, Microsoft GraphRAG config defaults.py(text_unit_prop 0.5, community_prop 0.15)</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Global Search: 관련 보고서를 묶음마다 요약하고, 점수 높은 것만 합쳐 답함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경향 질문은 한 곳에 답이 없어서 보고서 여러 개를 나눠 읽고(Map) 중요한 것만 모음(Reduce)</a:t>
            </a:r>
            <a:endParaRPr lang="en-US" sz="1800" dirty="0"/>
          </a:p>
        </p:txBody>
      </p:sp>
      <p:sp>
        <p:nvSpPr>
          <p:cNvPr id="4" name="Text 2"/>
          <p:cNvSpPr/>
          <p:nvPr/>
        </p:nvSpPr>
        <p:spPr>
          <a:xfrm>
            <a:off x="509321" y="1737360"/>
            <a:ext cx="4236720" cy="2148840"/>
          </a:xfrm>
          <a:prstGeom prst="roundRect">
            <a:avLst>
              <a:gd name="adj" fmla="val 4255"/>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보고서 고르기</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v0: 보고서 벡터 상위 5개</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확장: 50개 이하면 전부, 넘으면 벡터 후보 + 관련도 점수</a:t>
            </a:r>
            <a:endParaRPr lang="en-US" sz="2000" dirty="0"/>
          </a:p>
        </p:txBody>
      </p:sp>
      <p:sp>
        <p:nvSpPr>
          <p:cNvPr id="5" name="Shape 3"/>
          <p:cNvSpPr/>
          <p:nvPr/>
        </p:nvSpPr>
        <p:spPr>
          <a:xfrm>
            <a:off x="4837481" y="2674620"/>
            <a:ext cx="274320" cy="274320"/>
          </a:xfrm>
          <a:prstGeom prst="rightArrow">
            <a:avLst/>
          </a:prstGeom>
          <a:solidFill>
            <a:srgbClr val="2E74C6"/>
          </a:solidFill>
          <a:ln/>
        </p:spPr>
      </p:sp>
      <p:sp>
        <p:nvSpPr>
          <p:cNvPr id="6" name="Text 4"/>
          <p:cNvSpPr/>
          <p:nvPr/>
        </p:nvSpPr>
        <p:spPr>
          <a:xfrm>
            <a:off x="5203241" y="1737360"/>
            <a:ext cx="4236720" cy="2148840"/>
          </a:xfrm>
          <a:prstGeom prst="roundRect">
            <a:avLst>
              <a:gd name="adj" fmla="val 4255"/>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Map</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보고서 묶음마다 중간 답과 중요도 점수(0 ~ 100)</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동시 4, 묶음당 45초</a:t>
            </a:r>
            <a:endParaRPr lang="en-US" sz="2000" dirty="0"/>
          </a:p>
        </p:txBody>
      </p:sp>
      <p:sp>
        <p:nvSpPr>
          <p:cNvPr id="7" name="Shape 5"/>
          <p:cNvSpPr/>
          <p:nvPr/>
        </p:nvSpPr>
        <p:spPr>
          <a:xfrm>
            <a:off x="9531401" y="2674620"/>
            <a:ext cx="274320" cy="274320"/>
          </a:xfrm>
          <a:prstGeom prst="rightArrow">
            <a:avLst/>
          </a:prstGeom>
          <a:solidFill>
            <a:srgbClr val="2E74C6"/>
          </a:solidFill>
          <a:ln/>
        </p:spPr>
      </p:sp>
      <p:sp>
        <p:nvSpPr>
          <p:cNvPr id="8" name="Text 6"/>
          <p:cNvSpPr/>
          <p:nvPr/>
        </p:nvSpPr>
        <p:spPr>
          <a:xfrm>
            <a:off x="9897161" y="1737360"/>
            <a:ext cx="4236720" cy="2148840"/>
          </a:xfrm>
          <a:prstGeom prst="roundRect">
            <a:avLst>
              <a:gd name="adj" fmla="val 4255"/>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Reduce</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0점 버림, 점수 높은 순으로 예산까지</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보고서 제목 인용</a:t>
            </a:r>
            <a:endParaRPr lang="en-US" sz="2000" dirty="0"/>
          </a:p>
        </p:txBody>
      </p:sp>
      <p:sp>
        <p:nvSpPr>
          <p:cNvPr id="9" name="Text 7"/>
          <p:cNvSpPr/>
          <p:nvPr/>
        </p:nvSpPr>
        <p:spPr>
          <a:xfrm>
            <a:off x="509321" y="4160520"/>
            <a:ext cx="6675120" cy="2148840"/>
          </a:xfrm>
          <a:prstGeom prst="roundRect">
            <a:avLst>
              <a:gd name="adj" fmla="val 4255"/>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선행 과제(인덱싱)</a:t>
            </a:r>
            <a:endParaRPr lang="en-US" sz="2000" dirty="0"/>
          </a:p>
          <a:p>
            <a:pPr algn="l" marL="228600" indent="-228600">
              <a:spcAft>
                <a:spcPts val="900"/>
              </a:spcAft>
              <a:buSzPct val="100000"/>
              <a:buChar char="•"/>
            </a:pPr>
            <a:r>
              <a:rPr lang="en-US" sz="1700" dirty="0">
                <a:solidFill>
                  <a:srgbClr val="2B3242"/>
                </a:solidFill>
                <a:latin typeface="Pretendard" pitchFamily="34" charset="0"/>
                <a:ea typeface="Pretendard" pitchFamily="34" charset="-122"/>
                <a:cs typeface="Pretendard" pitchFamily="34" charset="-120"/>
              </a:rPr>
              <a:t>고객군(신규가입, 장기보유, VIP 등)이 그래프에 없음</a:t>
            </a:r>
            <a:endParaRPr lang="en-US" sz="2000" dirty="0"/>
          </a:p>
          <a:p>
            <a:pPr algn="l" marL="228600" indent="-228600">
              <a:spcAft>
                <a:spcPts val="900"/>
              </a:spcAft>
              <a:buSzPct val="100000"/>
              <a:buChar char="•"/>
            </a:pPr>
            <a:r>
              <a:rPr lang="en-US" sz="1700" dirty="0">
                <a:solidFill>
                  <a:srgbClr val="2B3242"/>
                </a:solidFill>
                <a:latin typeface="Pretendard" pitchFamily="34" charset="0"/>
                <a:ea typeface="Pretendard" pitchFamily="34" charset="-122"/>
                <a:cs typeface="Pretendard" pitchFamily="34" charset="-120"/>
              </a:rPr>
              <a:t>상담 파일명의 고객군을 Consultation 속성으로 넣고 보고서 입력에 분포를 넘김</a:t>
            </a:r>
            <a:endParaRPr lang="en-US" sz="2000" dirty="0"/>
          </a:p>
          <a:p>
            <a:pPr algn="l" marL="228600" indent="-228600">
              <a:spcAft>
                <a:spcPts val="900"/>
              </a:spcAft>
              <a:buSzPct val="100000"/>
              <a:buChar char="•"/>
            </a:pPr>
            <a:r>
              <a:rPr lang="en-US" sz="1700" dirty="0">
                <a:solidFill>
                  <a:srgbClr val="2B3242"/>
                </a:solidFill>
                <a:latin typeface="Pretendard" pitchFamily="34" charset="0"/>
                <a:ea typeface="Pretendard" pitchFamily="34" charset="-122"/>
                <a:cs typeface="Pretendard" pitchFamily="34" charset="-120"/>
              </a:rPr>
              <a:t>그 전까지 Q23의 「고객군별」 요구는 맞추지 못함</a:t>
            </a:r>
            <a:endParaRPr lang="en-US" sz="2000" dirty="0"/>
          </a:p>
        </p:txBody>
      </p:sp>
      <p:sp>
        <p:nvSpPr>
          <p:cNvPr id="10" name="Text 8"/>
          <p:cNvSpPr/>
          <p:nvPr/>
        </p:nvSpPr>
        <p:spPr>
          <a:xfrm>
            <a:off x="7458761" y="4160520"/>
            <a:ext cx="6675120" cy="2148840"/>
          </a:xfrm>
          <a:prstGeom prst="roundRect">
            <a:avLst>
              <a:gd name="adj" fmla="val 4255"/>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비용 감각</a:t>
            </a:r>
            <a:endParaRPr lang="en-US" sz="2000" dirty="0"/>
          </a:p>
          <a:p>
            <a:pPr algn="l" marL="228600" indent="-228600">
              <a:spcAft>
                <a:spcPts val="1600"/>
              </a:spcAft>
              <a:buSzPct val="100000"/>
              <a:buChar char="•"/>
            </a:pPr>
            <a:r>
              <a:rPr lang="en-US" sz="1700" dirty="0">
                <a:solidFill>
                  <a:srgbClr val="2B3242"/>
                </a:solidFill>
                <a:latin typeface="Pretendard" pitchFamily="34" charset="0"/>
                <a:ea typeface="Pretendard" pitchFamily="34" charset="-122"/>
                <a:cs typeface="Pretendard" pitchFamily="34" charset="-120"/>
              </a:rPr>
              <a:t>LLM 호출 = 라우터 1 + 묶음 수 + Reduce 1</a:t>
            </a:r>
            <a:endParaRPr lang="en-US" sz="2000" dirty="0"/>
          </a:p>
          <a:p>
            <a:pPr algn="l" marL="228600" indent="-228600">
              <a:spcAft>
                <a:spcPts val="1600"/>
              </a:spcAft>
              <a:buSzPct val="100000"/>
              <a:buChar char="•"/>
            </a:pPr>
            <a:r>
              <a:rPr lang="en-US" sz="1700" dirty="0">
                <a:solidFill>
                  <a:srgbClr val="2B3242"/>
                </a:solidFill>
                <a:latin typeface="Pretendard" pitchFamily="34" charset="0"/>
                <a:ea typeface="Pretendard" pitchFamily="34" charset="-122"/>
                <a:cs typeface="Pretendard" pitchFamily="34" charset="-120"/>
              </a:rPr>
              <a:t>보고서를 다 넣는 기본형은 비용이 크고 무관한 보고서가 섞임</a:t>
            </a:r>
            <a:endParaRPr lang="en-US" sz="2000" dirty="0"/>
          </a:p>
          <a:p>
            <a:pPr algn="l" marL="228600" indent="-228600">
              <a:spcAft>
                <a:spcPts val="1600"/>
              </a:spcAft>
              <a:buSzPct val="100000"/>
              <a:buChar char="•"/>
            </a:pPr>
            <a:r>
              <a:rPr lang="en-US" sz="1700" dirty="0">
                <a:solidFill>
                  <a:srgbClr val="2B3242"/>
                </a:solidFill>
                <a:latin typeface="Pretendard" pitchFamily="34" charset="0"/>
                <a:ea typeface="Pretendard" pitchFamily="34" charset="-122"/>
                <a:cs typeface="Pretendard" pitchFamily="34" charset="-120"/>
              </a:rPr>
              <a:t>동적 선택: 토큰 77% 절감, 품질 차이 유의하지 않음(MS, 질문 50개)</a:t>
            </a:r>
            <a:endParaRPr lang="en-US" sz="2000" dirty="0"/>
          </a:p>
        </p:txBody>
      </p:sp>
      <p:sp>
        <p:nvSpPr>
          <p:cNvPr id="11" name="Shape 9"/>
          <p:cNvSpPr/>
          <p:nvPr/>
        </p:nvSpPr>
        <p:spPr>
          <a:xfrm>
            <a:off x="509321" y="6894576"/>
            <a:ext cx="384048" cy="256032"/>
          </a:xfrm>
          <a:prstGeom prst="roundRect">
            <a:avLst>
              <a:gd name="adj" fmla="val 17857"/>
            </a:avLst>
          </a:prstGeom>
          <a:solidFill>
            <a:srgbClr val="1E2A5C"/>
          </a:solidFill>
          <a:ln/>
        </p:spPr>
      </p:sp>
      <p:sp>
        <p:nvSpPr>
          <p:cNvPr id="12" name="Text 10"/>
          <p:cNvSpPr txBox="1"/>
          <p:nvPr/>
        </p:nvSpPr>
        <p:spPr>
          <a:xfrm>
            <a:off x="98480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v0 구현됨</a:t>
            </a:r>
            <a:endParaRPr lang="en-US" sz="1400" dirty="0"/>
          </a:p>
        </p:txBody>
      </p:sp>
      <p:sp>
        <p:nvSpPr>
          <p:cNvPr id="13" name="Shape 11"/>
          <p:cNvSpPr/>
          <p:nvPr/>
        </p:nvSpPr>
        <p:spPr>
          <a:xfrm>
            <a:off x="2841041" y="6894576"/>
            <a:ext cx="384048" cy="256032"/>
          </a:xfrm>
          <a:prstGeom prst="roundRect">
            <a:avLst>
              <a:gd name="adj" fmla="val 17857"/>
            </a:avLst>
          </a:prstGeom>
          <a:solidFill>
            <a:srgbClr val="EEF3FA"/>
          </a:solidFill>
          <a:ln w="19050">
            <a:solidFill>
              <a:srgbClr val="1E2A5C"/>
            </a:solidFill>
            <a:prstDash val="solid"/>
          </a:ln>
        </p:spPr>
      </p:sp>
      <p:sp>
        <p:nvSpPr>
          <p:cNvPr id="14" name="Text 12"/>
          <p:cNvSpPr txBox="1"/>
          <p:nvPr/>
        </p:nvSpPr>
        <p:spPr>
          <a:xfrm>
            <a:off x="331652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일부 구현</a:t>
            </a:r>
            <a:endParaRPr lang="en-US" sz="1400" dirty="0"/>
          </a:p>
        </p:txBody>
      </p:sp>
      <p:sp>
        <p:nvSpPr>
          <p:cNvPr id="15" name="Shape 13"/>
          <p:cNvSpPr/>
          <p:nvPr/>
        </p:nvSpPr>
        <p:spPr>
          <a:xfrm>
            <a:off x="5172761" y="6894576"/>
            <a:ext cx="384048" cy="256032"/>
          </a:xfrm>
          <a:prstGeom prst="roundRect">
            <a:avLst>
              <a:gd name="adj" fmla="val 17857"/>
            </a:avLst>
          </a:prstGeom>
          <a:solidFill>
            <a:srgbClr val="FFFFFF"/>
          </a:solidFill>
          <a:ln w="19050">
            <a:solidFill>
              <a:srgbClr val="2E74C6"/>
            </a:solidFill>
            <a:prstDash val="dash"/>
          </a:ln>
        </p:spPr>
      </p:sp>
      <p:sp>
        <p:nvSpPr>
          <p:cNvPr id="16" name="Text 14"/>
          <p:cNvSpPr txBox="1"/>
          <p:nvPr/>
        </p:nvSpPr>
        <p:spPr>
          <a:xfrm>
            <a:off x="564824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확장(최종안)</a:t>
            </a:r>
            <a:endParaRPr lang="en-US" sz="1400" dirty="0"/>
          </a:p>
        </p:txBody>
      </p:sp>
      <p:sp>
        <p:nvSpPr>
          <p:cNvPr id="17" name="Shape 15"/>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8" name="Text 16">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19" name="Shape 17"/>
          <p:cNvSpPr/>
          <p:nvPr/>
        </p:nvSpPr>
        <p:spPr>
          <a:xfrm>
            <a:off x="509321" y="7388352"/>
            <a:ext cx="13624560" cy="0"/>
          </a:xfrm>
          <a:prstGeom prst="line">
            <a:avLst/>
          </a:prstGeom>
          <a:noFill/>
          <a:ln w="12700">
            <a:solidFill>
              <a:srgbClr val="E9ECF3"/>
            </a:solidFill>
            <a:prstDash val="solid"/>
          </a:ln>
        </p:spPr>
      </p:sp>
      <p:sp>
        <p:nvSpPr>
          <p:cNvPr id="20" name="Text 18"/>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Microsoft GraphRAG global_search.md, MS Research 블로그(dynamic community selection), graphrag.com 패턴</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Hybrid Search: 보고서로 주제를 먼저 잡고, 주제마다 Local로 근거를 붙임</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「주제 후 근거 검색」으로 경향과 사실을 함께 묻는 질문(Q25)에 답함. Microsoft DRIFT를 교육용으로 줄인 형태</a:t>
            </a:r>
            <a:endParaRPr lang="en-US" sz="1800" dirty="0"/>
          </a:p>
        </p:txBody>
      </p:sp>
      <p:sp>
        <p:nvSpPr>
          <p:cNvPr id="4" name="Text 2"/>
          <p:cNvSpPr/>
          <p:nvPr/>
        </p:nvSpPr>
        <p:spPr>
          <a:xfrm>
            <a:off x="509321" y="1737360"/>
            <a:ext cx="4236720" cy="2148840"/>
          </a:xfrm>
          <a:prstGeom prst="roundRect">
            <a:avLst>
              <a:gd name="adj" fmla="val 4255"/>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Primer</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Global 보고서로 주제 목록과 1차 답</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주제당 후속 질문 1개(상한 5)</a:t>
            </a:r>
            <a:endParaRPr lang="en-US" sz="2000" dirty="0"/>
          </a:p>
        </p:txBody>
      </p:sp>
      <p:sp>
        <p:nvSpPr>
          <p:cNvPr id="5" name="Shape 3"/>
          <p:cNvSpPr/>
          <p:nvPr/>
        </p:nvSpPr>
        <p:spPr>
          <a:xfrm>
            <a:off x="4837481" y="2674620"/>
            <a:ext cx="274320" cy="274320"/>
          </a:xfrm>
          <a:prstGeom prst="rightArrow">
            <a:avLst/>
          </a:prstGeom>
          <a:solidFill>
            <a:srgbClr val="2E74C6"/>
          </a:solidFill>
          <a:ln/>
        </p:spPr>
      </p:sp>
      <p:sp>
        <p:nvSpPr>
          <p:cNvPr id="6" name="Text 4"/>
          <p:cNvSpPr/>
          <p:nvPr/>
        </p:nvSpPr>
        <p:spPr>
          <a:xfrm>
            <a:off x="5203241" y="1737360"/>
            <a:ext cx="4236720" cy="2148840"/>
          </a:xfrm>
          <a:prstGeom prst="roundRect">
            <a:avLst>
              <a:gd name="adj" fmla="val 4255"/>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Follow-up</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후속 질문마다 Local 검색만(답 생성 없음)</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주제당 원문 3개, topic_id</a:t>
            </a:r>
            <a:endParaRPr lang="en-US" sz="2000" dirty="0"/>
          </a:p>
        </p:txBody>
      </p:sp>
      <p:sp>
        <p:nvSpPr>
          <p:cNvPr id="7" name="Shape 5"/>
          <p:cNvSpPr/>
          <p:nvPr/>
        </p:nvSpPr>
        <p:spPr>
          <a:xfrm>
            <a:off x="9531401" y="2674620"/>
            <a:ext cx="274320" cy="274320"/>
          </a:xfrm>
          <a:prstGeom prst="rightArrow">
            <a:avLst/>
          </a:prstGeom>
          <a:solidFill>
            <a:srgbClr val="2E74C6"/>
          </a:solidFill>
          <a:ln/>
        </p:spPr>
      </p:sp>
      <p:sp>
        <p:nvSpPr>
          <p:cNvPr id="8" name="Text 6"/>
          <p:cNvSpPr/>
          <p:nvPr/>
        </p:nvSpPr>
        <p:spPr>
          <a:xfrm>
            <a:off x="9897161" y="1737360"/>
            <a:ext cx="4236720" cy="2148840"/>
          </a:xfrm>
          <a:prstGeom prst="roundRect">
            <a:avLst>
              <a:gd name="adj" fmla="val 4255"/>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2000" b="1" dirty="0">
                <a:solidFill>
                  <a:srgbClr val="1E2A5C"/>
                </a:solidFill>
                <a:latin typeface="Pretendard" pitchFamily="34" charset="0"/>
                <a:ea typeface="Pretendard" pitchFamily="34" charset="-122"/>
                <a:cs typeface="Pretendard" pitchFamily="34" charset="-120"/>
              </a:rPr>
              <a:t>합치기</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주제 아래 근거 원문을 붙임</a:t>
            </a:r>
            <a:endParaRPr lang="en-US" sz="2000" dirty="0"/>
          </a:p>
          <a:p>
            <a:pPr algn="ctr" indent="0" marL="0">
              <a:spcAft>
                <a:spcPts val="200"/>
              </a:spcAft>
              <a:buNone/>
            </a:pPr>
            <a:r>
              <a:rPr lang="en-US" sz="1700" dirty="0">
                <a:solidFill>
                  <a:srgbClr val="2B3242"/>
                </a:solidFill>
                <a:latin typeface="Pretendard" pitchFamily="34" charset="0"/>
                <a:ea typeface="Pretendard" pitchFamily="34" charset="-122"/>
                <a:cs typeface="Pretendard" pitchFamily="34" charset="-120"/>
              </a:rPr>
              <a:t>LLM 한 번으로 최종 답</a:t>
            </a:r>
            <a:endParaRPr lang="en-US" sz="2000" dirty="0"/>
          </a:p>
        </p:txBody>
      </p:sp>
      <p:sp>
        <p:nvSpPr>
          <p:cNvPr id="9" name="Text 7"/>
          <p:cNvSpPr/>
          <p:nvPr/>
        </p:nvSpPr>
        <p:spPr>
          <a:xfrm>
            <a:off x="509321" y="4160520"/>
            <a:ext cx="7863840" cy="2148840"/>
          </a:xfrm>
          <a:prstGeom prst="roundRect">
            <a:avLst>
              <a:gd name="adj" fmla="val 4255"/>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예시 흐름(Q25, 설명용 가정)</a:t>
            </a:r>
            <a:endParaRPr lang="en-US" sz="2000" dirty="0"/>
          </a:p>
          <a:p>
            <a:pPr algn="l" marL="228600" indent="-228600">
              <a:spcAft>
                <a:spcPts val="1600"/>
              </a:spcAft>
              <a:buSzPct val="100000"/>
              <a:buChar char="•"/>
            </a:pPr>
            <a:r>
              <a:rPr lang="en-US" sz="1700" dirty="0">
                <a:solidFill>
                  <a:srgbClr val="2B3242"/>
                </a:solidFill>
                <a:latin typeface="Pretendard" pitchFamily="34" charset="0"/>
                <a:ea typeface="Pretendard" pitchFamily="34" charset="-122"/>
                <a:cs typeface="Pretendard" pitchFamily="34" charset="-120"/>
              </a:rPr>
              <a:t>주제: 연회비 부담 불만 → 후속 질문: 연회비 면제 조건 약관 조항은?</a:t>
            </a:r>
            <a:endParaRPr lang="en-US" sz="2000" dirty="0"/>
          </a:p>
          <a:p>
            <a:pPr algn="l" marL="228600" indent="-228600">
              <a:spcAft>
                <a:spcPts val="1600"/>
              </a:spcAft>
              <a:buSzPct val="100000"/>
              <a:buChar char="•"/>
            </a:pPr>
            <a:r>
              <a:rPr lang="en-US" sz="1700" dirty="0">
                <a:solidFill>
                  <a:srgbClr val="2B3242"/>
                </a:solidFill>
                <a:latin typeface="Pretendard" pitchFamily="34" charset="0"/>
                <a:ea typeface="Pretendard" pitchFamily="34" charset="-122"/>
                <a:cs typeface="Pretendard" pitchFamily="34" charset="-120"/>
              </a:rPr>
              <a:t>Local 검색: 약관 제10조① 원문</a:t>
            </a:r>
            <a:endParaRPr lang="en-US" sz="2000" dirty="0"/>
          </a:p>
          <a:p>
            <a:pPr algn="l" marL="228600" indent="-228600">
              <a:spcAft>
                <a:spcPts val="1600"/>
              </a:spcAft>
              <a:buSzPct val="100000"/>
              <a:buChar char="•"/>
            </a:pPr>
            <a:r>
              <a:rPr lang="en-US" sz="1700" dirty="0">
                <a:solidFill>
                  <a:srgbClr val="2B3242"/>
                </a:solidFill>
                <a:latin typeface="Pretendard" pitchFamily="34" charset="0"/>
                <a:ea typeface="Pretendard" pitchFamily="34" charset="-122"/>
                <a:cs typeface="Pretendard" pitchFamily="34" charset="-120"/>
              </a:rPr>
              <a:t>답: 「연회비 부담」 주제 아래에 제10조① 근거를 붙임</a:t>
            </a:r>
            <a:endParaRPr lang="en-US" sz="2000" dirty="0"/>
          </a:p>
        </p:txBody>
      </p:sp>
      <p:sp>
        <p:nvSpPr>
          <p:cNvPr id="10" name="Text 8"/>
          <p:cNvSpPr/>
          <p:nvPr/>
        </p:nvSpPr>
        <p:spPr>
          <a:xfrm>
            <a:off x="8647481" y="4160520"/>
            <a:ext cx="5486400" cy="2148840"/>
          </a:xfrm>
          <a:prstGeom prst="roundRect">
            <a:avLst>
              <a:gd name="adj" fmla="val 4255"/>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900" b="1" dirty="0">
                <a:solidFill>
                  <a:srgbClr val="1E2A5C"/>
                </a:solidFill>
                <a:latin typeface="Pretendard" pitchFamily="34" charset="0"/>
                <a:ea typeface="Pretendard" pitchFamily="34" charset="-122"/>
                <a:cs typeface="Pretendard" pitchFamily="34" charset="-120"/>
              </a:rPr>
              <a:t>멈춤 규칙</a:t>
            </a:r>
            <a:endParaRPr lang="en-US" sz="1900" dirty="0"/>
          </a:p>
          <a:p>
            <a:pPr algn="l" marL="228600" indent="-228600">
              <a:spcAft>
                <a:spcPts val="900"/>
              </a:spcAft>
              <a:buSzPct val="100000"/>
              <a:buChar char="•"/>
            </a:pPr>
            <a:r>
              <a:rPr lang="en-US" sz="1600" dirty="0">
                <a:solidFill>
                  <a:srgbClr val="2B3242"/>
                </a:solidFill>
                <a:latin typeface="Pretendard" pitchFamily="34" charset="0"/>
                <a:ea typeface="Pretendard" pitchFamily="34" charset="-122"/>
                <a:cs typeface="Pretendard" pitchFamily="34" charset="-120"/>
              </a:rPr>
              <a:t>라운드 1회, 후속 질문 상한 5</a:t>
            </a:r>
            <a:endParaRPr lang="en-US" sz="1900" dirty="0"/>
          </a:p>
          <a:p>
            <a:pPr algn="l" marL="228600" indent="-228600">
              <a:spcAft>
                <a:spcPts val="900"/>
              </a:spcAft>
              <a:buSzPct val="100000"/>
              <a:buChar char="•"/>
            </a:pPr>
            <a:r>
              <a:rPr lang="en-US" sz="1600" dirty="0">
                <a:solidFill>
                  <a:srgbClr val="2B3242"/>
                </a:solidFill>
                <a:latin typeface="Pretendard" pitchFamily="34" charset="0"/>
                <a:ea typeface="Pretendard" pitchFamily="34" charset="-122"/>
                <a:cs typeface="Pretendard" pitchFamily="34" charset="-120"/>
              </a:rPr>
              <a:t>종료: 라운드 소진 또는 새 근거 0건</a:t>
            </a:r>
            <a:endParaRPr lang="en-US" sz="1900" dirty="0"/>
          </a:p>
          <a:p>
            <a:pPr algn="l" marL="228600" indent="-228600">
              <a:spcAft>
                <a:spcPts val="900"/>
              </a:spcAft>
              <a:buSzPct val="100000"/>
              <a:buChar char="•"/>
            </a:pPr>
            <a:r>
              <a:rPr lang="en-US" sz="1600" dirty="0">
                <a:solidFill>
                  <a:srgbClr val="2B3242"/>
                </a:solidFill>
                <a:latin typeface="Pretendard" pitchFamily="34" charset="0"/>
                <a:ea typeface="Pretendard" pitchFamily="34" charset="-122"/>
                <a:cs typeface="Pretendard" pitchFamily="34" charset="-120"/>
              </a:rPr>
              <a:t>시간 예산 150초, 넘으면 모은 근거로 답</a:t>
            </a:r>
            <a:endParaRPr lang="en-US" sz="1900" dirty="0"/>
          </a:p>
          <a:p>
            <a:pPr algn="l" marL="228600" indent="-228600">
              <a:spcAft>
                <a:spcPts val="900"/>
              </a:spcAft>
              <a:buSzPct val="100000"/>
              <a:buChar char="•"/>
            </a:pPr>
            <a:r>
              <a:rPr lang="en-US" sz="1600" dirty="0">
                <a:solidFill>
                  <a:srgbClr val="2B3242"/>
                </a:solidFill>
                <a:latin typeface="Pretendard" pitchFamily="34" charset="0"/>
                <a:ea typeface="Pretendard" pitchFamily="34" charset="-122"/>
                <a:cs typeface="Pretendard" pitchFamily="34" charset="-120"/>
              </a:rPr>
              <a:t>LLM 호출 3회(라우터, Primer, 합치기)</a:t>
            </a:r>
            <a:endParaRPr lang="en-US" sz="1900" dirty="0"/>
          </a:p>
        </p:txBody>
      </p:sp>
      <p:sp>
        <p:nvSpPr>
          <p:cNvPr id="11" name="Shape 9"/>
          <p:cNvSpPr/>
          <p:nvPr/>
        </p:nvSpPr>
        <p:spPr>
          <a:xfrm>
            <a:off x="509321" y="6894576"/>
            <a:ext cx="384048" cy="256032"/>
          </a:xfrm>
          <a:prstGeom prst="roundRect">
            <a:avLst>
              <a:gd name="adj" fmla="val 17857"/>
            </a:avLst>
          </a:prstGeom>
          <a:solidFill>
            <a:srgbClr val="1E2A5C"/>
          </a:solidFill>
          <a:ln/>
        </p:spPr>
      </p:sp>
      <p:sp>
        <p:nvSpPr>
          <p:cNvPr id="12" name="Text 10"/>
          <p:cNvSpPr txBox="1"/>
          <p:nvPr/>
        </p:nvSpPr>
        <p:spPr>
          <a:xfrm>
            <a:off x="98480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v0 구현됨</a:t>
            </a:r>
            <a:endParaRPr lang="en-US" sz="1400" dirty="0"/>
          </a:p>
        </p:txBody>
      </p:sp>
      <p:sp>
        <p:nvSpPr>
          <p:cNvPr id="13" name="Shape 11"/>
          <p:cNvSpPr/>
          <p:nvPr/>
        </p:nvSpPr>
        <p:spPr>
          <a:xfrm>
            <a:off x="2841041" y="6894576"/>
            <a:ext cx="384048" cy="256032"/>
          </a:xfrm>
          <a:prstGeom prst="roundRect">
            <a:avLst>
              <a:gd name="adj" fmla="val 17857"/>
            </a:avLst>
          </a:prstGeom>
          <a:solidFill>
            <a:srgbClr val="EEF3FA"/>
          </a:solidFill>
          <a:ln w="19050">
            <a:solidFill>
              <a:srgbClr val="1E2A5C"/>
            </a:solidFill>
            <a:prstDash val="solid"/>
          </a:ln>
        </p:spPr>
      </p:sp>
      <p:sp>
        <p:nvSpPr>
          <p:cNvPr id="14" name="Text 12"/>
          <p:cNvSpPr txBox="1"/>
          <p:nvPr/>
        </p:nvSpPr>
        <p:spPr>
          <a:xfrm>
            <a:off x="331652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일부 구현</a:t>
            </a:r>
            <a:endParaRPr lang="en-US" sz="1400" dirty="0"/>
          </a:p>
        </p:txBody>
      </p:sp>
      <p:sp>
        <p:nvSpPr>
          <p:cNvPr id="15" name="Shape 13"/>
          <p:cNvSpPr/>
          <p:nvPr/>
        </p:nvSpPr>
        <p:spPr>
          <a:xfrm>
            <a:off x="5172761" y="6894576"/>
            <a:ext cx="384048" cy="256032"/>
          </a:xfrm>
          <a:prstGeom prst="roundRect">
            <a:avLst>
              <a:gd name="adj" fmla="val 17857"/>
            </a:avLst>
          </a:prstGeom>
          <a:solidFill>
            <a:srgbClr val="FFFFFF"/>
          </a:solidFill>
          <a:ln w="19050">
            <a:solidFill>
              <a:srgbClr val="2E74C6"/>
            </a:solidFill>
            <a:prstDash val="dash"/>
          </a:ln>
        </p:spPr>
      </p:sp>
      <p:sp>
        <p:nvSpPr>
          <p:cNvPr id="16" name="Text 14"/>
          <p:cNvSpPr txBox="1"/>
          <p:nvPr/>
        </p:nvSpPr>
        <p:spPr>
          <a:xfrm>
            <a:off x="5648249" y="6858000"/>
            <a:ext cx="178308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확장(최종안)</a:t>
            </a:r>
            <a:endParaRPr lang="en-US" sz="1400" dirty="0"/>
          </a:p>
        </p:txBody>
      </p:sp>
      <p:sp>
        <p:nvSpPr>
          <p:cNvPr id="17" name="Shape 15"/>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8" name="Text 16">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19" name="Shape 17"/>
          <p:cNvSpPr/>
          <p:nvPr/>
        </p:nvSpPr>
        <p:spPr>
          <a:xfrm>
            <a:off x="509321" y="7388352"/>
            <a:ext cx="13624560" cy="0"/>
          </a:xfrm>
          <a:prstGeom prst="line">
            <a:avLst/>
          </a:prstGeom>
          <a:noFill/>
          <a:ln w="12700">
            <a:solidFill>
              <a:srgbClr val="E9ECF3"/>
            </a:solidFill>
            <a:prstDash val="solid"/>
          </a:ln>
        </p:spPr>
      </p:sp>
      <p:sp>
        <p:nvSpPr>
          <p:cNvPr id="20" name="Text 18"/>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Microsoft GraphRAG drift_search.md, config defaults.py(drift_k_followups 20, n_depth 3)</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세 방식 비교: 무엇에서 출발하고 얼마나 드는가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사실은 Local이 싸고 정확하며, Global과 Hybrid는 경향 질문에만 비용을 들임</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377440"/>
                <a:gridCol w="3749040"/>
                <a:gridCol w="3749040"/>
                <a:gridCol w="3749040"/>
              </a:tblGrid>
              <a:tr h="502920">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비교 축</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Local Search</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Global Search</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Hybrid Search</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58368">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예시 질문</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Q01 연회비 면제 조건</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Q23 고객군별 불만 주제</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Q25 주제별 약관과 혜택</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시작점</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청크, 엔티티, 이름</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커뮤니티 보고서</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보고서 → 후속 질문</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58368">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근거</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원문, 엔티티, 보고서</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보고서</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보고서와 원문</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LLM 호출(라우터 포함)</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2회</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v0 2회, 확장 2 + 묶음 수</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3회</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58368">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시간 예산</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45초</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90초</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150초</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구현 상태</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구현됨(v0 --mode hybrid)</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일부(보고서 상위 5)</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확장</a:t>
                      </a:r>
                      <a:endParaRPr lang="en-US" sz="17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6464808"/>
            <a:ext cx="64008" cy="502920"/>
          </a:xfrm>
          <a:prstGeom prst="rect">
            <a:avLst/>
          </a:prstGeom>
          <a:solidFill>
            <a:srgbClr val="2E74C6"/>
          </a:solidFill>
          <a:ln/>
        </p:spPr>
      </p:sp>
      <p:sp>
        <p:nvSpPr>
          <p:cNvPr id="6" name="Text 3"/>
          <p:cNvSpPr txBox="1"/>
          <p:nvPr/>
        </p:nvSpPr>
        <p:spPr>
          <a:xfrm>
            <a:off x="692201" y="6464808"/>
            <a:ext cx="13441680" cy="502920"/>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LLM 호출 수는 설계로 계산한 값임. 토큰과 지연은 기준선 측정(12장 1번) 뒤에 채움</a:t>
            </a:r>
            <a:endParaRPr lang="en-US" sz="1700" dirty="0"/>
          </a:p>
        </p:txBody>
      </p:sp>
      <p:sp>
        <p:nvSpPr>
          <p:cNvPr id="7" name="Shape 4"/>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8" name="Text 5">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9" name="Shape 6"/>
          <p:cNvSpPr/>
          <p:nvPr/>
        </p:nvSpPr>
        <p:spPr>
          <a:xfrm>
            <a:off x="509321" y="7388352"/>
            <a:ext cx="13624560" cy="0"/>
          </a:xfrm>
          <a:prstGeom prst="line">
            <a:avLst/>
          </a:prstGeom>
          <a:noFill/>
          <a:ln w="12700">
            <a:solidFill>
              <a:srgbClr val="E9ECF3"/>
            </a:solidFill>
            <a:prstDash val="solid"/>
          </a:ln>
        </p:spPr>
      </p:sp>
      <p:sp>
        <p:nvSpPr>
          <p:cNvPr id="10" name="Text 7"/>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teacher/plan/graphrag-search-flow.md 4 ~ 7절. LLM 호출 수는 설계 기준 계산값</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실행 규칙과 실패 대체: 막히면 한 단계 낮춰서라도 답함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시간 예산과 재시도 상한으로 멈춤을 막고, 장애마다 대체 경로와 알림 코드를 정함</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9418320" cy="914400"/>
        </p:xfrm>
        <a:graphic>
          <a:graphicData uri="http://schemas.openxmlformats.org/drawingml/2006/table">
            <a:tbl>
              <a:tblPr/>
              <a:tblGrid>
                <a:gridCol w="2743200"/>
                <a:gridCol w="4480560"/>
                <a:gridCol w="219456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상황</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대체 경로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알림 코드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라우터 답 꼴 오류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2번 더 묻고, 끝내 틀리면 Local</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ROUTER_BAD_FORM</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보고서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Global, Hybrid를 Local로 내림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NO_REPORTS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OpenSearch 장애</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엔티티 갈래와 이름 갈래만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SEARCH_ENGINE_DOWN</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Neo4j 장애</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1번 다시 연결, 실패 시 원문만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GRAPH_DOWN</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LLM 429 계속</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받은 Map만 Reduce, Local은 근거만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LLM_RATE_LIMIT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Map 일부 시간 초과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받은 중간 답으로 Reduce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MAP_PARTIAL</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질의 중 세대 교체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고정 세대로 끝까지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GENERATION_CHANGED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Text 2"/>
          <p:cNvSpPr/>
          <p:nvPr/>
        </p:nvSpPr>
        <p:spPr>
          <a:xfrm>
            <a:off x="10201961" y="1737360"/>
            <a:ext cx="3931920" cy="4983480"/>
          </a:xfrm>
          <a:prstGeom prst="roundRect">
            <a:avLst>
              <a:gd name="adj" fmla="val 2326"/>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실행 규칙</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시간 예산: Local 45초, Global 90초, Hybrid 150초</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재시도 곱 상한: LLM 내부 2회(대기 10초 상한) × 노드 1회</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동시성: LLM 전역 4개, Neo4j 세션 8개</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병렬 결과는 합치기 리듀서로 모음</a:t>
            </a:r>
            <a:endParaRPr lang="en-US" sz="2100" dirty="0"/>
          </a:p>
        </p:txBody>
      </p:sp>
      <p:sp>
        <p:nvSpPr>
          <p:cNvPr id="6" name="Shape 3"/>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7" name="Text 4">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8" name="Shape 5"/>
          <p:cNvSpPr/>
          <p:nvPr/>
        </p:nvSpPr>
        <p:spPr>
          <a:xfrm>
            <a:off x="509321" y="7388352"/>
            <a:ext cx="13624560" cy="0"/>
          </a:xfrm>
          <a:prstGeom prst="line">
            <a:avLst/>
          </a:prstGeom>
          <a:noFill/>
          <a:ln w="12700">
            <a:solidFill>
              <a:srgbClr val="E9ECF3"/>
            </a:solidFill>
            <a:prstDash val="solid"/>
          </a:ln>
        </p:spPr>
      </p:sp>
      <p:sp>
        <p:nvSpPr>
          <p:cNvPr id="9" name="Text 6"/>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플로니 리뷰(2026-10-24), teacher/graphrag/v0/common.py</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바깥 계약: 오래 걸리는 검색은 단계 이벤트로 흘려 보냄</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안쪽 흐름이 단계마다 이벤트를 내고, API는 받아서 전달만 해 경계를 얇게 유지함</a:t>
            </a:r>
            <a:endParaRPr lang="en-US" sz="1800" dirty="0"/>
          </a:p>
        </p:txBody>
      </p:sp>
      <p:sp>
        <p:nvSpPr>
          <p:cNvPr id="4" name="Text 2"/>
          <p:cNvSpPr/>
          <p:nvPr/>
        </p:nvSpPr>
        <p:spPr>
          <a:xfrm>
            <a:off x="509321" y="1737360"/>
            <a:ext cx="1617182" cy="685800"/>
          </a:xfrm>
          <a:prstGeom prst="roundRect">
            <a:avLst>
              <a:gd name="adj" fmla="val 13333"/>
            </a:avLst>
          </a:prstGeom>
          <a:solidFill>
            <a:srgbClr val="1E2A5C"/>
          </a:solidFill>
          <a:ln/>
        </p:spPr>
        <p:txBody>
          <a:bodyPr wrap="square" lIns="101600" tIns="63500" rIns="101600" bIns="63500" rtlCol="0" anchor="ctr"/>
          <a:lstStyle/>
          <a:p>
            <a:pPr algn="ctr" indent="0" marL="0">
              <a:spcAft>
                <a:spcPts val="400"/>
              </a:spcAft>
              <a:buNone/>
            </a:pPr>
            <a:r>
              <a:rPr lang="en-US" sz="1600" b="1" dirty="0">
                <a:solidFill>
                  <a:srgbClr val="FFFFFF"/>
                </a:solidFill>
                <a:latin typeface="Pretendard" pitchFamily="34" charset="0"/>
                <a:ea typeface="Pretendard" pitchFamily="34" charset="-122"/>
                <a:cs typeface="Pretendard" pitchFamily="34" charset="-120"/>
              </a:rPr>
              <a:t>route</a:t>
            </a:r>
            <a:endParaRPr lang="en-US" sz="1600" dirty="0"/>
          </a:p>
        </p:txBody>
      </p:sp>
      <p:sp>
        <p:nvSpPr>
          <p:cNvPr id="5" name="Shape 3"/>
          <p:cNvSpPr/>
          <p:nvPr/>
        </p:nvSpPr>
        <p:spPr>
          <a:xfrm>
            <a:off x="2181367" y="1961388"/>
            <a:ext cx="274320" cy="237744"/>
          </a:xfrm>
          <a:prstGeom prst="rightArrow">
            <a:avLst/>
          </a:prstGeom>
          <a:solidFill>
            <a:srgbClr val="2E74C6"/>
          </a:solidFill>
          <a:ln/>
        </p:spPr>
      </p:sp>
      <p:sp>
        <p:nvSpPr>
          <p:cNvPr id="6" name="Text 4"/>
          <p:cNvSpPr/>
          <p:nvPr/>
        </p:nvSpPr>
        <p:spPr>
          <a:xfrm>
            <a:off x="2510551" y="1737360"/>
            <a:ext cx="1617182" cy="685800"/>
          </a:xfrm>
          <a:prstGeom prst="roundRect">
            <a:avLst>
              <a:gd name="adj" fmla="val 13333"/>
            </a:avLst>
          </a:prstGeom>
          <a:solidFill>
            <a:srgbClr val="FFFFFF"/>
          </a:solidFill>
          <a:ln w="19050">
            <a:solidFill>
              <a:srgbClr val="2E74C6"/>
            </a:solidFill>
            <a:prstDash val="dash"/>
          </a:ln>
        </p:spPr>
        <p:txBody>
          <a:bodyPr wrap="square" lIns="101600" tIns="63500" rIns="101600" bIns="63500" rtlCol="0" anchor="ctr"/>
          <a:lstStyle/>
          <a:p>
            <a:pPr algn="ctr" indent="0" marL="0">
              <a:spcAft>
                <a:spcPts val="400"/>
              </a:spcAft>
              <a:buNone/>
            </a:pPr>
            <a:r>
              <a:rPr lang="en-US" sz="1600" b="1" dirty="0">
                <a:solidFill>
                  <a:srgbClr val="1E2A5C"/>
                </a:solidFill>
                <a:latin typeface="Pretendard" pitchFamily="34" charset="0"/>
                <a:ea typeface="Pretendard" pitchFamily="34" charset="-122"/>
                <a:cs typeface="Pretendard" pitchFamily="34" charset="-120"/>
              </a:rPr>
              <a:t>fallback(대체 시)</a:t>
            </a:r>
            <a:endParaRPr lang="en-US" sz="1600" dirty="0"/>
          </a:p>
        </p:txBody>
      </p:sp>
      <p:sp>
        <p:nvSpPr>
          <p:cNvPr id="7" name="Shape 5"/>
          <p:cNvSpPr/>
          <p:nvPr/>
        </p:nvSpPr>
        <p:spPr>
          <a:xfrm>
            <a:off x="4182596" y="1961388"/>
            <a:ext cx="274320" cy="237744"/>
          </a:xfrm>
          <a:prstGeom prst="rightArrow">
            <a:avLst/>
          </a:prstGeom>
          <a:solidFill>
            <a:srgbClr val="2E74C6"/>
          </a:solidFill>
          <a:ln/>
        </p:spPr>
      </p:sp>
      <p:sp>
        <p:nvSpPr>
          <p:cNvPr id="8" name="Text 6"/>
          <p:cNvSpPr/>
          <p:nvPr/>
        </p:nvSpPr>
        <p:spPr>
          <a:xfrm>
            <a:off x="4511780" y="1737360"/>
            <a:ext cx="1617182" cy="685800"/>
          </a:xfrm>
          <a:prstGeom prst="roundRect">
            <a:avLst>
              <a:gd name="adj" fmla="val 13333"/>
            </a:avLst>
          </a:prstGeom>
          <a:solidFill>
            <a:srgbClr val="1E2A5C"/>
          </a:solidFill>
          <a:ln/>
        </p:spPr>
        <p:txBody>
          <a:bodyPr wrap="square" lIns="101600" tIns="63500" rIns="101600" bIns="63500" rtlCol="0" anchor="ctr"/>
          <a:lstStyle/>
          <a:p>
            <a:pPr algn="ctr" indent="0" marL="0">
              <a:spcAft>
                <a:spcPts val="400"/>
              </a:spcAft>
              <a:buNone/>
            </a:pPr>
            <a:r>
              <a:rPr lang="en-US" sz="1600" b="1" dirty="0">
                <a:solidFill>
                  <a:srgbClr val="FFFFFF"/>
                </a:solidFill>
                <a:latin typeface="Pretendard" pitchFamily="34" charset="0"/>
                <a:ea typeface="Pretendard" pitchFamily="34" charset="-122"/>
                <a:cs typeface="Pretendard" pitchFamily="34" charset="-120"/>
              </a:rPr>
              <a:t>stage(반복)</a:t>
            </a:r>
            <a:endParaRPr lang="en-US" sz="1600" dirty="0"/>
          </a:p>
        </p:txBody>
      </p:sp>
      <p:sp>
        <p:nvSpPr>
          <p:cNvPr id="9" name="Shape 7"/>
          <p:cNvSpPr/>
          <p:nvPr/>
        </p:nvSpPr>
        <p:spPr>
          <a:xfrm>
            <a:off x="6183826" y="1961388"/>
            <a:ext cx="274320" cy="237744"/>
          </a:xfrm>
          <a:prstGeom prst="rightArrow">
            <a:avLst/>
          </a:prstGeom>
          <a:solidFill>
            <a:srgbClr val="2E74C6"/>
          </a:solidFill>
          <a:ln/>
        </p:spPr>
      </p:sp>
      <p:sp>
        <p:nvSpPr>
          <p:cNvPr id="10" name="Text 8"/>
          <p:cNvSpPr/>
          <p:nvPr/>
        </p:nvSpPr>
        <p:spPr>
          <a:xfrm>
            <a:off x="6513010" y="1737360"/>
            <a:ext cx="1617182" cy="685800"/>
          </a:xfrm>
          <a:prstGeom prst="roundRect">
            <a:avLst>
              <a:gd name="adj" fmla="val 13333"/>
            </a:avLst>
          </a:prstGeom>
          <a:solidFill>
            <a:srgbClr val="1E2A5C"/>
          </a:solidFill>
          <a:ln/>
        </p:spPr>
        <p:txBody>
          <a:bodyPr wrap="square" lIns="101600" tIns="63500" rIns="101600" bIns="63500" rtlCol="0" anchor="ctr"/>
          <a:lstStyle/>
          <a:p>
            <a:pPr algn="ctr" indent="0" marL="0">
              <a:spcAft>
                <a:spcPts val="400"/>
              </a:spcAft>
              <a:buNone/>
            </a:pPr>
            <a:r>
              <a:rPr lang="en-US" sz="1600" b="1" dirty="0">
                <a:solidFill>
                  <a:srgbClr val="FFFFFF"/>
                </a:solidFill>
                <a:latin typeface="Pretendard" pitchFamily="34" charset="0"/>
                <a:ea typeface="Pretendard" pitchFamily="34" charset="-122"/>
                <a:cs typeface="Pretendard" pitchFamily="34" charset="-120"/>
              </a:rPr>
              <a:t>evidence</a:t>
            </a:r>
            <a:endParaRPr lang="en-US" sz="1600" dirty="0"/>
          </a:p>
        </p:txBody>
      </p:sp>
      <p:sp>
        <p:nvSpPr>
          <p:cNvPr id="11" name="Shape 9"/>
          <p:cNvSpPr/>
          <p:nvPr/>
        </p:nvSpPr>
        <p:spPr>
          <a:xfrm>
            <a:off x="8185056" y="1961388"/>
            <a:ext cx="274320" cy="237744"/>
          </a:xfrm>
          <a:prstGeom prst="rightArrow">
            <a:avLst/>
          </a:prstGeom>
          <a:solidFill>
            <a:srgbClr val="2E74C6"/>
          </a:solidFill>
          <a:ln/>
        </p:spPr>
      </p:sp>
      <p:sp>
        <p:nvSpPr>
          <p:cNvPr id="12" name="Text 10"/>
          <p:cNvSpPr/>
          <p:nvPr/>
        </p:nvSpPr>
        <p:spPr>
          <a:xfrm>
            <a:off x="8514240" y="1737360"/>
            <a:ext cx="1617182" cy="685800"/>
          </a:xfrm>
          <a:prstGeom prst="roundRect">
            <a:avLst>
              <a:gd name="adj" fmla="val 13333"/>
            </a:avLst>
          </a:prstGeom>
          <a:solidFill>
            <a:srgbClr val="1E2A5C"/>
          </a:solidFill>
          <a:ln/>
        </p:spPr>
        <p:txBody>
          <a:bodyPr wrap="square" lIns="101600" tIns="63500" rIns="101600" bIns="63500" rtlCol="0" anchor="ctr"/>
          <a:lstStyle/>
          <a:p>
            <a:pPr algn="ctr" indent="0" marL="0">
              <a:spcAft>
                <a:spcPts val="400"/>
              </a:spcAft>
              <a:buNone/>
            </a:pPr>
            <a:r>
              <a:rPr lang="en-US" sz="1600" b="1" dirty="0">
                <a:solidFill>
                  <a:srgbClr val="FFFFFF"/>
                </a:solidFill>
                <a:latin typeface="Pretendard" pitchFamily="34" charset="0"/>
                <a:ea typeface="Pretendard" pitchFamily="34" charset="-122"/>
                <a:cs typeface="Pretendard" pitchFamily="34" charset="-120"/>
              </a:rPr>
              <a:t>answer.delta</a:t>
            </a:r>
            <a:endParaRPr lang="en-US" sz="1600" dirty="0"/>
          </a:p>
        </p:txBody>
      </p:sp>
      <p:sp>
        <p:nvSpPr>
          <p:cNvPr id="13" name="Shape 11"/>
          <p:cNvSpPr/>
          <p:nvPr/>
        </p:nvSpPr>
        <p:spPr>
          <a:xfrm>
            <a:off x="10186285" y="1961388"/>
            <a:ext cx="274320" cy="237744"/>
          </a:xfrm>
          <a:prstGeom prst="rightArrow">
            <a:avLst/>
          </a:prstGeom>
          <a:solidFill>
            <a:srgbClr val="2E74C6"/>
          </a:solidFill>
          <a:ln/>
        </p:spPr>
      </p:sp>
      <p:sp>
        <p:nvSpPr>
          <p:cNvPr id="14" name="Text 12"/>
          <p:cNvSpPr/>
          <p:nvPr/>
        </p:nvSpPr>
        <p:spPr>
          <a:xfrm>
            <a:off x="10515469" y="1737360"/>
            <a:ext cx="1617182" cy="685800"/>
          </a:xfrm>
          <a:prstGeom prst="roundRect">
            <a:avLst>
              <a:gd name="adj" fmla="val 13333"/>
            </a:avLst>
          </a:prstGeom>
          <a:solidFill>
            <a:srgbClr val="1E2A5C"/>
          </a:solidFill>
          <a:ln/>
        </p:spPr>
        <p:txBody>
          <a:bodyPr wrap="square" lIns="101600" tIns="63500" rIns="101600" bIns="63500" rtlCol="0" anchor="ctr"/>
          <a:lstStyle/>
          <a:p>
            <a:pPr algn="ctr" indent="0" marL="0">
              <a:spcAft>
                <a:spcPts val="400"/>
              </a:spcAft>
              <a:buNone/>
            </a:pPr>
            <a:r>
              <a:rPr lang="en-US" sz="1600" b="1" dirty="0">
                <a:solidFill>
                  <a:srgbClr val="FFFFFF"/>
                </a:solidFill>
                <a:latin typeface="Pretendard" pitchFamily="34" charset="0"/>
                <a:ea typeface="Pretendard" pitchFamily="34" charset="-122"/>
                <a:cs typeface="Pretendard" pitchFamily="34" charset="-120"/>
              </a:rPr>
              <a:t>citations</a:t>
            </a:r>
            <a:endParaRPr lang="en-US" sz="1600" dirty="0"/>
          </a:p>
        </p:txBody>
      </p:sp>
      <p:sp>
        <p:nvSpPr>
          <p:cNvPr id="15" name="Shape 13"/>
          <p:cNvSpPr/>
          <p:nvPr/>
        </p:nvSpPr>
        <p:spPr>
          <a:xfrm>
            <a:off x="12187515" y="1961388"/>
            <a:ext cx="274320" cy="237744"/>
          </a:xfrm>
          <a:prstGeom prst="rightArrow">
            <a:avLst/>
          </a:prstGeom>
          <a:solidFill>
            <a:srgbClr val="2E74C6"/>
          </a:solidFill>
          <a:ln/>
        </p:spPr>
      </p:sp>
      <p:sp>
        <p:nvSpPr>
          <p:cNvPr id="16" name="Text 14"/>
          <p:cNvSpPr/>
          <p:nvPr/>
        </p:nvSpPr>
        <p:spPr>
          <a:xfrm>
            <a:off x="12516699" y="1737360"/>
            <a:ext cx="1617182" cy="685800"/>
          </a:xfrm>
          <a:prstGeom prst="roundRect">
            <a:avLst>
              <a:gd name="adj" fmla="val 13333"/>
            </a:avLst>
          </a:prstGeom>
          <a:solidFill>
            <a:srgbClr val="1E2A5C"/>
          </a:solidFill>
          <a:ln/>
        </p:spPr>
        <p:txBody>
          <a:bodyPr wrap="square" lIns="101600" tIns="63500" rIns="101600" bIns="63500" rtlCol="0" anchor="ctr"/>
          <a:lstStyle/>
          <a:p>
            <a:pPr algn="ctr" indent="0" marL="0">
              <a:spcAft>
                <a:spcPts val="400"/>
              </a:spcAft>
              <a:buNone/>
            </a:pPr>
            <a:r>
              <a:rPr lang="en-US" sz="1600" b="1" dirty="0">
                <a:solidFill>
                  <a:srgbClr val="FFFFFF"/>
                </a:solidFill>
                <a:latin typeface="Pretendard" pitchFamily="34" charset="0"/>
                <a:ea typeface="Pretendard" pitchFamily="34" charset="-122"/>
                <a:cs typeface="Pretendard" pitchFamily="34" charset="-120"/>
              </a:rPr>
              <a:t>done 또는 error</a:t>
            </a:r>
            <a:endParaRPr lang="en-US" sz="1600" dirty="0"/>
          </a:p>
        </p:txBody>
      </p:sp>
      <p:sp>
        <p:nvSpPr>
          <p:cNvPr id="17" name="Text 15"/>
          <p:cNvSpPr txBox="1"/>
          <p:nvPr/>
        </p:nvSpPr>
        <p:spPr>
          <a:xfrm>
            <a:off x="509321" y="2496312"/>
            <a:ext cx="13624560" cy="329184"/>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warning은 아무 때나, 15초마다 heartbeat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9321" y="2971800"/>
          <a:ext cx="13624560" cy="914400"/>
        </p:xfrm>
        <a:graphic>
          <a:graphicData uri="http://schemas.openxmlformats.org/drawingml/2006/table">
            <a:tbl>
              <a:tblPr/>
              <a:tblGrid>
                <a:gridCol w="2743200"/>
                <a:gridCol w="10881360"/>
              </a:tblGrid>
              <a:tr h="41148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응답 필드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내용</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93776">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route</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요청 mode, 라우터 판단, 실제 실행 경로와 이유</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93776">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fallback</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대체했을 때만: 원래 경로, 바뀐 경로, 알림 코드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93776">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citations</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인용 id, 종류(원문 또는 보고서), 제목, 짧은 발췌, 검증 여부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93776">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warnings</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MAP_PARTIAL 같은 부분 실패 코드와 설명</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93776">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usage</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요청별 LLM 호출 수, 토큰, 걸린 시간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19" name="Shape 16"/>
          <p:cNvSpPr/>
          <p:nvPr/>
        </p:nvSpPr>
        <p:spPr>
          <a:xfrm>
            <a:off x="509321" y="6080760"/>
            <a:ext cx="64008" cy="640080"/>
          </a:xfrm>
          <a:prstGeom prst="rect">
            <a:avLst/>
          </a:prstGeom>
          <a:solidFill>
            <a:srgbClr val="2E74C6"/>
          </a:solidFill>
          <a:ln/>
        </p:spPr>
      </p:sp>
      <p:sp>
        <p:nvSpPr>
          <p:cNvPr id="20" name="Text 17"/>
          <p:cNvSpPr txBox="1"/>
          <p:nvPr/>
        </p:nvSpPr>
        <p:spPr>
          <a:xfrm>
            <a:off x="692201" y="6080760"/>
            <a:ext cx="13441680" cy="640080"/>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답 토큰은 검증 전 초안이며, 인용 검증은 citations 이벤트에서 확정함. 프롬프트 원문과 회원번호는 응답에 넣지 않음</a:t>
            </a:r>
            <a:endParaRPr lang="en-US" sz="1700" dirty="0"/>
          </a:p>
        </p:txBody>
      </p:sp>
      <p:sp>
        <p:nvSpPr>
          <p:cNvPr id="21" name="Shape 18"/>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22" name="Text 19">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23" name="Shape 20"/>
          <p:cNvSpPr/>
          <p:nvPr/>
        </p:nvSpPr>
        <p:spPr>
          <a:xfrm>
            <a:off x="509321" y="7388352"/>
            <a:ext cx="13624560" cy="0"/>
          </a:xfrm>
          <a:prstGeom prst="line">
            <a:avLst/>
          </a:prstGeom>
          <a:noFill/>
          <a:ln w="12700">
            <a:solidFill>
              <a:srgbClr val="E9ECF3"/>
            </a:solidFill>
            <a:prstDash val="solid"/>
          </a:ln>
        </p:spPr>
      </p:sp>
      <p:sp>
        <p:nvSpPr>
          <p:cNvPr id="24" name="Text 21"/>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스택니 리뷰(2026-10-24), teacher/plan/graphrag-search-flow.md 8절</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팀원 리뷰: 네 명 모두 「수정 후 사용」, 지적 사항은 모두 반영함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같은 초안을 검색 품질, 실행 흐름, API 계약, 교육 관점에서 따로 보고 클로니가 엇갈린 의견을 정리함</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194560"/>
                <a:gridCol w="8778240"/>
                <a:gridCol w="265176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리뷰어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핵심 지적</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반영</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지식니(검색 품질)</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회원번호는 청크 본문에 없으니 필터로. 원문 700자 절단. 고객군이 그래프에 없음. 거절 지표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4, 5, 6, 11장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플로니(실행 흐름)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재시도 중첩, 전체 시간 예산, 전역 동시성 상한, 세대 고정 위치, 장애 표 보강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3, 9장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스택니(API 계약)</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단계 이벤트 생성기, 대체 알림 코드, 스트리밍과 인용 검사 순서, 원문 비노출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10장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에듀니(교육)</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「하이브리드」 세 뜻 혼동, 구현됨과 확장 표시, 외부 수치 출처 표시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1, 2장, 도식 표기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Text 2"/>
          <p:cNvSpPr/>
          <p:nvPr/>
        </p:nvSpPr>
        <p:spPr>
          <a:xfrm>
            <a:off x="509321" y="4745736"/>
            <a:ext cx="310896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엇갈린 의견과 결정</a:t>
            </a:r>
            <a:endParaRPr lang="en-US" sz="1800" dirty="0"/>
          </a:p>
        </p:txBody>
      </p:sp>
      <p:sp>
        <p:nvSpPr>
          <p:cNvPr id="6" name="Shape 3"/>
          <p:cNvSpPr/>
          <p:nvPr/>
        </p:nvSpPr>
        <p:spPr>
          <a:xfrm>
            <a:off x="509321" y="5248656"/>
            <a:ext cx="13624560" cy="441960"/>
          </a:xfrm>
          <a:prstGeom prst="roundRect">
            <a:avLst>
              <a:gd name="adj" fmla="val 16552"/>
            </a:avLst>
          </a:prstGeom>
          <a:solidFill>
            <a:srgbClr val="F5F8FC"/>
          </a:solidFill>
          <a:ln w="12700">
            <a:solidFill>
              <a:srgbClr val="D9E0EC"/>
            </a:solidFill>
            <a:prstDash val="solid"/>
          </a:ln>
        </p:spPr>
      </p:sp>
      <p:sp>
        <p:nvSpPr>
          <p:cNvPr id="7" name="Shape 4"/>
          <p:cNvSpPr/>
          <p:nvPr/>
        </p:nvSpPr>
        <p:spPr>
          <a:xfrm>
            <a:off x="646481" y="5268468"/>
            <a:ext cx="402336" cy="402336"/>
          </a:xfrm>
          <a:prstGeom prst="roundRect">
            <a:avLst>
              <a:gd name="adj" fmla="val 11364"/>
            </a:avLst>
          </a:prstGeom>
          <a:solidFill>
            <a:srgbClr val="2E74C6"/>
          </a:solidFill>
          <a:ln/>
        </p:spPr>
      </p:sp>
      <p:sp>
        <p:nvSpPr>
          <p:cNvPr id="8" name="Text 5"/>
          <p:cNvSpPr/>
          <p:nvPr/>
        </p:nvSpPr>
        <p:spPr>
          <a:xfrm>
            <a:off x="646481" y="5268468"/>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9" name="Text 6"/>
          <p:cNvSpPr txBox="1"/>
          <p:nvPr/>
        </p:nvSpPr>
        <p:spPr>
          <a:xfrm>
            <a:off x="1167689" y="5248656"/>
            <a:ext cx="12829032" cy="441960"/>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Global 보고서 선택: LLM 관련도 평가 대 전부 읽기 → 50개 이하면 전부, 넘으면 동적 선택</a:t>
            </a:r>
            <a:endParaRPr lang="en-US" sz="1600" dirty="0"/>
          </a:p>
        </p:txBody>
      </p:sp>
      <p:sp>
        <p:nvSpPr>
          <p:cNvPr id="10" name="Shape 7"/>
          <p:cNvSpPr/>
          <p:nvPr/>
        </p:nvSpPr>
        <p:spPr>
          <a:xfrm>
            <a:off x="509321" y="5763768"/>
            <a:ext cx="13624560" cy="441960"/>
          </a:xfrm>
          <a:prstGeom prst="roundRect">
            <a:avLst>
              <a:gd name="adj" fmla="val 16552"/>
            </a:avLst>
          </a:prstGeom>
          <a:solidFill>
            <a:srgbClr val="F5F8FC"/>
          </a:solidFill>
          <a:ln w="12700">
            <a:solidFill>
              <a:srgbClr val="D9E0EC"/>
            </a:solidFill>
            <a:prstDash val="solid"/>
          </a:ln>
        </p:spPr>
      </p:sp>
      <p:sp>
        <p:nvSpPr>
          <p:cNvPr id="11" name="Shape 8"/>
          <p:cNvSpPr/>
          <p:nvPr/>
        </p:nvSpPr>
        <p:spPr>
          <a:xfrm>
            <a:off x="646481" y="5783580"/>
            <a:ext cx="402336" cy="402336"/>
          </a:xfrm>
          <a:prstGeom prst="roundRect">
            <a:avLst>
              <a:gd name="adj" fmla="val 11364"/>
            </a:avLst>
          </a:prstGeom>
          <a:solidFill>
            <a:srgbClr val="2E74C6"/>
          </a:solidFill>
          <a:ln/>
        </p:spPr>
      </p:sp>
      <p:sp>
        <p:nvSpPr>
          <p:cNvPr id="12" name="Text 9"/>
          <p:cNvSpPr/>
          <p:nvPr/>
        </p:nvSpPr>
        <p:spPr>
          <a:xfrm>
            <a:off x="646481" y="578358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3" name="Text 10"/>
          <p:cNvSpPr txBox="1"/>
          <p:nvPr/>
        </p:nvSpPr>
        <p:spPr>
          <a:xfrm>
            <a:off x="1167689" y="5763768"/>
            <a:ext cx="12829032" cy="441960"/>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Hybrid 후속 질문 수: 3개 대 주제당 1개(상한 6) → 주제당 1개, 상한 5, 검색만 하고 답은 한 번</a:t>
            </a:r>
            <a:endParaRPr lang="en-US" sz="1600" dirty="0"/>
          </a:p>
        </p:txBody>
      </p:sp>
      <p:sp>
        <p:nvSpPr>
          <p:cNvPr id="14" name="Shape 11"/>
          <p:cNvSpPr/>
          <p:nvPr/>
        </p:nvSpPr>
        <p:spPr>
          <a:xfrm>
            <a:off x="509321" y="6278880"/>
            <a:ext cx="13624560" cy="441960"/>
          </a:xfrm>
          <a:prstGeom prst="roundRect">
            <a:avLst>
              <a:gd name="adj" fmla="val 16552"/>
            </a:avLst>
          </a:prstGeom>
          <a:solidFill>
            <a:srgbClr val="F5F8FC"/>
          </a:solidFill>
          <a:ln w="12700">
            <a:solidFill>
              <a:srgbClr val="D9E0EC"/>
            </a:solidFill>
            <a:prstDash val="solid"/>
          </a:ln>
        </p:spPr>
      </p:sp>
      <p:sp>
        <p:nvSpPr>
          <p:cNvPr id="15" name="Shape 12"/>
          <p:cNvSpPr/>
          <p:nvPr/>
        </p:nvSpPr>
        <p:spPr>
          <a:xfrm>
            <a:off x="646481" y="6298692"/>
            <a:ext cx="402336" cy="402336"/>
          </a:xfrm>
          <a:prstGeom prst="roundRect">
            <a:avLst>
              <a:gd name="adj" fmla="val 11364"/>
            </a:avLst>
          </a:prstGeom>
          <a:solidFill>
            <a:srgbClr val="2E74C6"/>
          </a:solidFill>
          <a:ln/>
        </p:spPr>
      </p:sp>
      <p:sp>
        <p:nvSpPr>
          <p:cNvPr id="16" name="Text 13"/>
          <p:cNvSpPr/>
          <p:nvPr/>
        </p:nvSpPr>
        <p:spPr>
          <a:xfrm>
            <a:off x="646481" y="629869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7" name="Text 14"/>
          <p:cNvSpPr txBox="1"/>
          <p:nvPr/>
        </p:nvSpPr>
        <p:spPr>
          <a:xfrm>
            <a:off x="1167689" y="6278880"/>
            <a:ext cx="12829032" cy="441960"/>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이름: 「주제 후 근거 검색」 또는 drift로 개명 제안 → 요청 이름 Hybrid Search를 쓰고 풀이 이름을 함께 표기</a:t>
            </a:r>
            <a:endParaRPr lang="en-US" sz="1600" dirty="0"/>
          </a:p>
        </p:txBody>
      </p:sp>
      <p:sp>
        <p:nvSpPr>
          <p:cNvPr id="18" name="Shape 15"/>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9" name="Text 16">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20" name="Shape 17"/>
          <p:cNvSpPr/>
          <p:nvPr/>
        </p:nvSpPr>
        <p:spPr>
          <a:xfrm>
            <a:off x="509321" y="7388352"/>
            <a:ext cx="13624560" cy="0"/>
          </a:xfrm>
          <a:prstGeom prst="line">
            <a:avLst/>
          </a:prstGeom>
          <a:noFill/>
          <a:ln w="12700">
            <a:solidFill>
              <a:srgbClr val="E9ECF3"/>
            </a:solidFill>
            <a:prstDash val="solid"/>
          </a:ln>
        </p:spPr>
      </p:sp>
      <p:sp>
        <p:nvSpPr>
          <p:cNvPr id="21" name="Text 18"/>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팀원 리뷰 기록(2026-10-24), teacher/plan/graphrag-search-flow.md 11절</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최종안: 측정부터 하고, Local을 다지고, Global과 Hybrid를 차례로 넓힘</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평가셋에 경로 라벨과 거절 지표를 먼저 넣어 v0 기준선을 잰 뒤 단계마다 같은 지표로 비교함</a:t>
            </a:r>
            <a:endParaRPr lang="en-US" sz="1800" dirty="0"/>
          </a:p>
        </p:txBody>
      </p:sp>
      <p:sp>
        <p:nvSpPr>
          <p:cNvPr id="4" name="Text 2"/>
          <p:cNvSpPr/>
          <p:nvPr/>
        </p:nvSpPr>
        <p:spPr>
          <a:xfrm>
            <a:off x="509321" y="1737360"/>
            <a:ext cx="694944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평가 지표</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9321" y="2286000"/>
          <a:ext cx="6949440" cy="914400"/>
        </p:xfrm>
        <a:graphic>
          <a:graphicData uri="http://schemas.openxmlformats.org/drawingml/2006/table">
            <a:tbl>
              <a:tblPr/>
              <a:tblGrid>
                <a:gridCol w="2651760"/>
                <a:gridCol w="4297680"/>
              </a:tblGrid>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지표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정의</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7315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라우팅 정확도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정답 경로와 판단 일치율</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검색 적중률</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정답 문장이 근거에 든 비율</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7315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근거 일치율</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답의 주장 중 근거가 받치는 비율</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거절률</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올바른 거절과 잘못된 거절</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7315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지연과 토큰</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경로별 p50, p95</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6" name="Text 3"/>
          <p:cNvSpPr/>
          <p:nvPr/>
        </p:nvSpPr>
        <p:spPr>
          <a:xfrm>
            <a:off x="7733081" y="1737360"/>
            <a:ext cx="640080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실행 순서</a:t>
            </a:r>
            <a:endParaRPr lang="en-US" sz="1800" dirty="0"/>
          </a:p>
        </p:txBody>
      </p:sp>
      <p:sp>
        <p:nvSpPr>
          <p:cNvPr id="7" name="Shape 4"/>
          <p:cNvSpPr/>
          <p:nvPr/>
        </p:nvSpPr>
        <p:spPr>
          <a:xfrm>
            <a:off x="7733081" y="2286000"/>
            <a:ext cx="6400800" cy="813816"/>
          </a:xfrm>
          <a:prstGeom prst="roundRect">
            <a:avLst>
              <a:gd name="adj" fmla="val 8989"/>
            </a:avLst>
          </a:prstGeom>
          <a:solidFill>
            <a:srgbClr val="F5F8FC"/>
          </a:solidFill>
          <a:ln w="12700">
            <a:solidFill>
              <a:srgbClr val="D9E0EC"/>
            </a:solidFill>
            <a:prstDash val="solid"/>
          </a:ln>
        </p:spPr>
      </p:sp>
      <p:sp>
        <p:nvSpPr>
          <p:cNvPr id="8" name="Shape 5"/>
          <p:cNvSpPr/>
          <p:nvPr/>
        </p:nvSpPr>
        <p:spPr>
          <a:xfrm>
            <a:off x="7870241" y="2491740"/>
            <a:ext cx="402336" cy="402336"/>
          </a:xfrm>
          <a:prstGeom prst="roundRect">
            <a:avLst>
              <a:gd name="adj" fmla="val 11364"/>
            </a:avLst>
          </a:prstGeom>
          <a:solidFill>
            <a:srgbClr val="2E74C6"/>
          </a:solidFill>
          <a:ln/>
        </p:spPr>
      </p:sp>
      <p:sp>
        <p:nvSpPr>
          <p:cNvPr id="9" name="Text 6"/>
          <p:cNvSpPr/>
          <p:nvPr/>
        </p:nvSpPr>
        <p:spPr>
          <a:xfrm>
            <a:off x="7870241" y="249174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10" name="Text 7"/>
          <p:cNvSpPr txBox="1"/>
          <p:nvPr/>
        </p:nvSpPr>
        <p:spPr>
          <a:xfrm>
            <a:off x="8391449" y="2286000"/>
            <a:ext cx="5605272" cy="813816"/>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측정: 평가셋 경로 라벨, 원문 1600자, 거절 지표로 v0 기준선</a:t>
            </a:r>
            <a:endParaRPr lang="en-US" sz="1800" dirty="0"/>
          </a:p>
        </p:txBody>
      </p:sp>
      <p:sp>
        <p:nvSpPr>
          <p:cNvPr id="11" name="Shape 8"/>
          <p:cNvSpPr/>
          <p:nvPr/>
        </p:nvSpPr>
        <p:spPr>
          <a:xfrm>
            <a:off x="7733081" y="3191256"/>
            <a:ext cx="6400800" cy="813816"/>
          </a:xfrm>
          <a:prstGeom prst="roundRect">
            <a:avLst>
              <a:gd name="adj" fmla="val 8989"/>
            </a:avLst>
          </a:prstGeom>
          <a:solidFill>
            <a:srgbClr val="F5F8FC"/>
          </a:solidFill>
          <a:ln w="12700">
            <a:solidFill>
              <a:srgbClr val="D9E0EC"/>
            </a:solidFill>
            <a:prstDash val="solid"/>
          </a:ln>
        </p:spPr>
      </p:sp>
      <p:sp>
        <p:nvSpPr>
          <p:cNvPr id="12" name="Shape 9"/>
          <p:cNvSpPr/>
          <p:nvPr/>
        </p:nvSpPr>
        <p:spPr>
          <a:xfrm>
            <a:off x="7870241" y="3396996"/>
            <a:ext cx="402336" cy="402336"/>
          </a:xfrm>
          <a:prstGeom prst="roundRect">
            <a:avLst>
              <a:gd name="adj" fmla="val 11364"/>
            </a:avLst>
          </a:prstGeom>
          <a:solidFill>
            <a:srgbClr val="2E74C6"/>
          </a:solidFill>
          <a:ln/>
        </p:spPr>
      </p:sp>
      <p:sp>
        <p:nvSpPr>
          <p:cNvPr id="13" name="Text 10"/>
          <p:cNvSpPr/>
          <p:nvPr/>
        </p:nvSpPr>
        <p:spPr>
          <a:xfrm>
            <a:off x="7870241" y="33969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4" name="Text 11"/>
          <p:cNvSpPr txBox="1"/>
          <p:nvPr/>
        </p:nvSpPr>
        <p:spPr>
          <a:xfrm>
            <a:off x="8391449" y="3191256"/>
            <a:ext cx="5605272" cy="813816"/>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Local 보강: 식별자 필터, 갈래별 쿼터, 후보 25 + 리랭커, 0건 처리</a:t>
            </a:r>
            <a:endParaRPr lang="en-US" sz="1800" dirty="0"/>
          </a:p>
        </p:txBody>
      </p:sp>
      <p:sp>
        <p:nvSpPr>
          <p:cNvPr id="15" name="Shape 12"/>
          <p:cNvSpPr/>
          <p:nvPr/>
        </p:nvSpPr>
        <p:spPr>
          <a:xfrm>
            <a:off x="7733081" y="4096512"/>
            <a:ext cx="6400800" cy="813816"/>
          </a:xfrm>
          <a:prstGeom prst="roundRect">
            <a:avLst>
              <a:gd name="adj" fmla="val 8989"/>
            </a:avLst>
          </a:prstGeom>
          <a:solidFill>
            <a:srgbClr val="F5F8FC"/>
          </a:solidFill>
          <a:ln w="12700">
            <a:solidFill>
              <a:srgbClr val="D9E0EC"/>
            </a:solidFill>
            <a:prstDash val="solid"/>
          </a:ln>
        </p:spPr>
      </p:sp>
      <p:sp>
        <p:nvSpPr>
          <p:cNvPr id="16" name="Shape 13"/>
          <p:cNvSpPr/>
          <p:nvPr/>
        </p:nvSpPr>
        <p:spPr>
          <a:xfrm>
            <a:off x="7870241" y="4302252"/>
            <a:ext cx="402336" cy="402336"/>
          </a:xfrm>
          <a:prstGeom prst="roundRect">
            <a:avLst>
              <a:gd name="adj" fmla="val 11364"/>
            </a:avLst>
          </a:prstGeom>
          <a:solidFill>
            <a:srgbClr val="2E74C6"/>
          </a:solidFill>
          <a:ln/>
        </p:spPr>
      </p:sp>
      <p:sp>
        <p:nvSpPr>
          <p:cNvPr id="17" name="Text 14"/>
          <p:cNvSpPr/>
          <p:nvPr/>
        </p:nvSpPr>
        <p:spPr>
          <a:xfrm>
            <a:off x="7870241" y="430225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8" name="Text 15"/>
          <p:cNvSpPr txBox="1"/>
          <p:nvPr/>
        </p:nvSpPr>
        <p:spPr>
          <a:xfrm>
            <a:off x="8391449" y="4096512"/>
            <a:ext cx="5605272" cy="813816"/>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실행 규칙: 세대 고정, 마감 시각, 재시도 곱 상한, 전역 동시성</a:t>
            </a:r>
            <a:endParaRPr lang="en-US" sz="1800" dirty="0"/>
          </a:p>
        </p:txBody>
      </p:sp>
      <p:sp>
        <p:nvSpPr>
          <p:cNvPr id="19" name="Shape 16"/>
          <p:cNvSpPr/>
          <p:nvPr/>
        </p:nvSpPr>
        <p:spPr>
          <a:xfrm>
            <a:off x="7733081" y="5001768"/>
            <a:ext cx="6400800" cy="813816"/>
          </a:xfrm>
          <a:prstGeom prst="roundRect">
            <a:avLst>
              <a:gd name="adj" fmla="val 8989"/>
            </a:avLst>
          </a:prstGeom>
          <a:solidFill>
            <a:srgbClr val="F5F8FC"/>
          </a:solidFill>
          <a:ln w="12700">
            <a:solidFill>
              <a:srgbClr val="D9E0EC"/>
            </a:solidFill>
            <a:prstDash val="solid"/>
          </a:ln>
        </p:spPr>
      </p:sp>
      <p:sp>
        <p:nvSpPr>
          <p:cNvPr id="20" name="Shape 17"/>
          <p:cNvSpPr/>
          <p:nvPr/>
        </p:nvSpPr>
        <p:spPr>
          <a:xfrm>
            <a:off x="7870241" y="5207508"/>
            <a:ext cx="402336" cy="402336"/>
          </a:xfrm>
          <a:prstGeom prst="roundRect">
            <a:avLst>
              <a:gd name="adj" fmla="val 11364"/>
            </a:avLst>
          </a:prstGeom>
          <a:solidFill>
            <a:srgbClr val="2E74C6"/>
          </a:solidFill>
          <a:ln/>
        </p:spPr>
      </p:sp>
      <p:sp>
        <p:nvSpPr>
          <p:cNvPr id="21" name="Text 18"/>
          <p:cNvSpPr/>
          <p:nvPr/>
        </p:nvSpPr>
        <p:spPr>
          <a:xfrm>
            <a:off x="7870241" y="5207508"/>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2" name="Text 19"/>
          <p:cNvSpPr txBox="1"/>
          <p:nvPr/>
        </p:nvSpPr>
        <p:spPr>
          <a:xfrm>
            <a:off x="8391449" y="5001768"/>
            <a:ext cx="5605272" cy="813816"/>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Global: 보고서 map-reduce, 인덱싱에 고객군 추가</a:t>
            </a:r>
            <a:endParaRPr lang="en-US" sz="1800" dirty="0"/>
          </a:p>
        </p:txBody>
      </p:sp>
      <p:sp>
        <p:nvSpPr>
          <p:cNvPr id="23" name="Shape 20"/>
          <p:cNvSpPr/>
          <p:nvPr/>
        </p:nvSpPr>
        <p:spPr>
          <a:xfrm>
            <a:off x="7733081" y="5907024"/>
            <a:ext cx="6400800" cy="813816"/>
          </a:xfrm>
          <a:prstGeom prst="roundRect">
            <a:avLst>
              <a:gd name="adj" fmla="val 8989"/>
            </a:avLst>
          </a:prstGeom>
          <a:solidFill>
            <a:srgbClr val="F5F8FC"/>
          </a:solidFill>
          <a:ln w="12700">
            <a:solidFill>
              <a:srgbClr val="D9E0EC"/>
            </a:solidFill>
            <a:prstDash val="solid"/>
          </a:ln>
        </p:spPr>
      </p:sp>
      <p:sp>
        <p:nvSpPr>
          <p:cNvPr id="24" name="Shape 21"/>
          <p:cNvSpPr/>
          <p:nvPr/>
        </p:nvSpPr>
        <p:spPr>
          <a:xfrm>
            <a:off x="7870241" y="6112764"/>
            <a:ext cx="402336" cy="402336"/>
          </a:xfrm>
          <a:prstGeom prst="roundRect">
            <a:avLst>
              <a:gd name="adj" fmla="val 11364"/>
            </a:avLst>
          </a:prstGeom>
          <a:solidFill>
            <a:srgbClr val="2E74C6"/>
          </a:solidFill>
          <a:ln/>
        </p:spPr>
      </p:sp>
      <p:sp>
        <p:nvSpPr>
          <p:cNvPr id="25" name="Text 22"/>
          <p:cNvSpPr/>
          <p:nvPr/>
        </p:nvSpPr>
        <p:spPr>
          <a:xfrm>
            <a:off x="7870241" y="6112764"/>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26" name="Text 23"/>
          <p:cNvSpPr txBox="1"/>
          <p:nvPr/>
        </p:nvSpPr>
        <p:spPr>
          <a:xfrm>
            <a:off x="8391449" y="5907024"/>
            <a:ext cx="5605272" cy="813816"/>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Hybrid: Primer → Follow-up → 합치기, 단계 이벤트 API</a:t>
            </a:r>
            <a:endParaRPr lang="en-US" sz="1800" dirty="0"/>
          </a:p>
        </p:txBody>
      </p:sp>
      <p:sp>
        <p:nvSpPr>
          <p:cNvPr id="27" name="Shape 24"/>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28" name="Text 25">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29" name="Shape 26"/>
          <p:cNvSpPr/>
          <p:nvPr/>
        </p:nvSpPr>
        <p:spPr>
          <a:xfrm>
            <a:off x="509321" y="7388352"/>
            <a:ext cx="13624560" cy="0"/>
          </a:xfrm>
          <a:prstGeom prst="line">
            <a:avLst/>
          </a:prstGeom>
          <a:noFill/>
          <a:ln w="12700">
            <a:solidFill>
              <a:srgbClr val="E9ECF3"/>
            </a:solidFill>
            <a:prstDash val="solid"/>
          </a:ln>
        </p:spPr>
      </p:sp>
      <p:sp>
        <p:nvSpPr>
          <p:cNvPr id="30" name="Text 27"/>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teacher/plan/graphrag-search-flow.md 9 ~ 10절, Ragas faithfulness 정의</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GraphRAG 검색 워크플로우</dc:title>
  <dc:subject>PptxGenJS Presentation</dc:subject>
  <dc:creator>hybrid-ai 교육팀</dc:creator>
  <cp:lastModifiedBy>hybrid-ai 교육팀</cp:lastModifiedBy>
  <cp:revision>1</cp:revision>
  <dcterms:created xsi:type="dcterms:W3CDTF">2026-10-24T07:36:32Z</dcterms:created>
  <dcterms:modified xsi:type="dcterms:W3CDTF">2026-10-24T07:36:32Z</dcterms:modified>
</cp:coreProperties>
</file>