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1: 문서 검색 실습: 검색 워크플로우 6단계를 코드로 만들기
이론 장(144 ~ 174쪽)에서 본 고정 워크플로우를 이제 코드로 만듭니다. 도식의 상자 아래 이름이 그 단계에서 교육생이 채울 함수입니다
굵은 글씨 4개는 처음부터 직접 쓰고, 나머지 6개는 거의 완성된 코드의 빈칸만 채웁니다. 모두 my_search.py에 있습니다
수업 흐름은 이론 1교시, 클론 코딩 3교시입니다. 교시 2는 ①, ②, ③ 벡터, 교시 3은 ③ BM25, 융합, 리랭크, 교시 4는 ④, ⑤, ⑥입니다
실행은 조별 1대로 합니다. Cohere 체험 키는 리랭크가 분당 10회이고 복합 질문 한 번에 리랭크가 최대 6번 일어납니다
같은 질문도 LLM 문장은 실행마다 다를 수 있습니다. 강사 결과와는 대상 청크 수, 판정, 종료 상태로 비교합니다
상세 절차, 빈칸 설명, 막혔을 때 대처는 「상세 보기」의 실습 가이드에 있습니다
상세 문서: https://github.com/unicorn-campus/hybrid-ai/blob/main/teacher/plan/rag-search-실습가이드.md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unicorn-campus/hybrid-ai/blob/main/teacher/plan/rag-search-&#49892;&#49845;&#44032;&#51060;&#46300;.md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검색 실습: 검색 워크플로우 6단계를 코드로 만들기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교재 150쪽 ① ~ ⑥을 search_docs.py 한 프로그램으로 돌리고, 단계마다 실습 함수를 my_search.py에 채워 바꿔 끼움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1691640"/>
            <a:ext cx="13624560" cy="384048"/>
          </a:xfrm>
          <a:prstGeom prst="roundRect">
            <a:avLst>
              <a:gd name="adj" fmla="val 14286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+ 역할 → ① ~ ⑥ → 최종 답변 또는 「확인 필요」   |   상자 아래 = 실습 함수(굵게 = 직접 작성)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9321" y="2185416"/>
            <a:ext cx="2042160" cy="603504"/>
          </a:xfrm>
          <a:prstGeom prst="roundRect">
            <a:avLst>
              <a:gd name="adj" fmla="val 12121"/>
            </a:avLst>
          </a:prstGeom>
          <a:solidFill>
            <a:srgbClr val="1E2A5C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권한 필터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전에 코드가 거름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9321" y="2862072"/>
            <a:ext cx="204216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50800" tIns="38100" rIns="50800" bIns="3810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build_chroma_filter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78913" y="2359152"/>
            <a:ext cx="219456" cy="256032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8" name="Text 6"/>
          <p:cNvSpPr/>
          <p:nvPr/>
        </p:nvSpPr>
        <p:spPr>
          <a:xfrm>
            <a:off x="2825801" y="2185416"/>
            <a:ext cx="2042160" cy="603504"/>
          </a:xfrm>
          <a:prstGeom prst="roundRect">
            <a:avLst>
              <a:gd name="adj" fmla="val 12121"/>
            </a:avLst>
          </a:prstGeom>
          <a:solidFill>
            <a:srgbClr val="1E2A5C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Adaptive 분류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제안 + 규칙 확정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25801" y="2862072"/>
            <a:ext cx="204216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50800" tIns="38100" rIns="50800" bIns="3810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apply_plan_rules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95393" y="2359152"/>
            <a:ext cx="219456" cy="256032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5142281" y="2185416"/>
            <a:ext cx="2042160" cy="603504"/>
          </a:xfrm>
          <a:prstGeom prst="roundRect">
            <a:avLst>
              <a:gd name="adj" fmla="val 12121"/>
            </a:avLst>
          </a:prstGeom>
          <a:solidFill>
            <a:srgbClr val="1E2A5C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검색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 + 리랭크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42281" y="2862072"/>
            <a:ext cx="204216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50800" tIns="38100" rIns="50800" bIns="3810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search_vector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search_bm25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fuse_weighted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rerank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11873" y="2359152"/>
            <a:ext cx="219456" cy="256032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4" name="Text 12"/>
          <p:cNvSpPr/>
          <p:nvPr/>
        </p:nvSpPr>
        <p:spPr>
          <a:xfrm>
            <a:off x="7458761" y="2185416"/>
            <a:ext cx="2042160" cy="603504"/>
          </a:xfrm>
          <a:prstGeom prst="roundRect">
            <a:avLst>
              <a:gd name="adj" fmla="val 12121"/>
            </a:avLst>
          </a:prstGeom>
          <a:solidFill>
            <a:srgbClr val="1E2A5C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CRAG 채점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신호 6개로 판정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58761" y="2862072"/>
            <a:ext cx="204216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50800" tIns="38100" rIns="50800" bIns="3810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grade</a:t>
            </a:r>
            <a:endParaRPr lang="en-US" sz="140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apply_transform_rules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28353" y="2359152"/>
            <a:ext cx="219456" cy="256032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17" name="Text 15"/>
          <p:cNvSpPr/>
          <p:nvPr/>
        </p:nvSpPr>
        <p:spPr>
          <a:xfrm>
            <a:off x="9775241" y="2185416"/>
            <a:ext cx="2042160" cy="603504"/>
          </a:xfrm>
          <a:prstGeom prst="roundRect">
            <a:avLst>
              <a:gd name="adj" fmla="val 12121"/>
            </a:avLst>
          </a:prstGeom>
          <a:solidFill>
            <a:srgbClr val="1E2A5C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답변 생성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근거만, 청크ID와 인용문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75241" y="2862072"/>
            <a:ext cx="204216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50800" tIns="38100" rIns="50800" bIns="3810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generate_answer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844833" y="2359152"/>
            <a:ext cx="219456" cy="256032"/>
          </a:xfrm>
          <a:prstGeom prst="rightArrow">
            <a:avLst/>
          </a:prstGeom>
          <a:solidFill>
            <a:srgbClr val="2E74C6"/>
          </a:solidFill>
          <a:ln/>
        </p:spPr>
      </p:sp>
      <p:sp>
        <p:nvSpPr>
          <p:cNvPr id="20" name="Text 18"/>
          <p:cNvSpPr/>
          <p:nvPr/>
        </p:nvSpPr>
        <p:spPr>
          <a:xfrm>
            <a:off x="12091721" y="2185416"/>
            <a:ext cx="2042160" cy="603504"/>
          </a:xfrm>
          <a:prstGeom prst="roundRect">
            <a:avLst>
              <a:gd name="adj" fmla="val 12121"/>
            </a:avLst>
          </a:prstGeom>
          <a:solidFill>
            <a:srgbClr val="1E2A5C"/>
          </a:solidFill>
          <a:ln/>
        </p:spPr>
        <p:txBody>
          <a:bodyPr wrap="square" lIns="76200" tIns="50800" rIns="762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Self-RAG 검증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인용문을 본문과 대조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91721" y="2862072"/>
            <a:ext cx="204216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50800" tIns="38100" rIns="50800" bIns="3810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verify_answer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9321" y="3849624"/>
            <a:ext cx="54864" cy="45720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9049" y="3849624"/>
            <a:ext cx="415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잡담이면 검색 없이 답변, 복합이면 하위 질문 2 ~ 3개로 나눠 각각 검색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42281" y="3849624"/>
            <a:ext cx="54864" cy="45720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52009" y="3849624"/>
            <a:ext cx="415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불확실이면 질문 변환 후 재검색(1회), 부정확이면 「확인 필요」로 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775241" y="3849624"/>
            <a:ext cx="54864" cy="45720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84969" y="3849624"/>
            <a:ext cx="415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인용 검증 실패면 사유를 주고 ⑤ 재작성(최대 2회)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9321" y="4416552"/>
            <a:ext cx="6675120" cy="384048"/>
          </a:xfrm>
          <a:prstGeom prst="roundRect">
            <a:avLst>
              <a:gd name="adj" fmla="val 14286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방법(retriever 폴더에서)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9321" y="4873752"/>
            <a:ext cx="6675120" cy="1847088"/>
          </a:xfrm>
          <a:prstGeom prst="roundRect">
            <a:avLst>
              <a:gd name="adj" fmla="val 4950"/>
            </a:avLst>
          </a:prstGeom>
          <a:solidFill>
            <a:srgbClr val="EEF3FA"/>
          </a:solidFill>
          <a:ln w="12700">
            <a:solidFill>
              <a:srgbClr val="D9E0EC"/>
            </a:solidFill>
          </a:ln>
        </p:spPr>
        <p:txBody>
          <a:bodyPr wrap="square" lIns="182880" tIns="128016" rIns="182880" bIns="9144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강사 코드로 ① ~ ⑥ 출력 읽기: search_docs.py --qid Q01</a:t>
            </a:r>
            <a:endParaRPr lang="en-US" sz="14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search_docs.py의 import를 my_search로 바꿈</a:t>
            </a:r>
            <a:endParaRPr lang="en-US" sz="14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USE_TEACHER_CODE에서 이름을 지우고 그 함수를 채움</a:t>
            </a:r>
            <a:endParaRPr lang="en-US" sz="14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다시 실행해 청크 수, 판정, 종료 상태를 강사와 비교</a:t>
            </a:r>
            <a:endParaRPr lang="en-US" sz="14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막히면 이름을 목록에 되돌림(강사 코드가 대신 돎)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13041" y="4416552"/>
            <a:ext cx="6720840" cy="384048"/>
          </a:xfrm>
          <a:prstGeom prst="roundRect">
            <a:avLst>
              <a:gd name="adj" fmla="val 14286"/>
            </a:avLst>
          </a:prstGeom>
          <a:solidFill>
            <a:srgbClr val="4041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교시별 실습 함수와 확인 명령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13041" y="4873752"/>
          <a:ext cx="6720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977640"/>
                <a:gridCol w="21031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채우는 함수(순서대로)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명령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998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build_chroma_filter, apply_plan_rules, search_vector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--qid Q14, "안녕하세요"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98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search_bm25, fuse_weighted, rerank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--qid Q07 --no-answer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998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grade, apply_transform_rules, generate_answer, verify_answer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--qid Q01, --qid Q18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11795760" y="681228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33" name="Text 30">
            <a:hlinkClick r:id="rId1" tooltip=""/>
          </p:cNvPr>
          <p:cNvSpPr/>
          <p:nvPr/>
        </p:nvSpPr>
        <p:spPr>
          <a:xfrm>
            <a:off x="11795760" y="6812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상세 보기 →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9321" y="7443216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교재 150 ~ 174쪽, hands-on/solutions/rag/retriever(README.md, my_search.py), teacher/plan/rag-search-실습가이드.md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 검색 실습 가이드</dc:title>
  <dc:subject>PptxGenJS Presentation</dc:subject>
  <dc:creator>hybrid-ai 교육팀</dc:creator>
  <cp:lastModifiedBy>hybrid-ai 교육팀</cp:lastModifiedBy>
  <cp:revision>1</cp:revision>
  <dcterms:created xsi:type="dcterms:W3CDTF">2026-10-25T22:48:10Z</dcterms:created>
  <dcterms:modified xsi:type="dcterms:W3CDTF">2026-10-25T22:48:10Z</dcterms:modified>
</cp:coreProperties>
</file>