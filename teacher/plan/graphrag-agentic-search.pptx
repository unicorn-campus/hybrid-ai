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GraphRAG Agentic 검색: 2단계가 검색 모드를 고르고, 3단계가 채점을 보고 조정함
메인 워크플로우 단계 ID는 1부터 11까지 일련번호입니다. 분기 번호는 표시하지 않습니다.
4단계 검색은 서브 워크플로우 셋(검색엔진 검색 O, Local 검색 L, Global 검색 G)으로 이루어져 담당자 유형이 하나가 아니라서 따로 표시했습니다(9장).
반복 구간은 「반복 1」, 「반복 2」로 부릅니다. Local 검색 서브 단계 L1 ~ L4와 겹치지 않게 하려는 것입니다.
3단계는 계획대로 가는 일은 규칙으로 정하고, 계획을 바꿀 때만 LLM을 부릅니다. 시간 예산은 이번 설계에서 다루지 않습니다.
상세 문서: https://github.com/unicorn-campus/hybrid-ai/blob/main/teacher/plan/graphrag-agentic-search.md#1-흐름-도식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벡터 검색과 달라진 점: 뼈대는 같고, 검색 모드와 리랭킹이 더해짐
앞선 판의 hybrid 세 방향은 두 모드 안으로 들어갔습니다. 사실에서 보고서로 넓히는 것은 Local 검색의 L4이고, 보고서에서 사실로 내려가는 것은 Global 검색의 G2, G3입니다.
상세 문서: https://github.com/unicorn-campus/hybrid-ai/blob/main/teacher/plan/graphrag-agentic-search.md#0-무엇이-바뀌나-why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2단계 검색 모드 결정: 규칙 신호를 먼저 보고, 남는 판단만 LLM이 함
이 단계가 Adaptive RAG에 해당합니다. 질문을 보고 처음 검색 전략을 고릅니다.
기본값을 local로 둔 까닭은 사실 질문이 대부분이고, global 검색을 요청당 1번만 허용하기 때문입니다.
상세 문서: https://github.com/unicorn-campus/hybrid-ai/blob/main/teacher/plan/graphrag-agentic-search.md#2-1-단계-2의-처음-결정-adaptive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5단계 채점과 진단 신호: 점수와 함께 「왜 부족한지」를 알려 줌
핵심어 포함률의 분모는 명사, 숫자, 코드 토큰만 셉니다. 「쓰」, 「하」 같은 동사 어간은 어느 청크에나 있어 뺍니다.
NO_COOCCUR 실측: Q18(연회비와 포인트) 0문장, Q20(버전과 연회비) 0문장, Q01(연회비와 면제) 5문장입니다.
NO_COOCCUR는 「답이 없음」이 아니라 「함께 언급된 근거를 찾지 못함」입니다. 다른 문장이나 문서의 관계를 이어야 답할 수 있는 질문도 있어서, 처음에는 질문을 나눠 한 번 더 찾습니다(5장).
관련도 점수는 LLM이 내지 않습니다. G1에서 LLM이 보고서를 고른 뒤, 고른 보고서마다 임베딩 유사도를 따로 계산합니다.
관련도 최댓값이 0.25 이상인데 0.35 이상 보고서가 2개 미만이면 LOW_COVERAGE로 봅니다.
분해 뒤에는 원 질문 기준으로 다시 확인합니다. 원 질문의 핵심 명사 두 개가 한 문장에 있거나, 그래프 관계 하나로 이어진 두 엔티티의 원문에 나뉘어 있어야 합니다. 지식니 실측에서 Q18을 연회비와 포인트로 쪼개면 「포인트 사용」만 23문장이 나와 함정 질문이 통과해 버렸기 때문입니다.
핵심 명사가 5개 미만인 짧은 질문은 공존 1건 이상과 원문 2개 이상이면 통과로 봅니다.
SCATTERED에서 필터 질의를 뺀 까닭: 한 회원의 상담 4건은 원래 여러 문서에 흩어져 보여 오탐이 납니다.
OFF_TOPIC_REPORTS를 둔 까닭: 보고서 78개 중 65개가 카드 혜택 계열이라 상담 질문에 엉뚱한 보고서가 걸리기 쉽습니다.
상세 문서: https://github.com/unicorn-campus/hybrid-ai/blob/main/teacher/plan/graphrag-agentic-search.md#2-2-단계-5의-채점과-진단-신호-규칙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3단계 모드 조정: 신호에 따라 다음 행동을 고르고, 금지 규칙으로 맴돌지 않게 함
이 단계가 Agentic RAG에 해당합니다. 결과를 보고 다음 검색 전략을 스스로 바꿉니다.
구현할 때 3단계는 행동을 정해 상태에 적는 노드와, 상태만 읽어 갈 곳을 고르는 분기 함수로 나눕니다.
금지 규칙이 행동표보다 앞섭니다. 예를 들어 local에서 global로 전환한 뒤 보고서가 없으면, 다시 local로 돌아가지 않고 앞서 모은 local 근거로 수집을 끝냅니다.
LLM이 행동을 고를 때는 금지 규칙을 통과한 행동 목록만 보여 줍니다.
다시 쓴 질의와 하위 질문은 원 질문의 식별자 필터를 그대로 물려받습니다. 필터가 풀리면 Q21, Q22가 다른 회원의 근거로 답하게 됩니다(지식니 실측: 필터 없이 6문장, 4문장).
「처음부터 global」인지 「local에서 전환해 온 global」인지는 2단계가 처음 고른 모드(initial_mode)로 가립니다.
상세 문서: https://github.com/unicorn-campus/hybrid-ai/blob/main/teacher/plan/graphrag-agentic-search.md#2-3-단계-3의-조정-agentic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4단계 검색: 세 서브 워크플로우가 쌓이고, 바닥은 검색엔진 검색(O)
LangGraph 서브그래프로 쪼개지 않고 4단계 노드 안의 함수로 두는 까닭은, 3단계의 금지 규칙과 진입 횟수 판정이 그래프 경계를 넘지 않게 하기 위해서입니다. 병렬은 노드 안에서 asyncio.gather로 합니다.
OpenSearch 2.19.1의 score-ranker-processor(rrf)는 파이프라인 생성이 정상임을 확인했습니다. 호출을 한 번으로 줄이고 싶을 때 바꿀 수 있습니다.
로컬 크로스 인코더는 현재 CPU 실습 환경에서 Follow-up 5갈래 × 25건을 처리할 때 병목이 예상되어 뺐습니다(측정하지 않은 판단입니다). OpenSearch rerank 프로세서는 파이프라인 안에만 있어 7단계에 쓸 수 없습니다.
상세 문서: https://github.com/unicorn-campus/hybrid-ai/blob/main/teacher/plan/graphrag-agentic-search.md#4-1-검색엔진-검색o-벡터-검색--bm25-검색--rrf--리랭킹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7: Local 검색(L): 청크로 시작점을 찾고, 엔티티를 줄여 이웃과 보고서로 넓힘
상한을 8개가 아니라 16개로 둔 까닭: 규정 청크는 엔티티가 30개라, 8개로 자르면 답이 든 조항 노드가 떨어져 나갑니다. 이웃을 6개에서 4개로 줄여 총량을 맞췄습니다.
L3 이웃 탐색은 그래프에서 이웃을 찾는 일(규칙)과 남길 순서를 정하는 일(임베딩 유사도)이 섞여 있습니다. 도식에서는 주된 쪽인 규칙기반으로 칠했습니다.
실측 수치는 이전 세대 색인 결과 기준입니다. 현 세대에서는 조금 다를 수 있습니다.
상세 문서: https://github.com/unicorn-campus/hybrid-ai/blob/main/teacher/plan/graphrag-agentic-search.md#4-2-local-검색l-검색엔진-검색--엔티티-축소--이웃-탐색--커뮤니티-탐색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8: Global 검색(G): 보고서로 주제를 잡고, 주제마다 Follow-up Local 검색을 함
벡터 상위 5개로 고르면 상담 계열 보고서 12개 중 최대 5개만 담깁니다(보고서 포함 상한 5/12. 계산값이며 실제 검색 재현율을 잰 것은 아닙니다). 「예산 안이면 전부」는 전문이 76,000 토큰이라 발동하지 않습니다.
Microsoft GraphRAG의 Global Search는 보고서를 map-reduce로 처리합니다. 이 실습의 Global은 보고서 선택과 Follow-up Local 검색을 결합한 자체 구성이며, DRIFT와 닮았지만 후속 질문마다 중간 답을 만들지 않고 깊이도 1입니다.
플로니는 단순한 벡터 상위 5개를 권했고, 지식니는 제목 전수 선별을 권했습니다. 실측 재현율 근거로 지식니 안을 택했고, LLM 실패 시 플로니 안으로 내려가므로 둘 다 구현합니다.
상세 문서: https://github.com/unicorn-campus/hybrid-ai/blob/main/teacher/plan/graphrag-agentic-search.md#4-3-global-검색g-커뮤니티-검색--follow-up-질문--follow-up-local-검색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9: 4단계 검색은 예측형AI 하나가 아니라, 서브 단계마다 담당자 유형이 다름
벡터 검색 워크플로우에서 「문서 검색」을 예측형AI로 본 것은 벡터 검색과 리랭킹이 판단의 중심이기 때문입니다. 그 단계만 보면 맞는 분류입니다.
이 설계의 4단계는 Global 모드에서 LLM이 보고서를 고르고 질문을 만듭니다. 그래서 예측형AI 하나로 적으면 틀리고, 메인 도식에서는 「서브 워크플로우」로 따로 칠했습니다.
L1과 G3은 다른 서브 워크플로우를 부르는 단계라 표에서 뺐습니다(L1은 O, G3은 L).
G1은 LLM이 실패하면 보고서 벡터 유사도(예측형AI)로 내려갑니다.
상세 문서: https://github.com/unicorn-campus/hybrid-ai/blob/main/teacher/plan/graphrag-agentic-search.md#4-0-단계-4의-담당자-유형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10: 검색 서브 워크플로우 최적안: 후보안 중 고른 것과 그 까닭
검토는 토론형으로 진행했습니다. 두 명이 같은 후보안을 서로의 의견을 보지 않고 따로 읽었습니다.
클로니가 직접 확인한 것: OpenSearch 2.19.1에서 rrf 파이프라인 생성이 정상이었습니다. 시험 파이프라인은 만든 뒤 지웠습니다.
상세 문서: https://github.com/unicorn-campus/hybrid-ai/blob/main/teacher/plan/graphrag-agentic-search.md#9-검토-기록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11: 7단계 리랭킹: 회차마다 섞인 근거를 원 질문 기준으로 다시 줄 세움
보고서를 원문과 한 목록으로 리랭킹하지 않는 까닭: 요약문인 보고서가 원문보다 점수를 받기 쉬워 「보고서 인용은 경향 문장에만」 규칙과 충돌합니다.
LangGraph API 이름(recursion_limit 등)은 context7 할당량 초과로 확인하지 못했습니다. 구현 전에 공식 문서로 확인합니다.
5단계의 기준값(포함률 0.6, 관련도 0.35와 0.25)은 가정값이며 평가셋으로 조정합니다.
상세 문서: https://github.com/unicorn-campus/hybrid-ai/blob/main/teacher/plan/graphrag-agentic-search.md#4-4-단계-7-리랭킹근거-묶음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1-&#55120;&#47492;-&#46020;&#49885;"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0-&#47924;&#50631;&#51060;-&#48148;&#45068;&#45208;-why"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2-1-&#45800;&#44228;-2&#51032;-&#52376;&#51020;-&#44208;&#51221;-adaptive" TargetMode="Externa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2-2-&#45800;&#44228;-5&#51032;-&#52292;&#51216;&#44284;-&#51652;&#45800;-&#49888;&#54840;-&#44508;&#52825;"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2-3-&#45800;&#44228;-3&#51032;-&#51312;&#51221;-agentic"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4-1-&#44160;&#49353;&#50644;&#51652;-&#44160;&#49353;o-&#48289;&#53552;-&#44160;&#49353;--bm25-&#44160;&#49353;--rrf--&#47532;&#47021;&#53433;" TargetMode="Externa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4-2-local-&#44160;&#49353;l-&#44160;&#49353;&#50644;&#51652;-&#44160;&#49353;--&#50644;&#54000;&#54000;-&#52629;&#49548;--&#51060;&#50883;-&#53456;&#49353;--&#52964;&#48036;&#45768;&#54000;-&#53456;&#49353;" TargetMode="Externa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4-3-global-&#44160;&#49353;g-&#52964;&#48036;&#45768;&#54000;-&#44160;&#49353;--follow-up-&#51656;&#47928;--follow-up-local-&#44160;&#49353;"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4-0-&#45800;&#44228;-4&#51032;-&#45812;&#45817;&#51088;-&#50976;&#54805;" TargetMode="External"/><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9-&#44160;&#53664;-&#44592;&#47197;"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agentic-search.md#4-4-&#45800;&#44228;-7-&#47532;&#47021;&#53433;&#44540;&#44144;-&#47926;&#51020;" TargetMode="Externa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GraphRAG Agentic 검색: 2단계가 검색 모드를 고르고, 3단계가 채점을 보고 조정함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벡터 검색 워크플로우와 같은 뼈대에서 「문서 검색」을 「검색」 서브 워크플로우로 바꾸고, 리랭킹 단계를 더함</a:t>
            </a:r>
            <a:endParaRPr lang="en-US" sz="1800" dirty="0"/>
          </a:p>
        </p:txBody>
      </p:sp>
      <p:sp>
        <p:nvSpPr>
          <p:cNvPr id="4" name="Text 2"/>
          <p:cNvSpPr/>
          <p:nvPr/>
        </p:nvSpPr>
        <p:spPr>
          <a:xfrm>
            <a:off x="509321" y="2834640"/>
            <a:ext cx="1965960" cy="868680"/>
          </a:xfrm>
          <a:prstGeom prst="roundRect">
            <a:avLst>
              <a:gd name="adj" fmla="val 12632"/>
            </a:avLst>
          </a:prstGeom>
          <a:solidFill>
            <a:srgbClr val="1E2A5C"/>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동기 요청</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질문 + 역할</a:t>
            </a:r>
            <a:endParaRPr lang="en-US" sz="1800" dirty="0"/>
          </a:p>
        </p:txBody>
      </p:sp>
      <p:sp>
        <p:nvSpPr>
          <p:cNvPr id="5" name="Text 3"/>
          <p:cNvSpPr/>
          <p:nvPr/>
        </p:nvSpPr>
        <p:spPr>
          <a:xfrm>
            <a:off x="2841041" y="2834640"/>
            <a:ext cx="1965960" cy="868680"/>
          </a:xfrm>
          <a:prstGeom prst="roundRect">
            <a:avLst>
              <a:gd name="adj" fmla="val 12632"/>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1</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요청 접수, 준비 확인</a:t>
            </a:r>
            <a:endParaRPr lang="en-US" sz="1800" dirty="0"/>
          </a:p>
        </p:txBody>
      </p:sp>
      <p:sp>
        <p:nvSpPr>
          <p:cNvPr id="6" name="Text 4"/>
          <p:cNvSpPr/>
          <p:nvPr/>
        </p:nvSpPr>
        <p:spPr>
          <a:xfrm>
            <a:off x="5172761" y="2834640"/>
            <a:ext cx="1965960" cy="868680"/>
          </a:xfrm>
          <a:prstGeom prst="roundRect">
            <a:avLst>
              <a:gd name="adj" fmla="val 12632"/>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질문 분석, 검색 모드 결정</a:t>
            </a:r>
            <a:endParaRPr lang="en-US" sz="1800" dirty="0"/>
          </a:p>
        </p:txBody>
      </p:sp>
      <p:sp>
        <p:nvSpPr>
          <p:cNvPr id="7" name="Text 5"/>
          <p:cNvSpPr/>
          <p:nvPr/>
        </p:nvSpPr>
        <p:spPr>
          <a:xfrm>
            <a:off x="7504481" y="2834640"/>
            <a:ext cx="1965960" cy="868680"/>
          </a:xfrm>
          <a:prstGeom prst="roundRect">
            <a:avLst>
              <a:gd name="adj" fmla="val 12632"/>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a:p>
            <a:pPr algn="ctr" indent="0" marL="0">
              <a:buNone/>
            </a:pPr>
            <a:r>
              <a:rPr lang="en-US" sz="1400" dirty="0">
                <a:solidFill>
                  <a:srgbClr val="FFFFFF"/>
                </a:solidFill>
                <a:latin typeface="Pretendard" pitchFamily="34" charset="0"/>
                <a:ea typeface="Pretendard" pitchFamily="34" charset="-122"/>
                <a:cs typeface="Pretendard" pitchFamily="34" charset="-120"/>
              </a:rPr>
              <a:t>다음 행동 선택, 모드 조정</a:t>
            </a:r>
            <a:endParaRPr lang="en-US" sz="1800" dirty="0"/>
          </a:p>
        </p:txBody>
      </p:sp>
      <p:sp>
        <p:nvSpPr>
          <p:cNvPr id="8" name="Text 6"/>
          <p:cNvSpPr/>
          <p:nvPr/>
        </p:nvSpPr>
        <p:spPr>
          <a:xfrm>
            <a:off x="9836201" y="2834640"/>
            <a:ext cx="1965960" cy="868680"/>
          </a:xfrm>
          <a:prstGeom prst="roundRect">
            <a:avLst>
              <a:gd name="adj" fmla="val 12632"/>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4</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검색(O, L, G)</a:t>
            </a:r>
            <a:endParaRPr lang="en-US" sz="1800" dirty="0"/>
          </a:p>
        </p:txBody>
      </p:sp>
      <p:sp>
        <p:nvSpPr>
          <p:cNvPr id="9" name="Text 7"/>
          <p:cNvSpPr/>
          <p:nvPr/>
        </p:nvSpPr>
        <p:spPr>
          <a:xfrm>
            <a:off x="12167921" y="2834640"/>
            <a:ext cx="1965960" cy="868680"/>
          </a:xfrm>
          <a:prstGeom prst="roundRect">
            <a:avLst>
              <a:gd name="adj" fmla="val 12632"/>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5</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결과 채점(규칙)</a:t>
            </a:r>
            <a:endParaRPr lang="en-US" sz="1800" dirty="0"/>
          </a:p>
        </p:txBody>
      </p:sp>
      <p:sp>
        <p:nvSpPr>
          <p:cNvPr id="10" name="Text 8"/>
          <p:cNvSpPr/>
          <p:nvPr/>
        </p:nvSpPr>
        <p:spPr>
          <a:xfrm>
            <a:off x="9836201" y="1691640"/>
            <a:ext cx="1965960" cy="731520"/>
          </a:xfrm>
          <a:prstGeom prst="roundRect">
            <a:avLst>
              <a:gd name="adj" fmla="val 150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6</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질문 변환</a:t>
            </a:r>
            <a:endParaRPr lang="en-US" sz="1800" dirty="0"/>
          </a:p>
        </p:txBody>
      </p:sp>
      <p:sp>
        <p:nvSpPr>
          <p:cNvPr id="11" name="Text 9"/>
          <p:cNvSpPr/>
          <p:nvPr/>
        </p:nvSpPr>
        <p:spPr>
          <a:xfrm>
            <a:off x="7504481" y="4251960"/>
            <a:ext cx="1965960" cy="731520"/>
          </a:xfrm>
          <a:prstGeom prst="roundRect">
            <a:avLst>
              <a:gd name="adj" fmla="val 150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7</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리랭킹</a:t>
            </a:r>
            <a:endParaRPr lang="en-US" sz="1800" dirty="0"/>
          </a:p>
        </p:txBody>
      </p:sp>
      <p:sp>
        <p:nvSpPr>
          <p:cNvPr id="12" name="Text 10"/>
          <p:cNvSpPr/>
          <p:nvPr/>
        </p:nvSpPr>
        <p:spPr>
          <a:xfrm>
            <a:off x="9836201" y="4251960"/>
            <a:ext cx="1965960"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8</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수집 종료 판정</a:t>
            </a:r>
            <a:endParaRPr lang="en-US" sz="1800" dirty="0"/>
          </a:p>
        </p:txBody>
      </p:sp>
      <p:sp>
        <p:nvSpPr>
          <p:cNvPr id="13" name="Text 11"/>
          <p:cNvSpPr/>
          <p:nvPr/>
        </p:nvSpPr>
        <p:spPr>
          <a:xfrm>
            <a:off x="9836201" y="5440680"/>
            <a:ext cx="1965960" cy="822960"/>
          </a:xfrm>
          <a:prstGeom prst="roundRect">
            <a:avLst>
              <a:gd name="adj" fmla="val 13333"/>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9</a:t>
            </a:r>
            <a:endParaRPr lang="en-US" sz="1800" dirty="0"/>
          </a:p>
          <a:p>
            <a:pPr algn="ctr" indent="0" marL="0">
              <a:buNone/>
            </a:pPr>
            <a:r>
              <a:rPr lang="en-US" sz="1600" dirty="0">
                <a:solidFill>
                  <a:srgbClr val="FFFFFF"/>
                </a:solidFill>
                <a:latin typeface="Pretendard" pitchFamily="34" charset="0"/>
                <a:ea typeface="Pretendard" pitchFamily="34" charset="-122"/>
                <a:cs typeface="Pretendard" pitchFamily="34" charset="-120"/>
              </a:rPr>
              <a:t>답변 생성(옵션)</a:t>
            </a:r>
            <a:endParaRPr lang="en-US" sz="1800" dirty="0"/>
          </a:p>
        </p:txBody>
      </p:sp>
      <p:sp>
        <p:nvSpPr>
          <p:cNvPr id="14" name="Text 12"/>
          <p:cNvSpPr/>
          <p:nvPr/>
        </p:nvSpPr>
        <p:spPr>
          <a:xfrm>
            <a:off x="7504481" y="5440680"/>
            <a:ext cx="1965960" cy="822960"/>
          </a:xfrm>
          <a:prstGeom prst="roundRect">
            <a:avLst>
              <a:gd name="adj" fmla="val 13333"/>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10</a:t>
            </a:r>
            <a:endParaRPr lang="en-US" sz="1800" dirty="0"/>
          </a:p>
          <a:p>
            <a:pPr algn="ctr" indent="0" marL="0">
              <a:buNone/>
            </a:pPr>
            <a:r>
              <a:rPr lang="en-US" sz="1600" dirty="0">
                <a:solidFill>
                  <a:srgbClr val="1E2A5C"/>
                </a:solidFill>
                <a:latin typeface="Pretendard" pitchFamily="34" charset="0"/>
                <a:ea typeface="Pretendard" pitchFamily="34" charset="-122"/>
                <a:cs typeface="Pretendard" pitchFamily="34" charset="-120"/>
              </a:rPr>
              <a:t>근거 검증(규칙)</a:t>
            </a:r>
            <a:endParaRPr lang="en-US" sz="1800" dirty="0"/>
          </a:p>
        </p:txBody>
      </p:sp>
      <p:sp>
        <p:nvSpPr>
          <p:cNvPr id="15" name="Text 13"/>
          <p:cNvSpPr/>
          <p:nvPr/>
        </p:nvSpPr>
        <p:spPr>
          <a:xfrm>
            <a:off x="284104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오류</a:t>
            </a:r>
            <a:endParaRPr lang="en-US" sz="1800" dirty="0"/>
          </a:p>
        </p:txBody>
      </p:sp>
      <p:sp>
        <p:nvSpPr>
          <p:cNvPr id="16" name="Text 14"/>
          <p:cNvSpPr/>
          <p:nvPr/>
        </p:nvSpPr>
        <p:spPr>
          <a:xfrm>
            <a:off x="517276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검색 불필요</a:t>
            </a:r>
            <a:endParaRPr lang="en-US" sz="1800" dirty="0"/>
          </a:p>
        </p:txBody>
      </p:sp>
      <p:sp>
        <p:nvSpPr>
          <p:cNvPr id="17" name="Text 15"/>
          <p:cNvSpPr/>
          <p:nvPr/>
        </p:nvSpPr>
        <p:spPr>
          <a:xfrm>
            <a:off x="12167921" y="169164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확인 필요(clarify)</a:t>
            </a:r>
            <a:endParaRPr lang="en-US" sz="1800" dirty="0"/>
          </a:p>
        </p:txBody>
      </p:sp>
      <p:sp>
        <p:nvSpPr>
          <p:cNvPr id="18" name="Text 16"/>
          <p:cNvSpPr/>
          <p:nvPr/>
        </p:nvSpPr>
        <p:spPr>
          <a:xfrm>
            <a:off x="12167921" y="4251960"/>
            <a:ext cx="1965960" cy="731520"/>
          </a:xfrm>
          <a:prstGeom prst="roundRect">
            <a:avLst>
              <a:gd name="adj" fmla="val 15000"/>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검색 결과, 근거 없음</a:t>
            </a:r>
            <a:endParaRPr lang="en-US" sz="1800" dirty="0"/>
          </a:p>
        </p:txBody>
      </p:sp>
      <p:sp>
        <p:nvSpPr>
          <p:cNvPr id="19" name="Text 17"/>
          <p:cNvSpPr/>
          <p:nvPr/>
        </p:nvSpPr>
        <p:spPr>
          <a:xfrm>
            <a:off x="2841041" y="5440680"/>
            <a:ext cx="4297680" cy="822960"/>
          </a:xfrm>
          <a:prstGeom prst="roundRect">
            <a:avLst>
              <a:gd name="adj" fmla="val 13333"/>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600" dirty="0">
                <a:solidFill>
                  <a:srgbClr val="2B3242"/>
                </a:solidFill>
                <a:latin typeface="Pretendard" pitchFamily="34" charset="0"/>
                <a:ea typeface="Pretendard" pitchFamily="34" charset="-122"/>
                <a:cs typeface="Pretendard" pitchFamily="34" charset="-120"/>
              </a:rPr>
              <a:t>답변 완료, 확인 필요(2회 소진)</a:t>
            </a:r>
            <a:endParaRPr lang="en-US" sz="1800" dirty="0"/>
          </a:p>
        </p:txBody>
      </p:sp>
      <p:sp>
        <p:nvSpPr>
          <p:cNvPr id="20" name="Text 18"/>
          <p:cNvSpPr/>
          <p:nvPr/>
        </p:nvSpPr>
        <p:spPr>
          <a:xfrm>
            <a:off x="12167921" y="5440680"/>
            <a:ext cx="1965960" cy="822960"/>
          </a:xfrm>
          <a:prstGeom prst="roundRect">
            <a:avLst>
              <a:gd name="adj" fmla="val 13333"/>
            </a:avLst>
          </a:prstGeom>
          <a:solidFill>
            <a:srgbClr val="FFFFFF"/>
          </a:solidFill>
          <a:ln w="15875">
            <a:solidFill>
              <a:srgbClr val="7C8598"/>
            </a:solidFill>
            <a:prstDash val="dash"/>
          </a:ln>
        </p:spPr>
        <p:txBody>
          <a:bodyPr wrap="square" lIns="63500" tIns="38100" rIns="63500" bIns="38100" rtlCol="0" anchor="ctr"/>
          <a:lstStyle/>
          <a:p>
            <a:pPr algn="ctr" indent="0" marL="0">
              <a:buNone/>
            </a:pPr>
            <a:r>
              <a:rPr lang="en-US" sz="1800" b="1" dirty="0">
                <a:solidFill>
                  <a:srgbClr val="2B3242"/>
                </a:solidFill>
                <a:latin typeface="Pretendard" pitchFamily="34" charset="0"/>
                <a:ea typeface="Pretendard" pitchFamily="34" charset="-122"/>
                <a:cs typeface="Pretendard" pitchFamily="34" charset="-120"/>
              </a:rPr>
              <a:t>11</a:t>
            </a:r>
            <a:endParaRPr lang="en-US" sz="1800" dirty="0"/>
          </a:p>
          <a:p>
            <a:pPr algn="ctr" indent="0" marL="0">
              <a:buNone/>
            </a:pPr>
            <a:r>
              <a:rPr lang="en-US" sz="1500" dirty="0">
                <a:solidFill>
                  <a:srgbClr val="2B3242"/>
                </a:solidFill>
                <a:latin typeface="Pretendard" pitchFamily="34" charset="0"/>
                <a:ea typeface="Pretendard" pitchFamily="34" charset="-122"/>
                <a:cs typeface="Pretendard" pitchFamily="34" charset="-120"/>
              </a:rPr>
              <a:t>생성 실패(근거 목록만)</a:t>
            </a:r>
            <a:endParaRPr lang="en-US" sz="1800" dirty="0"/>
          </a:p>
        </p:txBody>
      </p:sp>
      <p:sp>
        <p:nvSpPr>
          <p:cNvPr id="21" name="Shape 19"/>
          <p:cNvSpPr/>
          <p:nvPr/>
        </p:nvSpPr>
        <p:spPr>
          <a:xfrm>
            <a:off x="2475281" y="3268980"/>
            <a:ext cx="365760" cy="0"/>
          </a:xfrm>
          <a:prstGeom prst="line">
            <a:avLst/>
          </a:prstGeom>
          <a:noFill/>
          <a:ln w="22225">
            <a:solidFill>
              <a:srgbClr val="2E74C6"/>
            </a:solidFill>
            <a:prstDash val="solid"/>
            <a:tailEnd type="triangle"/>
          </a:ln>
        </p:spPr>
      </p:sp>
      <p:sp>
        <p:nvSpPr>
          <p:cNvPr id="22" name="Shape 20"/>
          <p:cNvSpPr/>
          <p:nvPr/>
        </p:nvSpPr>
        <p:spPr>
          <a:xfrm>
            <a:off x="4807001" y="3268980"/>
            <a:ext cx="365760" cy="0"/>
          </a:xfrm>
          <a:prstGeom prst="line">
            <a:avLst/>
          </a:prstGeom>
          <a:noFill/>
          <a:ln w="22225">
            <a:solidFill>
              <a:srgbClr val="2E74C6"/>
            </a:solidFill>
            <a:prstDash val="solid"/>
            <a:tailEnd type="triangle"/>
          </a:ln>
        </p:spPr>
      </p:sp>
      <p:sp>
        <p:nvSpPr>
          <p:cNvPr id="23" name="Shape 21"/>
          <p:cNvSpPr/>
          <p:nvPr/>
        </p:nvSpPr>
        <p:spPr>
          <a:xfrm>
            <a:off x="7138721" y="3268980"/>
            <a:ext cx="365760" cy="0"/>
          </a:xfrm>
          <a:prstGeom prst="line">
            <a:avLst/>
          </a:prstGeom>
          <a:noFill/>
          <a:ln w="22225">
            <a:solidFill>
              <a:srgbClr val="2E74C6"/>
            </a:solidFill>
            <a:prstDash val="solid"/>
            <a:tailEnd type="triangle"/>
          </a:ln>
        </p:spPr>
      </p:sp>
      <p:sp>
        <p:nvSpPr>
          <p:cNvPr id="24" name="Shape 22"/>
          <p:cNvSpPr/>
          <p:nvPr/>
        </p:nvSpPr>
        <p:spPr>
          <a:xfrm>
            <a:off x="9470441" y="3268980"/>
            <a:ext cx="365760" cy="0"/>
          </a:xfrm>
          <a:prstGeom prst="line">
            <a:avLst/>
          </a:prstGeom>
          <a:noFill/>
          <a:ln w="22225">
            <a:solidFill>
              <a:srgbClr val="2E74C6"/>
            </a:solidFill>
            <a:prstDash val="solid"/>
            <a:tailEnd type="triangle"/>
          </a:ln>
        </p:spPr>
      </p:sp>
      <p:sp>
        <p:nvSpPr>
          <p:cNvPr id="25" name="Shape 23"/>
          <p:cNvSpPr/>
          <p:nvPr/>
        </p:nvSpPr>
        <p:spPr>
          <a:xfrm>
            <a:off x="11802161" y="3268980"/>
            <a:ext cx="365760" cy="0"/>
          </a:xfrm>
          <a:prstGeom prst="line">
            <a:avLst/>
          </a:prstGeom>
          <a:noFill/>
          <a:ln w="22225">
            <a:solidFill>
              <a:srgbClr val="2E74C6"/>
            </a:solidFill>
            <a:prstDash val="solid"/>
            <a:tailEnd type="triangle"/>
          </a:ln>
        </p:spPr>
      </p:sp>
      <p:sp>
        <p:nvSpPr>
          <p:cNvPr id="26" name="Shape 24"/>
          <p:cNvSpPr/>
          <p:nvPr/>
        </p:nvSpPr>
        <p:spPr>
          <a:xfrm flipV="1">
            <a:off x="3298241" y="2423160"/>
            <a:ext cx="0" cy="411480"/>
          </a:xfrm>
          <a:prstGeom prst="line">
            <a:avLst/>
          </a:prstGeom>
          <a:noFill/>
          <a:ln w="22225">
            <a:solidFill>
              <a:srgbClr val="2E74C6"/>
            </a:solidFill>
            <a:prstDash val="solid"/>
            <a:tailEnd type="triangle"/>
          </a:ln>
        </p:spPr>
      </p:sp>
      <p:sp>
        <p:nvSpPr>
          <p:cNvPr id="27" name="Text 25"/>
          <p:cNvSpPr txBox="1"/>
          <p:nvPr/>
        </p:nvSpPr>
        <p:spPr>
          <a:xfrm>
            <a:off x="3371393" y="2487168"/>
            <a:ext cx="173736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설정, 권한 오류</a:t>
            </a:r>
            <a:endParaRPr lang="en-US" sz="1400" dirty="0"/>
          </a:p>
        </p:txBody>
      </p:sp>
      <p:sp>
        <p:nvSpPr>
          <p:cNvPr id="28" name="Shape 26"/>
          <p:cNvSpPr/>
          <p:nvPr/>
        </p:nvSpPr>
        <p:spPr>
          <a:xfrm flipV="1">
            <a:off x="5629961" y="2423160"/>
            <a:ext cx="0" cy="411480"/>
          </a:xfrm>
          <a:prstGeom prst="line">
            <a:avLst/>
          </a:prstGeom>
          <a:noFill/>
          <a:ln w="22225">
            <a:solidFill>
              <a:srgbClr val="2E74C6"/>
            </a:solidFill>
            <a:prstDash val="solid"/>
            <a:tailEnd type="triangle"/>
          </a:ln>
        </p:spPr>
      </p:sp>
      <p:sp>
        <p:nvSpPr>
          <p:cNvPr id="29" name="Text 27"/>
          <p:cNvSpPr txBox="1"/>
          <p:nvPr/>
        </p:nvSpPr>
        <p:spPr>
          <a:xfrm>
            <a:off x="5703113" y="2487168"/>
            <a:ext cx="118872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인사, 잡담</a:t>
            </a:r>
            <a:endParaRPr lang="en-US" sz="1400" dirty="0"/>
          </a:p>
        </p:txBody>
      </p:sp>
      <p:sp>
        <p:nvSpPr>
          <p:cNvPr id="30" name="Text 28"/>
          <p:cNvSpPr txBox="1"/>
          <p:nvPr/>
        </p:nvSpPr>
        <p:spPr>
          <a:xfrm>
            <a:off x="6910121" y="2487168"/>
            <a:ext cx="123444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단순, 복합</a:t>
            </a:r>
            <a:endParaRPr lang="en-US" sz="1400" dirty="0"/>
          </a:p>
        </p:txBody>
      </p:sp>
      <p:sp>
        <p:nvSpPr>
          <p:cNvPr id="31" name="Shape 29"/>
          <p:cNvSpPr/>
          <p:nvPr/>
        </p:nvSpPr>
        <p:spPr>
          <a:xfrm flipV="1">
            <a:off x="8601761" y="2057400"/>
            <a:ext cx="0" cy="777240"/>
          </a:xfrm>
          <a:prstGeom prst="line">
            <a:avLst/>
          </a:prstGeom>
          <a:noFill/>
          <a:ln w="22225">
            <a:solidFill>
              <a:srgbClr val="2E74C6"/>
            </a:solidFill>
            <a:prstDash val="solid"/>
          </a:ln>
        </p:spPr>
      </p:sp>
      <p:sp>
        <p:nvSpPr>
          <p:cNvPr id="32" name="Shape 30"/>
          <p:cNvSpPr/>
          <p:nvPr/>
        </p:nvSpPr>
        <p:spPr>
          <a:xfrm>
            <a:off x="8601761" y="2057400"/>
            <a:ext cx="1234440" cy="0"/>
          </a:xfrm>
          <a:prstGeom prst="line">
            <a:avLst/>
          </a:prstGeom>
          <a:noFill/>
          <a:ln w="22225">
            <a:solidFill>
              <a:srgbClr val="2E74C6"/>
            </a:solidFill>
            <a:prstDash val="solid"/>
            <a:tailEnd type="triangle"/>
          </a:ln>
        </p:spPr>
      </p:sp>
      <p:sp>
        <p:nvSpPr>
          <p:cNvPr id="33" name="Text 31"/>
          <p:cNvSpPr txBox="1"/>
          <p:nvPr/>
        </p:nvSpPr>
        <p:spPr>
          <a:xfrm>
            <a:off x="7778801" y="1737360"/>
            <a:ext cx="155448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질문 변환</a:t>
            </a:r>
            <a:endParaRPr lang="en-US" sz="1400" dirty="0"/>
          </a:p>
        </p:txBody>
      </p:sp>
      <p:sp>
        <p:nvSpPr>
          <p:cNvPr id="34" name="Shape 32"/>
          <p:cNvSpPr/>
          <p:nvPr/>
        </p:nvSpPr>
        <p:spPr>
          <a:xfrm>
            <a:off x="11207801" y="2423160"/>
            <a:ext cx="0" cy="411480"/>
          </a:xfrm>
          <a:prstGeom prst="line">
            <a:avLst/>
          </a:prstGeom>
          <a:noFill/>
          <a:ln w="22225">
            <a:solidFill>
              <a:srgbClr val="2E74C6"/>
            </a:solidFill>
            <a:prstDash val="solid"/>
            <a:tailEnd type="triangle"/>
          </a:ln>
        </p:spPr>
      </p:sp>
      <p:sp>
        <p:nvSpPr>
          <p:cNvPr id="35" name="Text 33"/>
          <p:cNvSpPr txBox="1"/>
          <p:nvPr/>
        </p:nvSpPr>
        <p:spPr>
          <a:xfrm>
            <a:off x="11280953" y="2487168"/>
            <a:ext cx="100584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변환 질의</a:t>
            </a:r>
            <a:endParaRPr lang="en-US" sz="1400" dirty="0"/>
          </a:p>
        </p:txBody>
      </p:sp>
      <p:sp>
        <p:nvSpPr>
          <p:cNvPr id="36" name="Shape 34"/>
          <p:cNvSpPr/>
          <p:nvPr/>
        </p:nvSpPr>
        <p:spPr>
          <a:xfrm flipH="1">
            <a:off x="9333281" y="2423160"/>
            <a:ext cx="822960" cy="411480"/>
          </a:xfrm>
          <a:prstGeom prst="line">
            <a:avLst/>
          </a:prstGeom>
          <a:noFill/>
          <a:ln w="22225">
            <a:solidFill>
              <a:srgbClr val="2E74C6"/>
            </a:solidFill>
            <a:prstDash val="dash"/>
            <a:tailEnd type="triangle"/>
          </a:ln>
        </p:spPr>
      </p:sp>
      <p:sp>
        <p:nvSpPr>
          <p:cNvPr id="37" name="Text 35"/>
          <p:cNvSpPr txBox="1"/>
          <p:nvPr/>
        </p:nvSpPr>
        <p:spPr>
          <a:xfrm>
            <a:off x="8674913" y="2487168"/>
            <a:ext cx="86868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keep 1회</a:t>
            </a:r>
            <a:endParaRPr lang="en-US" sz="1400" dirty="0"/>
          </a:p>
        </p:txBody>
      </p:sp>
      <p:sp>
        <p:nvSpPr>
          <p:cNvPr id="38" name="Shape 36"/>
          <p:cNvSpPr/>
          <p:nvPr/>
        </p:nvSpPr>
        <p:spPr>
          <a:xfrm>
            <a:off x="11802161" y="2057400"/>
            <a:ext cx="365760" cy="0"/>
          </a:xfrm>
          <a:prstGeom prst="line">
            <a:avLst/>
          </a:prstGeom>
          <a:noFill/>
          <a:ln w="22225">
            <a:solidFill>
              <a:srgbClr val="2E74C6"/>
            </a:solidFill>
            <a:prstDash val="solid"/>
            <a:tailEnd type="triangle"/>
          </a:ln>
        </p:spPr>
      </p:sp>
      <p:sp>
        <p:nvSpPr>
          <p:cNvPr id="39" name="Shape 37"/>
          <p:cNvSpPr/>
          <p:nvPr/>
        </p:nvSpPr>
        <p:spPr>
          <a:xfrm>
            <a:off x="13150901" y="3703320"/>
            <a:ext cx="0" cy="274320"/>
          </a:xfrm>
          <a:prstGeom prst="line">
            <a:avLst/>
          </a:prstGeom>
          <a:noFill/>
          <a:ln w="22225">
            <a:solidFill>
              <a:srgbClr val="2E74C6"/>
            </a:solidFill>
            <a:prstDash val="solid"/>
          </a:ln>
        </p:spPr>
      </p:sp>
      <p:sp>
        <p:nvSpPr>
          <p:cNvPr id="40" name="Shape 38"/>
          <p:cNvSpPr/>
          <p:nvPr/>
        </p:nvSpPr>
        <p:spPr>
          <a:xfrm flipH="1">
            <a:off x="8967521" y="3977640"/>
            <a:ext cx="4183380" cy="0"/>
          </a:xfrm>
          <a:prstGeom prst="line">
            <a:avLst/>
          </a:prstGeom>
          <a:noFill/>
          <a:ln w="22225">
            <a:solidFill>
              <a:srgbClr val="2E74C6"/>
            </a:solidFill>
            <a:prstDash val="solid"/>
          </a:ln>
        </p:spPr>
      </p:sp>
      <p:sp>
        <p:nvSpPr>
          <p:cNvPr id="41" name="Shape 39"/>
          <p:cNvSpPr/>
          <p:nvPr/>
        </p:nvSpPr>
        <p:spPr>
          <a:xfrm flipV="1">
            <a:off x="8967521" y="3703320"/>
            <a:ext cx="0" cy="274320"/>
          </a:xfrm>
          <a:prstGeom prst="line">
            <a:avLst/>
          </a:prstGeom>
          <a:noFill/>
          <a:ln w="22225">
            <a:solidFill>
              <a:srgbClr val="2E74C6"/>
            </a:solidFill>
            <a:prstDash val="solid"/>
            <a:tailEnd type="triangle"/>
          </a:ln>
        </p:spPr>
      </p:sp>
      <p:sp>
        <p:nvSpPr>
          <p:cNvPr id="42" name="Text 40"/>
          <p:cNvSpPr txBox="1"/>
          <p:nvPr/>
        </p:nvSpPr>
        <p:spPr>
          <a:xfrm>
            <a:off x="9744761" y="4014216"/>
            <a:ext cx="4206240" cy="292608"/>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반복 1, 3단계 진입 최대 6회</a:t>
            </a:r>
            <a:endParaRPr lang="en-US" sz="1400" dirty="0"/>
          </a:p>
        </p:txBody>
      </p:sp>
      <p:sp>
        <p:nvSpPr>
          <p:cNvPr id="43" name="Shape 41"/>
          <p:cNvSpPr/>
          <p:nvPr/>
        </p:nvSpPr>
        <p:spPr>
          <a:xfrm>
            <a:off x="8007401" y="3703320"/>
            <a:ext cx="0" cy="548640"/>
          </a:xfrm>
          <a:prstGeom prst="line">
            <a:avLst/>
          </a:prstGeom>
          <a:noFill/>
          <a:ln w="22225">
            <a:solidFill>
              <a:srgbClr val="2E74C6"/>
            </a:solidFill>
            <a:prstDash val="solid"/>
            <a:tailEnd type="triangle"/>
          </a:ln>
        </p:spPr>
      </p:sp>
      <p:sp>
        <p:nvSpPr>
          <p:cNvPr id="44" name="Text 42"/>
          <p:cNvSpPr txBox="1"/>
          <p:nvPr/>
        </p:nvSpPr>
        <p:spPr>
          <a:xfrm>
            <a:off x="6937553" y="3813048"/>
            <a:ext cx="1005840" cy="292608"/>
          </a:xfrm>
          <a:prstGeom prst="rect">
            <a:avLst/>
          </a:prstGeom>
          <a:noFill/>
          <a:ln/>
        </p:spPr>
        <p:txBody>
          <a:bodyPr wrap="square" lIns="0" tIns="0" rIns="0" bIns="0" rtlCol="0" anchor="ctr"/>
          <a:lstStyle/>
          <a:p>
            <a:pPr algn="r" indent="0" marL="0">
              <a:buNone/>
            </a:pPr>
            <a:r>
              <a:rPr lang="en-US" sz="1400" b="1" dirty="0">
                <a:solidFill>
                  <a:srgbClr val="2E74C6"/>
                </a:solidFill>
                <a:latin typeface="Pretendard" pitchFamily="34" charset="0"/>
                <a:ea typeface="Pretendard" pitchFamily="34" charset="-122"/>
                <a:cs typeface="Pretendard" pitchFamily="34" charset="-120"/>
              </a:rPr>
              <a:t>수집 종료</a:t>
            </a:r>
            <a:endParaRPr lang="en-US" sz="1400" dirty="0"/>
          </a:p>
        </p:txBody>
      </p:sp>
      <p:sp>
        <p:nvSpPr>
          <p:cNvPr id="45" name="Shape 43"/>
          <p:cNvSpPr/>
          <p:nvPr/>
        </p:nvSpPr>
        <p:spPr>
          <a:xfrm>
            <a:off x="9470441" y="4617720"/>
            <a:ext cx="365760" cy="0"/>
          </a:xfrm>
          <a:prstGeom prst="line">
            <a:avLst/>
          </a:prstGeom>
          <a:noFill/>
          <a:ln w="22225">
            <a:solidFill>
              <a:srgbClr val="2E74C6"/>
            </a:solidFill>
            <a:prstDash val="solid"/>
            <a:tailEnd type="triangle"/>
          </a:ln>
        </p:spPr>
      </p:sp>
      <p:sp>
        <p:nvSpPr>
          <p:cNvPr id="46" name="Shape 44"/>
          <p:cNvSpPr/>
          <p:nvPr/>
        </p:nvSpPr>
        <p:spPr>
          <a:xfrm>
            <a:off x="11802161" y="4617720"/>
            <a:ext cx="365760" cy="0"/>
          </a:xfrm>
          <a:prstGeom prst="line">
            <a:avLst/>
          </a:prstGeom>
          <a:noFill/>
          <a:ln w="22225">
            <a:solidFill>
              <a:srgbClr val="2E74C6"/>
            </a:solidFill>
            <a:prstDash val="solid"/>
            <a:tailEnd type="triangle"/>
          </a:ln>
        </p:spPr>
      </p:sp>
      <p:sp>
        <p:nvSpPr>
          <p:cNvPr id="47" name="Shape 45"/>
          <p:cNvSpPr/>
          <p:nvPr/>
        </p:nvSpPr>
        <p:spPr>
          <a:xfrm>
            <a:off x="10819181" y="4983480"/>
            <a:ext cx="0" cy="457200"/>
          </a:xfrm>
          <a:prstGeom prst="line">
            <a:avLst/>
          </a:prstGeom>
          <a:noFill/>
          <a:ln w="22225">
            <a:solidFill>
              <a:srgbClr val="2E74C6"/>
            </a:solidFill>
            <a:prstDash val="solid"/>
            <a:tailEnd type="triangle"/>
          </a:ln>
        </p:spPr>
      </p:sp>
      <p:sp>
        <p:nvSpPr>
          <p:cNvPr id="48" name="Text 46"/>
          <p:cNvSpPr txBox="1"/>
          <p:nvPr/>
        </p:nvSpPr>
        <p:spPr>
          <a:xfrm>
            <a:off x="10892333" y="5065776"/>
            <a:ext cx="1463040" cy="292608"/>
          </a:xfrm>
          <a:prstGeom prst="rect">
            <a:avLst/>
          </a:prstGeom>
          <a:noFill/>
          <a:ln/>
        </p:spPr>
        <p:txBody>
          <a:bodyPr wrap="square" lIns="0" tIns="0" rIns="0" bIns="0" rtlCol="0" anchor="ctr"/>
          <a:lstStyle/>
          <a:p>
            <a:pPr algn="l" indent="0" marL="0">
              <a:buNone/>
            </a:pPr>
            <a:r>
              <a:rPr lang="en-US" sz="1400" b="1" dirty="0">
                <a:solidFill>
                  <a:srgbClr val="2E74C6"/>
                </a:solidFill>
                <a:latin typeface="Pretendard" pitchFamily="34" charset="0"/>
                <a:ea typeface="Pretendard" pitchFamily="34" charset="-122"/>
                <a:cs typeface="Pretendard" pitchFamily="34" charset="-120"/>
              </a:rPr>
              <a:t>답변 생성 켬</a:t>
            </a:r>
            <a:endParaRPr lang="en-US" sz="1400" dirty="0"/>
          </a:p>
        </p:txBody>
      </p:sp>
      <p:sp>
        <p:nvSpPr>
          <p:cNvPr id="49" name="Shape 47"/>
          <p:cNvSpPr/>
          <p:nvPr/>
        </p:nvSpPr>
        <p:spPr>
          <a:xfrm flipH="1">
            <a:off x="9470441" y="5687568"/>
            <a:ext cx="365760" cy="0"/>
          </a:xfrm>
          <a:prstGeom prst="line">
            <a:avLst/>
          </a:prstGeom>
          <a:noFill/>
          <a:ln w="22225">
            <a:solidFill>
              <a:srgbClr val="2E74C6"/>
            </a:solidFill>
            <a:prstDash val="solid"/>
            <a:tailEnd type="triangle"/>
          </a:ln>
        </p:spPr>
      </p:sp>
      <p:sp>
        <p:nvSpPr>
          <p:cNvPr id="50" name="Shape 48"/>
          <p:cNvSpPr/>
          <p:nvPr/>
        </p:nvSpPr>
        <p:spPr>
          <a:xfrm>
            <a:off x="9470441" y="6016752"/>
            <a:ext cx="365760" cy="0"/>
          </a:xfrm>
          <a:prstGeom prst="line">
            <a:avLst/>
          </a:prstGeom>
          <a:noFill/>
          <a:ln w="22225">
            <a:solidFill>
              <a:srgbClr val="2E74C6"/>
            </a:solidFill>
            <a:prstDash val="dash"/>
            <a:tailEnd type="triangle"/>
          </a:ln>
        </p:spPr>
      </p:sp>
      <p:sp>
        <p:nvSpPr>
          <p:cNvPr id="51" name="Text 49"/>
          <p:cNvSpPr txBox="1"/>
          <p:nvPr/>
        </p:nvSpPr>
        <p:spPr>
          <a:xfrm>
            <a:off x="7504481" y="6309360"/>
            <a:ext cx="4297680" cy="292608"/>
          </a:xfrm>
          <a:prstGeom prst="rect">
            <a:avLst/>
          </a:prstGeom>
          <a:noFill/>
          <a:ln/>
        </p:spPr>
        <p:txBody>
          <a:bodyPr wrap="square" lIns="0" tIns="0" rIns="0" bIns="0" rtlCol="0" anchor="ctr"/>
          <a:lstStyle/>
          <a:p>
            <a:pPr algn="ctr" indent="0" marL="0">
              <a:buNone/>
            </a:pPr>
            <a:r>
              <a:rPr lang="en-US" sz="1400" b="1" dirty="0">
                <a:solidFill>
                  <a:srgbClr val="2E74C6"/>
                </a:solidFill>
                <a:latin typeface="Pretendard" pitchFamily="34" charset="0"/>
                <a:ea typeface="Pretendard" pitchFamily="34" charset="-122"/>
                <a:cs typeface="Pretendard" pitchFamily="34" charset="-120"/>
              </a:rPr>
              <a:t>반복 2, 재작성 최대 2회</a:t>
            </a:r>
            <a:endParaRPr lang="en-US" sz="1400" dirty="0"/>
          </a:p>
        </p:txBody>
      </p:sp>
      <p:sp>
        <p:nvSpPr>
          <p:cNvPr id="52" name="Shape 50"/>
          <p:cNvSpPr/>
          <p:nvPr/>
        </p:nvSpPr>
        <p:spPr>
          <a:xfrm flipH="1">
            <a:off x="7138721" y="5852160"/>
            <a:ext cx="365760" cy="0"/>
          </a:xfrm>
          <a:prstGeom prst="line">
            <a:avLst/>
          </a:prstGeom>
          <a:noFill/>
          <a:ln w="22225">
            <a:solidFill>
              <a:srgbClr val="2E74C6"/>
            </a:solidFill>
            <a:prstDash val="solid"/>
            <a:tailEnd type="triangle"/>
          </a:ln>
        </p:spPr>
      </p:sp>
      <p:sp>
        <p:nvSpPr>
          <p:cNvPr id="53" name="Shape 51"/>
          <p:cNvSpPr/>
          <p:nvPr/>
        </p:nvSpPr>
        <p:spPr>
          <a:xfrm>
            <a:off x="11802161" y="5852160"/>
            <a:ext cx="365760" cy="0"/>
          </a:xfrm>
          <a:prstGeom prst="line">
            <a:avLst/>
          </a:prstGeom>
          <a:noFill/>
          <a:ln w="22225">
            <a:solidFill>
              <a:srgbClr val="2E74C6"/>
            </a:solidFill>
            <a:prstDash val="solid"/>
            <a:tailEnd type="triangle"/>
          </a:ln>
        </p:spPr>
      </p:sp>
      <p:sp>
        <p:nvSpPr>
          <p:cNvPr id="54" name="Shape 52"/>
          <p:cNvSpPr/>
          <p:nvPr/>
        </p:nvSpPr>
        <p:spPr>
          <a:xfrm>
            <a:off x="509321" y="6894576"/>
            <a:ext cx="384048" cy="256032"/>
          </a:xfrm>
          <a:prstGeom prst="roundRect">
            <a:avLst>
              <a:gd name="adj" fmla="val 17857"/>
            </a:avLst>
          </a:prstGeom>
          <a:solidFill>
            <a:srgbClr val="2E74C6"/>
          </a:solidFill>
          <a:ln/>
        </p:spPr>
      </p:sp>
      <p:sp>
        <p:nvSpPr>
          <p:cNvPr id="55" name="Text 53"/>
          <p:cNvSpPr txBox="1"/>
          <p:nvPr/>
        </p:nvSpPr>
        <p:spPr>
          <a:xfrm>
            <a:off x="984809"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56" name="Shape 54"/>
          <p:cNvSpPr/>
          <p:nvPr/>
        </p:nvSpPr>
        <p:spPr>
          <a:xfrm>
            <a:off x="2722169" y="6894576"/>
            <a:ext cx="384048" cy="256032"/>
          </a:xfrm>
          <a:prstGeom prst="roundRect">
            <a:avLst>
              <a:gd name="adj" fmla="val 17857"/>
            </a:avLst>
          </a:prstGeom>
          <a:solidFill>
            <a:srgbClr val="404155"/>
          </a:solidFill>
          <a:ln/>
        </p:spPr>
      </p:sp>
      <p:sp>
        <p:nvSpPr>
          <p:cNvPr id="57" name="Text 55"/>
          <p:cNvSpPr txBox="1"/>
          <p:nvPr/>
        </p:nvSpPr>
        <p:spPr>
          <a:xfrm>
            <a:off x="3197657"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58" name="Shape 56"/>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sp>
      <p:sp>
        <p:nvSpPr>
          <p:cNvPr id="59" name="Text 57"/>
          <p:cNvSpPr txBox="1"/>
          <p:nvPr/>
        </p:nvSpPr>
        <p:spPr>
          <a:xfrm>
            <a:off x="5410505"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60" name="Shape 58"/>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sp>
      <p:sp>
        <p:nvSpPr>
          <p:cNvPr id="61" name="Text 59"/>
          <p:cNvSpPr txBox="1"/>
          <p:nvPr/>
        </p:nvSpPr>
        <p:spPr>
          <a:xfrm>
            <a:off x="7623353"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62" name="Shape 60"/>
          <p:cNvSpPr/>
          <p:nvPr/>
        </p:nvSpPr>
        <p:spPr>
          <a:xfrm>
            <a:off x="9360713" y="6894576"/>
            <a:ext cx="384048" cy="256032"/>
          </a:xfrm>
          <a:prstGeom prst="roundRect">
            <a:avLst>
              <a:gd name="adj" fmla="val 17857"/>
            </a:avLst>
          </a:prstGeom>
          <a:solidFill>
            <a:srgbClr val="FFFFFF"/>
          </a:solidFill>
          <a:ln w="15875">
            <a:solidFill>
              <a:srgbClr val="7C8598"/>
            </a:solidFill>
            <a:prstDash val="dash"/>
          </a:ln>
        </p:spPr>
      </p:sp>
      <p:sp>
        <p:nvSpPr>
          <p:cNvPr id="63" name="Text 61"/>
          <p:cNvSpPr txBox="1"/>
          <p:nvPr/>
        </p:nvSpPr>
        <p:spPr>
          <a:xfrm>
            <a:off x="9836201"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종료 상태</a:t>
            </a:r>
            <a:endParaRPr lang="en-US" sz="1400" dirty="0"/>
          </a:p>
        </p:txBody>
      </p:sp>
      <p:sp>
        <p:nvSpPr>
          <p:cNvPr id="64" name="Shape 6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65" name="Text 6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66" name="Shape 64"/>
          <p:cNvSpPr/>
          <p:nvPr/>
        </p:nvSpPr>
        <p:spPr>
          <a:xfrm>
            <a:off x="509321" y="7388352"/>
            <a:ext cx="13624560" cy="0"/>
          </a:xfrm>
          <a:prstGeom prst="line">
            <a:avLst/>
          </a:prstGeom>
          <a:noFill/>
          <a:ln w="12700">
            <a:solidFill>
              <a:srgbClr val="E9ECF3"/>
            </a:solidFill>
            <a:prstDash val="solid"/>
          </a:ln>
        </p:spPr>
      </p:sp>
      <p:sp>
        <p:nvSpPr>
          <p:cNvPr id="67" name="Text 6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1장, 벡터 검색 Agentic 워크플로우(교재)</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벡터 검색과 달라진 점: 뼈대는 같고, 검색 모드와 리랭킹이 더해짐</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단계 순서와 반복 상한은 그대로 두고, 검색에 그래프를 쓰는 데 필요한 일만 덧붙임</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926080"/>
                <a:gridCol w="3291840"/>
                <a:gridCol w="7406640"/>
              </a:tblGrid>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벡터 검색</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GraphRAG Agentic</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달라진 점</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요청 접수</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1</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활성 세대와 커뮤니티 보고서 유무를 처음에 고정</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질문 분석, 계획</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2</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검색 모드(local, global)를 정함. 둘 다 검색엔진 + 그래프라 이미 하이브리드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다음 행동 선택</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3</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채점 신호를 보고 모드를 바꿈</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문서 검색</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4 검색</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서브 워크플로우 3개: 검색엔진 검색(O), Local 검색(L), Global 검색(G)</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결과 채점</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5</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모드별 통과 기준과 「왜 부족한지」 진단 신호</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질문 변환</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6</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다시 쓰기와 분해만. Follow-up 질문은 Global 검색(G2)에서 만듦</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(없음)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7 리랭킹</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모은 근거 전체를 원 질문 기준으로 다시 줄 세움</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수집 종료 판정 ~ 종료</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8 ~ 11</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「답이 없는 질문」 종료, 보고서 인용 규칙</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6" name="Text 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sp>
      <p:sp>
        <p:nvSpPr>
          <p:cNvPr id="8" name="Text 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0장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2단계 검색 모드 결정: 규칙 신호를 먼저 보고, 남는 판단만 LLM이 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모드는 local과 global 둘뿐이며, 확신이 낮으면 local로 시작해 뒤에서 조정할 여지를 남김</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011680"/>
                <a:gridCol w="5852160"/>
                <a:gridCol w="5760720"/>
              </a:tblGrid>
              <a:tr h="45720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모드</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고르는 경우</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하는 일</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7772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local</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카드, 조항, 회원, 금액 같은 사실. 확신이 낮을 때 기본값</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Local 검색 L1 ~ L4</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77240">
                <a:tc>
                  <a:txBody>
                    <a:bodyPr/>
                    <a:lstStyle/>
                    <a:p>
                      <a:pPr indent="0" marL="0">
                        <a:buNone/>
                      </a:pPr>
                      <a:r>
                        <a:rPr lang="en-US" sz="1600" b="1" dirty="0">
                          <a:solidFill>
                            <a:srgbClr val="1E2A5C"/>
                          </a:solidFill>
                          <a:latin typeface="Pretendard" pitchFamily="34" charset="0"/>
                          <a:ea typeface="Pretendard" pitchFamily="34" charset="-122"/>
                          <a:cs typeface="Pretendard" pitchFamily="34" charset="-120"/>
                        </a:rPr>
                        <a:t>global</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여러 문서의 경향, 공통점, 주제 나누기. 경향과 근거 사실을 함께 물을 때도</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600" dirty="0">
                          <a:solidFill>
                            <a:srgbClr val="2B3242"/>
                          </a:solidFill>
                          <a:latin typeface="Pretendard" pitchFamily="34" charset="0"/>
                          <a:ea typeface="Pretendard" pitchFamily="34" charset="-122"/>
                          <a:cs typeface="Pretendard" pitchFamily="34" charset="-120"/>
                        </a:rPr>
                        <a:t>Global 검색 G1 ~ G3</a:t>
                      </a:r>
                      <a:endParaRPr lang="en-US" sz="16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509321" y="3977640"/>
            <a:ext cx="13624560" cy="2743200"/>
          </a:xfrm>
          <a:prstGeom prst="roundRect">
            <a:avLst>
              <a:gd name="adj" fmla="val 3333"/>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200" b="1" dirty="0">
                <a:solidFill>
                  <a:srgbClr val="1E2A5C"/>
                </a:solidFill>
                <a:latin typeface="Pretendard" pitchFamily="34" charset="0"/>
                <a:ea typeface="Pretendard" pitchFamily="34" charset="-122"/>
                <a:cs typeface="Pretendard" pitchFamily="34" charset="-120"/>
              </a:rPr>
              <a:t>규칙 신호와 식별자</a:t>
            </a:r>
            <a:endParaRPr lang="en-US" sz="2200" dirty="0"/>
          </a:p>
          <a:p>
            <a:pPr algn="l" marL="228600" indent="-228600">
              <a:spcAft>
                <a:spcPts val="1000"/>
              </a:spcAft>
              <a:buSzPct val="100000"/>
              <a:buChar char="•"/>
            </a:pPr>
            <a:r>
              <a:rPr lang="en-US" sz="1900" dirty="0">
                <a:solidFill>
                  <a:srgbClr val="2B3242"/>
                </a:solidFill>
                <a:latin typeface="Pretendard" pitchFamily="34" charset="0"/>
                <a:ea typeface="Pretendard" pitchFamily="34" charset="-122"/>
                <a:cs typeface="Pretendard" pitchFamily="34" charset="-120"/>
              </a:rPr>
              <a:t>회원번호, 카드명, 조항 번호 → local. 「주제별」, 「공통점」, 「경향」, 「고객군별」 → global</a:t>
            </a:r>
            <a:endParaRPr lang="en-US" sz="2200" dirty="0"/>
          </a:p>
          <a:p>
            <a:pPr algn="l" marL="228600" indent="-228600">
              <a:spcAft>
                <a:spcPts val="1000"/>
              </a:spcAft>
              <a:buSzPct val="100000"/>
              <a:buChar char="•"/>
            </a:pPr>
            <a:r>
              <a:rPr lang="en-US" sz="1900" dirty="0">
                <a:solidFill>
                  <a:srgbClr val="2B3242"/>
                </a:solidFill>
                <a:latin typeface="Pretendard" pitchFamily="34" charset="0"/>
                <a:ea typeface="Pretendard" pitchFamily="34" charset="-122"/>
                <a:cs typeface="Pretendard" pitchFamily="34" charset="-120"/>
              </a:rPr>
              <a:t>회원번호 → 가명 id, 카드명 → card_id로 바꿔 두 저장소의 메타데이터 필터로만 씀(상담 본문에 회원번호가 없음)</a:t>
            </a:r>
            <a:endParaRPr lang="en-US" sz="2200" dirty="0"/>
          </a:p>
          <a:p>
            <a:pPr algn="l" marL="228600" indent="-228600">
              <a:spcAft>
                <a:spcPts val="1000"/>
              </a:spcAft>
              <a:buSzPct val="100000"/>
              <a:buChar char="•"/>
            </a:pPr>
            <a:r>
              <a:rPr lang="en-US" sz="1900" dirty="0">
                <a:solidFill>
                  <a:srgbClr val="2B3242"/>
                </a:solidFill>
                <a:latin typeface="Pretendard" pitchFamily="34" charset="0"/>
                <a:ea typeface="Pretendard" pitchFamily="34" charset="-122"/>
                <a:cs typeface="Pretendard" pitchFamily="34" charset="-120"/>
              </a:rPr>
              <a:t>보고서가 없는 세대면 global을 고르지 않음</a:t>
            </a:r>
            <a:endParaRPr lang="en-US" sz="2200" dirty="0"/>
          </a:p>
          <a:p>
            <a:pPr algn="l" marL="228600" indent="-228600">
              <a:spcAft>
                <a:spcPts val="1000"/>
              </a:spcAft>
              <a:buSzPct val="100000"/>
              <a:buChar char="•"/>
            </a:pPr>
            <a:r>
              <a:rPr lang="en-US" sz="1900" dirty="0">
                <a:solidFill>
                  <a:srgbClr val="2B3242"/>
                </a:solidFill>
                <a:latin typeface="Pretendard" pitchFamily="34" charset="0"/>
                <a:ea typeface="Pretendard" pitchFamily="34" charset="-122"/>
                <a:cs typeface="Pretendard" pitchFamily="34" charset="-120"/>
              </a:rPr>
              <a:t>이 실습의 local과 global은 자체 검색 모드임. Global은 Microsoft Global Search(map-reduce)와 다르고, DRIFT와 닮았지만 같지 않음</a:t>
            </a:r>
            <a:endParaRPr lang="en-US" sz="2200" dirty="0"/>
          </a:p>
        </p:txBody>
      </p:sp>
      <p:sp>
        <p:nvSpPr>
          <p:cNvPr id="6" name="Shape 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7" name="Text 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8" name="Shape 5"/>
          <p:cNvSpPr/>
          <p:nvPr/>
        </p:nvSpPr>
        <p:spPr>
          <a:xfrm>
            <a:off x="509321" y="7388352"/>
            <a:ext cx="13624560" cy="0"/>
          </a:xfrm>
          <a:prstGeom prst="line">
            <a:avLst/>
          </a:prstGeom>
          <a:noFill/>
          <a:ln w="12700">
            <a:solidFill>
              <a:srgbClr val="E9ECF3"/>
            </a:solidFill>
            <a:prstDash val="solid"/>
          </a:ln>
        </p:spPr>
      </p:sp>
      <p:sp>
        <p:nvSpPr>
          <p:cNvPr id="9" name="Text 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0장, 2-1절. Microsoft GraphRAG 검색 방식 개요와 DRIFT 문서</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5단계 채점과 진단 신호: 점수와 함께 「왜 부족한지」를 알려 줌</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관련도는 질문과 보고서 요약 임베딩의 코사인 유사도이며, 기준값은 모두 평가셋으로 조정할 가정값임</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926080"/>
                <a:gridCol w="6766560"/>
                <a:gridCol w="3931920"/>
              </a:tblGrid>
              <a:tr h="41148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신호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판정 규칙(가정값)</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뜻</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PASS(local)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핵심어 포함률 0.6 이상, 원문 2개 이상, 식별자 메타데이터 일치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사실 근거 충분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PASS(global)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관련도 0.35 이상 보고서 2개 이상, 주제마다 원문 1개 이상</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경향과 근거 충분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NO_COOCCUR</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핵심 명사 두 개가 한 문장에 함께 나온 근거 0건(global은 주제마다)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함께 언급된 근거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NO_SEED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검색엔진 검색 결과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낱말이 색인과 안 맞음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LOW_COVERAGE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포함률 0.6 미만, 또는 청크 엔티티 3개 미만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질문의 일부만 근거 있음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SCATTERED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원문 4개가 문서 3종 이상, 포함률 0.6 미만(필터 질의 제외)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질문이 넓음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NO_REPORTS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보고서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보고서 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OFF_TOPIC_REPORTS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보고서는 있는데 관련도 최댓값 0.25 미만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보고서 주제가 어긋남</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ID_MISMATCH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필터 밖 근거가 섞임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다른 회원이나 카드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448056">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NO_NEW</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새 근거 0건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더 찾아도 소용없음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6" name="Text 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sp>
      <p:sp>
        <p:nvSpPr>
          <p:cNvPr id="8" name="Text 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2-2절, 지식니 실측(청크 260개, 보고서 78개)</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3단계 모드 조정: 신호에 따라 다음 행동을 고르고, 금지 규칙으로 맴돌지 않게 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계획대로 가는 일은 규칙으로 정하고, 신호가 겹치거나 표에 없을 때만 LLM이 정해진 행동 중 하나를 고름</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0515600" cy="914400"/>
        </p:xfrm>
        <a:graphic>
          <a:graphicData uri="http://schemas.openxmlformats.org/drawingml/2006/table">
            <a:tbl>
              <a:tblPr/>
              <a:tblGrid>
                <a:gridCol w="2743200"/>
                <a:gridCol w="1463040"/>
                <a:gridCol w="6309360"/>
              </a:tblGrid>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신호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지금 모드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3단계 행동</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PASS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아무 모드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수집 종료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NO_COOCCUR</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 global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 분해 → 하위 질문별 local, 원 질문 기준 재확인, 남으면 종료. global: 그 주제만 미확인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NO_SEED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질문 다시 쓰기 → 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LOW_COVERAGE</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복합 질문: 분해 → 하위 질문별 local. 단순 질문: 다시 쓰기 → 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SCATTERED</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global로 전환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NO_REPORTS, OFF_TOPIC_REPORTS</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global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처음부터 global: local로 전환. local에서 전환해 옴: 수집 종료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ID_MISMATCH</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 global</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local: 필터 강화 재검색 1회. 그 뒤나 global: 필터 밖 근거를 지우고 수집 종료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4864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NO_NEW</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아무 모드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수집 종료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11299241" y="1737360"/>
            <a:ext cx="2834640" cy="4983480"/>
          </a:xfrm>
          <a:prstGeom prst="roundRect">
            <a:avLst>
              <a:gd name="adj" fmla="val 3226"/>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금지 규칙(우선)</a:t>
            </a:r>
            <a:endParaRPr lang="en-US" sz="2100" dirty="0"/>
          </a:p>
          <a:p>
            <a:pPr algn="l" marL="228600" indent="-228600">
              <a:spcAft>
                <a:spcPts val="1000"/>
              </a:spcAft>
              <a:buSzPct val="100000"/>
              <a:buChar char="•"/>
            </a:pPr>
            <a:r>
              <a:rPr lang="en-US" sz="1800" dirty="0">
                <a:solidFill>
                  <a:srgbClr val="2B3242"/>
                </a:solidFill>
                <a:latin typeface="Pretendard" pitchFamily="34" charset="0"/>
                <a:ea typeface="Pretendard" pitchFamily="34" charset="-122"/>
                <a:cs typeface="Pretendard" pitchFamily="34" charset="-120"/>
              </a:rPr>
              <a:t>같은 모드, 질의, 필터 조합은 두 번 검색하지 않음</a:t>
            </a:r>
            <a:endParaRPr lang="en-US" sz="2100" dirty="0"/>
          </a:p>
          <a:p>
            <a:pPr algn="l" marL="228600" indent="-228600">
              <a:spcAft>
                <a:spcPts val="1000"/>
              </a:spcAft>
              <a:buSzPct val="100000"/>
              <a:buChar char="•"/>
            </a:pPr>
            <a:r>
              <a:rPr lang="en-US" sz="1800" dirty="0">
                <a:solidFill>
                  <a:srgbClr val="2B3242"/>
                </a:solidFill>
                <a:latin typeface="Pretendard" pitchFamily="34" charset="0"/>
                <a:ea typeface="Pretendard" pitchFamily="34" charset="-122"/>
                <a:cs typeface="Pretendard" pitchFamily="34" charset="-120"/>
              </a:rPr>
              <a:t>global 검색 1번, 모드 전환 1번(반대 방향 금지)</a:t>
            </a:r>
            <a:endParaRPr lang="en-US" sz="2100" dirty="0"/>
          </a:p>
          <a:p>
            <a:pPr algn="l" marL="228600" indent="-228600">
              <a:spcAft>
                <a:spcPts val="1000"/>
              </a:spcAft>
              <a:buSzPct val="100000"/>
              <a:buChar char="•"/>
            </a:pPr>
            <a:r>
              <a:rPr lang="en-US" sz="1800" dirty="0">
                <a:solidFill>
                  <a:srgbClr val="2B3242"/>
                </a:solidFill>
                <a:latin typeface="Pretendard" pitchFamily="34" charset="0"/>
                <a:ea typeface="Pretendard" pitchFamily="34" charset="-122"/>
                <a:cs typeface="Pretendard" pitchFamily="34" charset="-120"/>
              </a:rPr>
              <a:t>질문 분해 1번, 필터 강화 재검색 1번, keep 1번</a:t>
            </a:r>
            <a:endParaRPr lang="en-US" sz="2100" dirty="0"/>
          </a:p>
          <a:p>
            <a:pPr algn="l" marL="228600" indent="-228600">
              <a:spcAft>
                <a:spcPts val="1000"/>
              </a:spcAft>
              <a:buSzPct val="100000"/>
              <a:buChar char="•"/>
            </a:pPr>
            <a:r>
              <a:rPr lang="en-US" sz="1800" dirty="0">
                <a:solidFill>
                  <a:srgbClr val="2B3242"/>
                </a:solidFill>
                <a:latin typeface="Pretendard" pitchFamily="34" charset="0"/>
                <a:ea typeface="Pretendard" pitchFamily="34" charset="-122"/>
                <a:cs typeface="Pretendard" pitchFamily="34" charset="-120"/>
              </a:rPr>
              <a:t>행동이 금지에 걸리면 수집 종료</a:t>
            </a:r>
            <a:endParaRPr lang="en-US" sz="2100" dirty="0"/>
          </a:p>
          <a:p>
            <a:pPr algn="l" marL="228600" indent="-228600">
              <a:spcAft>
                <a:spcPts val="1000"/>
              </a:spcAft>
              <a:buSzPct val="100000"/>
              <a:buChar char="•"/>
            </a:pPr>
            <a:r>
              <a:rPr lang="en-US" sz="1800" dirty="0">
                <a:solidFill>
                  <a:srgbClr val="2B3242"/>
                </a:solidFill>
                <a:latin typeface="Pretendard" pitchFamily="34" charset="0"/>
                <a:ea typeface="Pretendard" pitchFamily="34" charset="-122"/>
                <a:cs typeface="Pretendard" pitchFamily="34" charset="-120"/>
              </a:rPr>
              <a:t>G3의 Local 검색은 전환으로 세지 않음</a:t>
            </a:r>
            <a:endParaRPr lang="en-US" sz="2100" dirty="0"/>
          </a:p>
        </p:txBody>
      </p:sp>
      <p:sp>
        <p:nvSpPr>
          <p:cNvPr id="6" name="Shape 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7" name="Text 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8" name="Shape 5"/>
          <p:cNvSpPr/>
          <p:nvPr/>
        </p:nvSpPr>
        <p:spPr>
          <a:xfrm>
            <a:off x="509321" y="7388352"/>
            <a:ext cx="13624560" cy="0"/>
          </a:xfrm>
          <a:prstGeom prst="line">
            <a:avLst/>
          </a:prstGeom>
          <a:noFill/>
          <a:ln w="12700">
            <a:solidFill>
              <a:srgbClr val="E9ECF3"/>
            </a:solidFill>
            <a:prstDash val="solid"/>
          </a:ln>
        </p:spPr>
      </p:sp>
      <p:sp>
        <p:nvSpPr>
          <p:cNvPr id="9" name="Text 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2-3절, 플로니 검토(진동 방지)</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4단계 검색: 세 서브 워크플로우가 쌓이고, 바닥은 검색엔진 검색(O)</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Local 검색(L)이 검색엔진 검색(O)을 품고 Global 검색(G)이 Local 검색을 품으며, 셋 다 4단계 노드 안의 함수로 돌림</a:t>
            </a:r>
            <a:endParaRPr lang="en-US" sz="1800" dirty="0"/>
          </a:p>
        </p:txBody>
      </p:sp>
      <p:sp>
        <p:nvSpPr>
          <p:cNvPr id="4" name="Shape 2"/>
          <p:cNvSpPr/>
          <p:nvPr/>
        </p:nvSpPr>
        <p:spPr>
          <a:xfrm>
            <a:off x="509321" y="1737360"/>
            <a:ext cx="13624560" cy="475488"/>
          </a:xfrm>
          <a:prstGeom prst="roundRect">
            <a:avLst>
              <a:gd name="adj" fmla="val 15385"/>
            </a:avLst>
          </a:prstGeom>
          <a:solidFill>
            <a:srgbClr val="1E2A5C"/>
          </a:solidFill>
          <a:ln/>
        </p:spPr>
      </p:sp>
      <p:sp>
        <p:nvSpPr>
          <p:cNvPr id="5" name="Text 3"/>
          <p:cNvSpPr/>
          <p:nvPr/>
        </p:nvSpPr>
        <p:spPr>
          <a:xfrm>
            <a:off x="737921" y="1737360"/>
            <a:ext cx="13167360" cy="475488"/>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Global 검색(G)  </a:t>
            </a:r>
            <a:pPr indent="0" marL="0">
              <a:buNone/>
            </a:pPr>
            <a:r>
              <a:rPr lang="en-US" sz="1600" dirty="0">
                <a:solidFill>
                  <a:srgbClr val="FFFFFF"/>
                </a:solidFill>
                <a:latin typeface="Pretendard" pitchFamily="34" charset="0"/>
                <a:ea typeface="Pretendard" pitchFamily="34" charset="-122"/>
                <a:cs typeface="Pretendard" pitchFamily="34" charset="-120"/>
              </a:rPr>
              <a:t>G1 커뮤니티 검색 → G2 Follow-up 질문 → G3 Follow-up Local 검색</a:t>
            </a:r>
            <a:endParaRPr lang="en-US" sz="1800" dirty="0"/>
          </a:p>
        </p:txBody>
      </p:sp>
      <p:sp>
        <p:nvSpPr>
          <p:cNvPr id="6" name="Shape 4"/>
          <p:cNvSpPr/>
          <p:nvPr/>
        </p:nvSpPr>
        <p:spPr>
          <a:xfrm>
            <a:off x="1012241" y="2286000"/>
            <a:ext cx="12618720" cy="475488"/>
          </a:xfrm>
          <a:prstGeom prst="roundRect">
            <a:avLst>
              <a:gd name="adj" fmla="val 15385"/>
            </a:avLst>
          </a:prstGeom>
          <a:solidFill>
            <a:srgbClr val="2E74C6"/>
          </a:solidFill>
          <a:ln/>
        </p:spPr>
      </p:sp>
      <p:sp>
        <p:nvSpPr>
          <p:cNvPr id="7" name="Text 5"/>
          <p:cNvSpPr/>
          <p:nvPr/>
        </p:nvSpPr>
        <p:spPr>
          <a:xfrm>
            <a:off x="1240841" y="2286000"/>
            <a:ext cx="12161520" cy="475488"/>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Local 검색(L)  </a:t>
            </a:r>
            <a:pPr indent="0" marL="0">
              <a:buNone/>
            </a:pPr>
            <a:r>
              <a:rPr lang="en-US" sz="1600" dirty="0">
                <a:solidFill>
                  <a:srgbClr val="FFFFFF"/>
                </a:solidFill>
                <a:latin typeface="Pretendard" pitchFamily="34" charset="0"/>
                <a:ea typeface="Pretendard" pitchFamily="34" charset="-122"/>
                <a:cs typeface="Pretendard" pitchFamily="34" charset="-120"/>
              </a:rPr>
              <a:t>L1 검색엔진 검색 → L2 엔티티 축소 → L3 이웃 탐색 → L4 커뮤니티 탐색</a:t>
            </a:r>
            <a:endParaRPr lang="en-US" sz="1800" dirty="0"/>
          </a:p>
        </p:txBody>
      </p:sp>
      <p:sp>
        <p:nvSpPr>
          <p:cNvPr id="8" name="Shape 6"/>
          <p:cNvSpPr/>
          <p:nvPr/>
        </p:nvSpPr>
        <p:spPr>
          <a:xfrm>
            <a:off x="1515161" y="2834640"/>
            <a:ext cx="11612880" cy="475488"/>
          </a:xfrm>
          <a:prstGeom prst="roundRect">
            <a:avLst>
              <a:gd name="adj" fmla="val 15385"/>
            </a:avLst>
          </a:prstGeom>
          <a:solidFill>
            <a:srgbClr val="404155"/>
          </a:solidFill>
          <a:ln/>
        </p:spPr>
      </p:sp>
      <p:sp>
        <p:nvSpPr>
          <p:cNvPr id="9" name="Text 7"/>
          <p:cNvSpPr/>
          <p:nvPr/>
        </p:nvSpPr>
        <p:spPr>
          <a:xfrm>
            <a:off x="1743761" y="2834640"/>
            <a:ext cx="11155680" cy="475488"/>
          </a:xfrm>
          <a:prstGeom prst="rect">
            <a:avLst/>
          </a:prstGeom>
          <a:noFill/>
          <a:ln/>
        </p:spPr>
        <p:txBody>
          <a:bodyPr wrap="square" lIns="0" tIns="0" rIns="0" bIns="0" rtlCol="0" anchor="ctr"/>
          <a:lstStyle/>
          <a:p>
            <a:pPr indent="0" marL="0">
              <a:buNone/>
            </a:pPr>
            <a:r>
              <a:rPr lang="en-US" sz="1800" b="1" dirty="0">
                <a:solidFill>
                  <a:srgbClr val="FFFFFF"/>
                </a:solidFill>
                <a:latin typeface="Pretendard" pitchFamily="34" charset="0"/>
                <a:ea typeface="Pretendard" pitchFamily="34" charset="-122"/>
                <a:cs typeface="Pretendard" pitchFamily="34" charset="-120"/>
              </a:rPr>
              <a:t>검색엔진 검색(O)  </a:t>
            </a:r>
            <a:pPr indent="0" marL="0">
              <a:buNone/>
            </a:pPr>
            <a:r>
              <a:rPr lang="en-US" sz="1600" dirty="0">
                <a:solidFill>
                  <a:srgbClr val="FFFFFF"/>
                </a:solidFill>
                <a:latin typeface="Pretendard" pitchFamily="34" charset="0"/>
                <a:ea typeface="Pretendard" pitchFamily="34" charset="-122"/>
                <a:cs typeface="Pretendard" pitchFamily="34" charset="-120"/>
              </a:rPr>
              <a:t>O1 벡터 검색 + O2 BM25 검색 → O3 RRF → O4 리랭킹</a:t>
            </a:r>
            <a:endParaRPr lang="en-US" sz="1800" dirty="0"/>
          </a:p>
        </p:txBody>
      </p:sp>
      <p:sp>
        <p:nvSpPr>
          <p:cNvPr id="10" name="Shape 8"/>
          <p:cNvSpPr/>
          <p:nvPr/>
        </p:nvSpPr>
        <p:spPr>
          <a:xfrm>
            <a:off x="509321" y="3493008"/>
            <a:ext cx="13624560" cy="1481328"/>
          </a:xfrm>
          <a:prstGeom prst="roundRect">
            <a:avLst>
              <a:gd name="adj" fmla="val 6173"/>
            </a:avLst>
          </a:prstGeom>
          <a:solidFill>
            <a:srgbClr val="F5F8FC"/>
          </a:solidFill>
          <a:ln w="12700">
            <a:solidFill>
              <a:srgbClr val="D9E0EC"/>
            </a:solidFill>
            <a:prstDash val="solid"/>
          </a:ln>
        </p:spPr>
      </p:sp>
      <p:sp>
        <p:nvSpPr>
          <p:cNvPr id="11" name="Text 9"/>
          <p:cNvSpPr/>
          <p:nvPr/>
        </p:nvSpPr>
        <p:spPr>
          <a:xfrm>
            <a:off x="619049" y="3602736"/>
            <a:ext cx="2011680" cy="1261872"/>
          </a:xfrm>
          <a:prstGeom prst="roundRect">
            <a:avLst>
              <a:gd name="adj" fmla="val 5797"/>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검색엔진 검색(O)</a:t>
            </a:r>
            <a:endParaRPr lang="en-US" sz="1800" dirty="0"/>
          </a:p>
        </p:txBody>
      </p:sp>
      <p:sp>
        <p:nvSpPr>
          <p:cNvPr id="12" name="Shape 10"/>
          <p:cNvSpPr/>
          <p:nvPr/>
        </p:nvSpPr>
        <p:spPr>
          <a:xfrm>
            <a:off x="2630729" y="4105656"/>
            <a:ext cx="164592" cy="0"/>
          </a:xfrm>
          <a:prstGeom prst="line">
            <a:avLst/>
          </a:prstGeom>
          <a:noFill/>
          <a:ln w="22225">
            <a:solidFill>
              <a:srgbClr val="2E74C6"/>
            </a:solidFill>
            <a:prstDash val="solid"/>
          </a:ln>
        </p:spPr>
      </p:sp>
      <p:sp>
        <p:nvSpPr>
          <p:cNvPr id="13" name="Shape 11"/>
          <p:cNvSpPr/>
          <p:nvPr/>
        </p:nvSpPr>
        <p:spPr>
          <a:xfrm>
            <a:off x="2795321" y="3831336"/>
            <a:ext cx="0" cy="548640"/>
          </a:xfrm>
          <a:prstGeom prst="line">
            <a:avLst/>
          </a:prstGeom>
          <a:noFill/>
          <a:ln w="22225">
            <a:solidFill>
              <a:srgbClr val="2E74C6"/>
            </a:solidFill>
            <a:prstDash val="solid"/>
          </a:ln>
        </p:spPr>
      </p:sp>
      <p:sp>
        <p:nvSpPr>
          <p:cNvPr id="14" name="Shape 12"/>
          <p:cNvSpPr/>
          <p:nvPr/>
        </p:nvSpPr>
        <p:spPr>
          <a:xfrm>
            <a:off x="2795321" y="3831336"/>
            <a:ext cx="228600" cy="0"/>
          </a:xfrm>
          <a:prstGeom prst="line">
            <a:avLst/>
          </a:prstGeom>
          <a:noFill/>
          <a:ln w="22225">
            <a:solidFill>
              <a:srgbClr val="2E74C6"/>
            </a:solidFill>
            <a:prstDash val="solid"/>
            <a:tailEnd type="triangle"/>
          </a:ln>
        </p:spPr>
      </p:sp>
      <p:sp>
        <p:nvSpPr>
          <p:cNvPr id="15" name="Shape 13"/>
          <p:cNvSpPr/>
          <p:nvPr/>
        </p:nvSpPr>
        <p:spPr>
          <a:xfrm>
            <a:off x="2795321" y="4379976"/>
            <a:ext cx="228600" cy="0"/>
          </a:xfrm>
          <a:prstGeom prst="line">
            <a:avLst/>
          </a:prstGeom>
          <a:noFill/>
          <a:ln w="22225">
            <a:solidFill>
              <a:srgbClr val="2E74C6"/>
            </a:solidFill>
            <a:prstDash val="solid"/>
            <a:tailEnd type="triangle"/>
          </a:ln>
        </p:spPr>
      </p:sp>
      <p:sp>
        <p:nvSpPr>
          <p:cNvPr id="16" name="Text 14"/>
          <p:cNvSpPr/>
          <p:nvPr/>
        </p:nvSpPr>
        <p:spPr>
          <a:xfrm>
            <a:off x="3023921" y="3602736"/>
            <a:ext cx="3200400" cy="457200"/>
          </a:xfrm>
          <a:prstGeom prst="roundRect">
            <a:avLst>
              <a:gd name="adj" fmla="val 240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O1 벡터 검색 → 최대 25</a:t>
            </a:r>
            <a:endParaRPr lang="en-US" sz="1800" dirty="0"/>
          </a:p>
        </p:txBody>
      </p:sp>
      <p:sp>
        <p:nvSpPr>
          <p:cNvPr id="17" name="Text 15"/>
          <p:cNvSpPr/>
          <p:nvPr/>
        </p:nvSpPr>
        <p:spPr>
          <a:xfrm>
            <a:off x="3023921" y="4151376"/>
            <a:ext cx="3200400" cy="457200"/>
          </a:xfrm>
          <a:prstGeom prst="roundRect">
            <a:avLst>
              <a:gd name="adj" fmla="val 24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O2 BM25 검색 → 최대 25</a:t>
            </a:r>
            <a:endParaRPr lang="en-US" sz="1800" dirty="0"/>
          </a:p>
        </p:txBody>
      </p:sp>
      <p:sp>
        <p:nvSpPr>
          <p:cNvPr id="18" name="Shape 16"/>
          <p:cNvSpPr/>
          <p:nvPr/>
        </p:nvSpPr>
        <p:spPr>
          <a:xfrm>
            <a:off x="6224321" y="3831336"/>
            <a:ext cx="251460" cy="0"/>
          </a:xfrm>
          <a:prstGeom prst="line">
            <a:avLst/>
          </a:prstGeom>
          <a:noFill/>
          <a:ln w="22225">
            <a:solidFill>
              <a:srgbClr val="2E74C6"/>
            </a:solidFill>
            <a:prstDash val="solid"/>
          </a:ln>
        </p:spPr>
      </p:sp>
      <p:sp>
        <p:nvSpPr>
          <p:cNvPr id="19" name="Shape 17"/>
          <p:cNvSpPr/>
          <p:nvPr/>
        </p:nvSpPr>
        <p:spPr>
          <a:xfrm>
            <a:off x="6224321" y="4379976"/>
            <a:ext cx="251460" cy="0"/>
          </a:xfrm>
          <a:prstGeom prst="line">
            <a:avLst/>
          </a:prstGeom>
          <a:noFill/>
          <a:ln w="22225">
            <a:solidFill>
              <a:srgbClr val="2E74C6"/>
            </a:solidFill>
            <a:prstDash val="solid"/>
          </a:ln>
        </p:spPr>
      </p:sp>
      <p:sp>
        <p:nvSpPr>
          <p:cNvPr id="20" name="Shape 18"/>
          <p:cNvSpPr/>
          <p:nvPr/>
        </p:nvSpPr>
        <p:spPr>
          <a:xfrm>
            <a:off x="6475781" y="3831336"/>
            <a:ext cx="0" cy="548640"/>
          </a:xfrm>
          <a:prstGeom prst="line">
            <a:avLst/>
          </a:prstGeom>
          <a:noFill/>
          <a:ln w="22225">
            <a:solidFill>
              <a:srgbClr val="2E74C6"/>
            </a:solidFill>
            <a:prstDash val="solid"/>
          </a:ln>
        </p:spPr>
      </p:sp>
      <p:sp>
        <p:nvSpPr>
          <p:cNvPr id="21" name="Shape 19"/>
          <p:cNvSpPr/>
          <p:nvPr/>
        </p:nvSpPr>
        <p:spPr>
          <a:xfrm>
            <a:off x="6475781" y="4105656"/>
            <a:ext cx="251460" cy="0"/>
          </a:xfrm>
          <a:prstGeom prst="line">
            <a:avLst/>
          </a:prstGeom>
          <a:noFill/>
          <a:ln w="22225">
            <a:solidFill>
              <a:srgbClr val="2E74C6"/>
            </a:solidFill>
            <a:prstDash val="solid"/>
            <a:tailEnd type="triangle"/>
          </a:ln>
        </p:spPr>
      </p:sp>
      <p:sp>
        <p:nvSpPr>
          <p:cNvPr id="22" name="Text 20"/>
          <p:cNvSpPr/>
          <p:nvPr/>
        </p:nvSpPr>
        <p:spPr>
          <a:xfrm>
            <a:off x="6727241" y="3602736"/>
            <a:ext cx="3291840" cy="1005840"/>
          </a:xfrm>
          <a:prstGeom prst="roundRect">
            <a:avLst>
              <a:gd name="adj" fmla="val 10909"/>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O3 RRF → 중복 제거 25</a:t>
            </a:r>
            <a:endParaRPr lang="en-US" sz="1800" dirty="0"/>
          </a:p>
        </p:txBody>
      </p:sp>
      <p:sp>
        <p:nvSpPr>
          <p:cNvPr id="23" name="Shape 21"/>
          <p:cNvSpPr/>
          <p:nvPr/>
        </p:nvSpPr>
        <p:spPr>
          <a:xfrm>
            <a:off x="10019081" y="4105656"/>
            <a:ext cx="502920" cy="0"/>
          </a:xfrm>
          <a:prstGeom prst="line">
            <a:avLst/>
          </a:prstGeom>
          <a:noFill/>
          <a:ln w="22225">
            <a:solidFill>
              <a:srgbClr val="2E74C6"/>
            </a:solidFill>
            <a:prstDash val="solid"/>
            <a:tailEnd type="triangle"/>
          </a:ln>
        </p:spPr>
      </p:sp>
      <p:sp>
        <p:nvSpPr>
          <p:cNvPr id="24" name="Text 22"/>
          <p:cNvSpPr/>
          <p:nvPr/>
        </p:nvSpPr>
        <p:spPr>
          <a:xfrm>
            <a:off x="10522001" y="3602736"/>
            <a:ext cx="3611880" cy="1005840"/>
          </a:xfrm>
          <a:prstGeom prst="roundRect">
            <a:avLst>
              <a:gd name="adj" fmla="val 10909"/>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O4 리랭킹 → 최대 6</a:t>
            </a:r>
            <a:endParaRPr lang="en-US" sz="1800" dirty="0"/>
          </a:p>
        </p:txBody>
      </p:sp>
      <p:sp>
        <p:nvSpPr>
          <p:cNvPr id="25" name="Text 23"/>
          <p:cNvSpPr txBox="1"/>
          <p:nvPr/>
        </p:nvSpPr>
        <p:spPr>
          <a:xfrm>
            <a:off x="2795321" y="4663440"/>
            <a:ext cx="11247120" cy="237744"/>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같은 질의로 O1과 O2를 병렬 실행. 식별자 필터와 세대를 두 쪽에 똑같이 걸고, 필터로 후보가 6개 이하면 O4를 건너뜀</a:t>
            </a:r>
            <a:endParaRPr lang="en-US" sz="1500" dirty="0"/>
          </a:p>
        </p:txBody>
      </p:sp>
      <p:sp>
        <p:nvSpPr>
          <p:cNvPr id="26" name="Text 24"/>
          <p:cNvSpPr/>
          <p:nvPr/>
        </p:nvSpPr>
        <p:spPr>
          <a:xfrm>
            <a:off x="509321" y="5111496"/>
            <a:ext cx="13624560" cy="1197864"/>
          </a:xfrm>
          <a:prstGeom prst="roundRect">
            <a:avLst>
              <a:gd name="adj" fmla="val 7634"/>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1700" b="1" dirty="0">
                <a:solidFill>
                  <a:srgbClr val="1E2A5C"/>
                </a:solidFill>
                <a:latin typeface="Pretendard" pitchFamily="34" charset="0"/>
                <a:ea typeface="Pretendard" pitchFamily="34" charset="-122"/>
                <a:cs typeface="Pretendard" pitchFamily="34" charset="-120"/>
              </a:rPr>
              <a:t>최적안 결정</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O3 RRF는 코드에서. O1, O2 중 한쪽이 죽어도 남은 순위로 부분결과를 냄. OpenSearch 파이프라인 RRF는 선택지로 남김</a:t>
            </a:r>
            <a:endParaRPr lang="en-US" sz="1700" dirty="0"/>
          </a:p>
          <a:p>
            <a:pPr algn="l" marL="228600" indent="-228600">
              <a:spcAft>
                <a:spcPts val="600"/>
              </a:spcAft>
              <a:buSzPct val="100000"/>
              <a:buChar char="•"/>
            </a:pPr>
            <a:r>
              <a:rPr lang="en-US" sz="1400" dirty="0">
                <a:solidFill>
                  <a:srgbClr val="2B3242"/>
                </a:solidFill>
                <a:latin typeface="Pretendard" pitchFamily="34" charset="0"/>
                <a:ea typeface="Pretendard" pitchFamily="34" charset="-122"/>
                <a:cs typeface="Pretendard" pitchFamily="34" charset="-120"/>
              </a:rPr>
              <a:t>O4 리랭커는 Cohere rerank-v4.0-fast. RAG 실습 코드와 같고 7단계에서도 같은 리랭커를 씀</a:t>
            </a:r>
            <a:endParaRPr lang="en-US" sz="1700" dirty="0"/>
          </a:p>
        </p:txBody>
      </p:sp>
      <p:sp>
        <p:nvSpPr>
          <p:cNvPr id="27" name="Shape 25"/>
          <p:cNvSpPr/>
          <p:nvPr/>
        </p:nvSpPr>
        <p:spPr>
          <a:xfrm>
            <a:off x="509321" y="6894576"/>
            <a:ext cx="384048" cy="256032"/>
          </a:xfrm>
          <a:prstGeom prst="roundRect">
            <a:avLst>
              <a:gd name="adj" fmla="val 17857"/>
            </a:avLst>
          </a:prstGeom>
          <a:solidFill>
            <a:srgbClr val="2E74C6"/>
          </a:solidFill>
          <a:ln/>
        </p:spPr>
      </p:sp>
      <p:sp>
        <p:nvSpPr>
          <p:cNvPr id="28" name="Text 26"/>
          <p:cNvSpPr txBox="1"/>
          <p:nvPr/>
        </p:nvSpPr>
        <p:spPr>
          <a:xfrm>
            <a:off x="984809"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29" name="Shape 27"/>
          <p:cNvSpPr/>
          <p:nvPr/>
        </p:nvSpPr>
        <p:spPr>
          <a:xfrm>
            <a:off x="2722169" y="6894576"/>
            <a:ext cx="384048" cy="256032"/>
          </a:xfrm>
          <a:prstGeom prst="roundRect">
            <a:avLst>
              <a:gd name="adj" fmla="val 17857"/>
            </a:avLst>
          </a:prstGeom>
          <a:solidFill>
            <a:srgbClr val="404155"/>
          </a:solidFill>
          <a:ln/>
        </p:spPr>
      </p:sp>
      <p:sp>
        <p:nvSpPr>
          <p:cNvPr id="30" name="Text 28"/>
          <p:cNvSpPr txBox="1"/>
          <p:nvPr/>
        </p:nvSpPr>
        <p:spPr>
          <a:xfrm>
            <a:off x="3197657"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31" name="Shape 29"/>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sp>
      <p:sp>
        <p:nvSpPr>
          <p:cNvPr id="32" name="Text 30"/>
          <p:cNvSpPr txBox="1"/>
          <p:nvPr/>
        </p:nvSpPr>
        <p:spPr>
          <a:xfrm>
            <a:off x="5410505"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33" name="Shape 31"/>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sp>
      <p:sp>
        <p:nvSpPr>
          <p:cNvPr id="34" name="Text 32"/>
          <p:cNvSpPr txBox="1"/>
          <p:nvPr/>
        </p:nvSpPr>
        <p:spPr>
          <a:xfrm>
            <a:off x="7623353"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35" name="Shape 3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6" name="Text 3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7" name="Shape 35"/>
          <p:cNvSpPr/>
          <p:nvPr/>
        </p:nvSpPr>
        <p:spPr>
          <a:xfrm>
            <a:off x="509321" y="7388352"/>
            <a:ext cx="13624560" cy="0"/>
          </a:xfrm>
          <a:prstGeom prst="line">
            <a:avLst/>
          </a:prstGeom>
          <a:noFill/>
          <a:ln w="12700">
            <a:solidFill>
              <a:srgbClr val="E9ECF3"/>
            </a:solidFill>
            <a:prstDash val="solid"/>
          </a:ln>
        </p:spPr>
      </p:sp>
      <p:sp>
        <p:nvSpPr>
          <p:cNvPr id="38" name="Text 3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 4-1절</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Local 검색(L): 청크로 시작점을 찾고, 엔티티를 줄여 이웃과 보고서로 넓힘</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검색엔진이 찾은 청크의 엔티티를 노드 설명 벡터로 줄이므로, 엔티티는 늘 청크 근거와 이어짐</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Local 검색(L)</a:t>
            </a:r>
            <a:endParaRPr lang="en-US" sz="1800" dirty="0"/>
          </a:p>
        </p:txBody>
      </p:sp>
      <p:sp>
        <p:nvSpPr>
          <p:cNvPr id="6" name="Text 4"/>
          <p:cNvSpPr/>
          <p:nvPr/>
        </p:nvSpPr>
        <p:spPr>
          <a:xfrm>
            <a:off x="2795321" y="1847088"/>
            <a:ext cx="2574036" cy="731520"/>
          </a:xfrm>
          <a:prstGeom prst="roundRect">
            <a:avLst>
              <a:gd name="adj" fmla="val 15000"/>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L1 검색엔진 검색 → 6</a:t>
            </a:r>
            <a:endParaRPr lang="en-US" sz="1800" dirty="0"/>
          </a:p>
        </p:txBody>
      </p:sp>
      <p:sp>
        <p:nvSpPr>
          <p:cNvPr id="7" name="Shape 5"/>
          <p:cNvSpPr/>
          <p:nvPr/>
        </p:nvSpPr>
        <p:spPr>
          <a:xfrm>
            <a:off x="5405933" y="2212848"/>
            <a:ext cx="274320" cy="0"/>
          </a:xfrm>
          <a:prstGeom prst="line">
            <a:avLst/>
          </a:prstGeom>
          <a:noFill/>
          <a:ln w="22225">
            <a:solidFill>
              <a:srgbClr val="2E74C6"/>
            </a:solidFill>
            <a:prstDash val="solid"/>
            <a:tailEnd type="triangle"/>
          </a:ln>
        </p:spPr>
      </p:sp>
      <p:sp>
        <p:nvSpPr>
          <p:cNvPr id="8" name="Text 6"/>
          <p:cNvSpPr/>
          <p:nvPr/>
        </p:nvSpPr>
        <p:spPr>
          <a:xfrm>
            <a:off x="5716829" y="1847088"/>
            <a:ext cx="2574036" cy="731520"/>
          </a:xfrm>
          <a:prstGeom prst="roundRect">
            <a:avLst>
              <a:gd name="adj" fmla="val 150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L2 엔티티 축소 → 16</a:t>
            </a:r>
            <a:endParaRPr lang="en-US" sz="1800" dirty="0"/>
          </a:p>
        </p:txBody>
      </p:sp>
      <p:sp>
        <p:nvSpPr>
          <p:cNvPr id="9" name="Shape 7"/>
          <p:cNvSpPr/>
          <p:nvPr/>
        </p:nvSpPr>
        <p:spPr>
          <a:xfrm>
            <a:off x="8327441" y="2212848"/>
            <a:ext cx="274320" cy="0"/>
          </a:xfrm>
          <a:prstGeom prst="line">
            <a:avLst/>
          </a:prstGeom>
          <a:noFill/>
          <a:ln w="22225">
            <a:solidFill>
              <a:srgbClr val="2E74C6"/>
            </a:solidFill>
            <a:prstDash val="solid"/>
            <a:tailEnd type="triangle"/>
          </a:ln>
        </p:spPr>
      </p:sp>
      <p:sp>
        <p:nvSpPr>
          <p:cNvPr id="10" name="Text 8"/>
          <p:cNvSpPr/>
          <p:nvPr/>
        </p:nvSpPr>
        <p:spPr>
          <a:xfrm>
            <a:off x="8638337"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L3 이웃 탐색 → 각 4</a:t>
            </a:r>
            <a:endParaRPr lang="en-US" sz="1800" dirty="0"/>
          </a:p>
        </p:txBody>
      </p:sp>
      <p:sp>
        <p:nvSpPr>
          <p:cNvPr id="11" name="Shape 9"/>
          <p:cNvSpPr/>
          <p:nvPr/>
        </p:nvSpPr>
        <p:spPr>
          <a:xfrm>
            <a:off x="11248949" y="2212848"/>
            <a:ext cx="274320" cy="0"/>
          </a:xfrm>
          <a:prstGeom prst="line">
            <a:avLst/>
          </a:prstGeom>
          <a:noFill/>
          <a:ln w="22225">
            <a:solidFill>
              <a:srgbClr val="2E74C6"/>
            </a:solidFill>
            <a:prstDash val="solid"/>
            <a:tailEnd type="triangle"/>
          </a:ln>
        </p:spPr>
      </p:sp>
      <p:sp>
        <p:nvSpPr>
          <p:cNvPr id="12" name="Text 10"/>
          <p:cNvSpPr/>
          <p:nvPr/>
        </p:nvSpPr>
        <p:spPr>
          <a:xfrm>
            <a:off x="11559845"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L4 커뮤니티 탐색 → 3</a:t>
            </a:r>
            <a:endParaRPr lang="en-US" sz="1800" dirty="0"/>
          </a:p>
        </p:txBody>
      </p:sp>
      <p:sp>
        <p:nvSpPr>
          <p:cNvPr id="13" name="Text 11"/>
          <p:cNvSpPr txBox="1"/>
          <p:nvPr/>
        </p:nvSpPr>
        <p:spPr>
          <a:xfrm>
            <a:off x="2795321" y="2615184"/>
            <a:ext cx="11247120" cy="438912"/>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L1은 서브 워크플로우 O를 부름. L2 ~ L4는 Cypher 1번으로 처리하고 상한은 파라미터로 넘김</a:t>
            </a:r>
            <a:endParaRPr lang="en-US" sz="1500" dirty="0"/>
          </a:p>
        </p:txBody>
      </p:sp>
      <p:sp>
        <p:nvSpPr>
          <p:cNvPr id="14" name="Text 12"/>
          <p:cNvSpPr/>
          <p:nvPr/>
        </p:nvSpPr>
        <p:spPr>
          <a:xfrm>
            <a:off x="509321" y="3337560"/>
            <a:ext cx="786384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L2 엔티티 축소(노드 설명 벡터)</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청크 6개의 엔티티(중앙값 52개)를 질문 벡터와 노드 설명 임베딩의 코사인 유사도로 줄 세움</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청크마다 최소 1개 보장, 전체 16개. 상담 질문은 첫 상담과 가장 최근 상담을 축소 전에 먼저 고정</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벡터 인덱스 교집합은 안 씀: 엔티티 벡터만으로 Q01, Q09 시작점을 놓친 검증 결과가 있음</a:t>
            </a:r>
            <a:endParaRPr lang="en-US" sz="2100" dirty="0"/>
          </a:p>
        </p:txBody>
      </p:sp>
      <p:sp>
        <p:nvSpPr>
          <p:cNvPr id="15" name="Text 13"/>
          <p:cNvSpPr/>
          <p:nvPr/>
        </p:nvSpPr>
        <p:spPr>
          <a:xfrm>
            <a:off x="8647481" y="3337560"/>
            <a:ext cx="548640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장애 때</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검색엔진 장애: 엔티티 벡터 상위 3개를 비상 시작점으로 쓰고 「그래프만」 경고</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Neo4j 장애: 검색엔진 원문만으로 답하고 「그래프 근거 없음」 경고</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리랭커 장애: O3 RRF 순위 그대로 6개</a:t>
            </a:r>
            <a:endParaRPr lang="en-US" sz="2100" dirty="0"/>
          </a:p>
        </p:txBody>
      </p:sp>
      <p:sp>
        <p:nvSpPr>
          <p:cNvPr id="16" name="Shape 14"/>
          <p:cNvSpPr/>
          <p:nvPr/>
        </p:nvSpPr>
        <p:spPr>
          <a:xfrm>
            <a:off x="509321" y="6894576"/>
            <a:ext cx="384048" cy="256032"/>
          </a:xfrm>
          <a:prstGeom prst="roundRect">
            <a:avLst>
              <a:gd name="adj" fmla="val 17857"/>
            </a:avLst>
          </a:prstGeom>
          <a:solidFill>
            <a:srgbClr val="2E74C6"/>
          </a:solidFill>
          <a:ln/>
        </p:spPr>
      </p:sp>
      <p:sp>
        <p:nvSpPr>
          <p:cNvPr id="17" name="Text 15"/>
          <p:cNvSpPr txBox="1"/>
          <p:nvPr/>
        </p:nvSpPr>
        <p:spPr>
          <a:xfrm>
            <a:off x="984809"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8" name="Shape 16"/>
          <p:cNvSpPr/>
          <p:nvPr/>
        </p:nvSpPr>
        <p:spPr>
          <a:xfrm>
            <a:off x="2722169" y="6894576"/>
            <a:ext cx="384048" cy="256032"/>
          </a:xfrm>
          <a:prstGeom prst="roundRect">
            <a:avLst>
              <a:gd name="adj" fmla="val 17857"/>
            </a:avLst>
          </a:prstGeom>
          <a:solidFill>
            <a:srgbClr val="404155"/>
          </a:solidFill>
          <a:ln/>
        </p:spPr>
      </p:sp>
      <p:sp>
        <p:nvSpPr>
          <p:cNvPr id="19" name="Text 17"/>
          <p:cNvSpPr txBox="1"/>
          <p:nvPr/>
        </p:nvSpPr>
        <p:spPr>
          <a:xfrm>
            <a:off x="3197657"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20" name="Shape 18"/>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sp>
      <p:sp>
        <p:nvSpPr>
          <p:cNvPr id="21" name="Text 19"/>
          <p:cNvSpPr txBox="1"/>
          <p:nvPr/>
        </p:nvSpPr>
        <p:spPr>
          <a:xfrm>
            <a:off x="5410505"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2" name="Shape 20"/>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sp>
      <p:sp>
        <p:nvSpPr>
          <p:cNvPr id="23" name="Text 21"/>
          <p:cNvSpPr txBox="1"/>
          <p:nvPr/>
        </p:nvSpPr>
        <p:spPr>
          <a:xfrm>
            <a:off x="7623353"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4" name="Shape 2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5" name="Text 2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6" name="Shape 24"/>
          <p:cNvSpPr/>
          <p:nvPr/>
        </p:nvSpPr>
        <p:spPr>
          <a:xfrm>
            <a:off x="509321" y="7388352"/>
            <a:ext cx="13624560" cy="0"/>
          </a:xfrm>
          <a:prstGeom prst="line">
            <a:avLst/>
          </a:prstGeom>
          <a:noFill/>
          <a:ln w="12700">
            <a:solidFill>
              <a:srgbClr val="E9ECF3"/>
            </a:solidFill>
            <a:prstDash val="solid"/>
          </a:ln>
        </p:spPr>
      </p:sp>
      <p:sp>
        <p:nvSpPr>
          <p:cNvPr id="27" name="Text 2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4-2, 4-5절. 지식니 실측(청크당 엔티티 중앙값 9개, 규정 청크 30개)</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Global 검색(G): 보고서로 주제를 잡고, 주제마다 Follow-up Local 검색을 함</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이 실습의 자체 구성으로, LLM이 보고서 제목을 보고 고른 뒤 주제마다 Follow-up Local 검색으로 사실 근거를 붙임</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Global 검색(G)</a:t>
            </a:r>
            <a:endParaRPr lang="en-US" sz="1800" dirty="0"/>
          </a:p>
        </p:txBody>
      </p:sp>
      <p:sp>
        <p:nvSpPr>
          <p:cNvPr id="6" name="Text 4"/>
          <p:cNvSpPr/>
          <p:nvPr/>
        </p:nvSpPr>
        <p:spPr>
          <a:xfrm>
            <a:off x="2795321" y="1847088"/>
            <a:ext cx="3547872" cy="731520"/>
          </a:xfrm>
          <a:prstGeom prst="roundRect">
            <a:avLst>
              <a:gd name="adj" fmla="val 150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G1 커뮤니티 검색 → 보고서 ≤ 12</a:t>
            </a:r>
            <a:endParaRPr lang="en-US" sz="1800" dirty="0"/>
          </a:p>
        </p:txBody>
      </p:sp>
      <p:sp>
        <p:nvSpPr>
          <p:cNvPr id="7" name="Shape 5"/>
          <p:cNvSpPr/>
          <p:nvPr/>
        </p:nvSpPr>
        <p:spPr>
          <a:xfrm>
            <a:off x="6379769" y="2212848"/>
            <a:ext cx="274320" cy="0"/>
          </a:xfrm>
          <a:prstGeom prst="line">
            <a:avLst/>
          </a:prstGeom>
          <a:noFill/>
          <a:ln w="22225">
            <a:solidFill>
              <a:srgbClr val="2E74C6"/>
            </a:solidFill>
            <a:prstDash val="solid"/>
            <a:tailEnd type="triangle"/>
          </a:ln>
        </p:spPr>
      </p:sp>
      <p:sp>
        <p:nvSpPr>
          <p:cNvPr id="8" name="Text 6"/>
          <p:cNvSpPr/>
          <p:nvPr/>
        </p:nvSpPr>
        <p:spPr>
          <a:xfrm>
            <a:off x="6690665" y="1847088"/>
            <a:ext cx="3547872" cy="731520"/>
          </a:xfrm>
          <a:prstGeom prst="roundRect">
            <a:avLst>
              <a:gd name="adj" fmla="val 15000"/>
            </a:avLst>
          </a:prstGeom>
          <a:solidFill>
            <a:srgbClr val="2E74C6"/>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G2 Follow-up 질문 → 1 ~ 5개</a:t>
            </a:r>
            <a:endParaRPr lang="en-US" sz="1800" dirty="0"/>
          </a:p>
        </p:txBody>
      </p:sp>
      <p:sp>
        <p:nvSpPr>
          <p:cNvPr id="9" name="Shape 7"/>
          <p:cNvSpPr/>
          <p:nvPr/>
        </p:nvSpPr>
        <p:spPr>
          <a:xfrm>
            <a:off x="10275113" y="2212848"/>
            <a:ext cx="274320" cy="0"/>
          </a:xfrm>
          <a:prstGeom prst="line">
            <a:avLst/>
          </a:prstGeom>
          <a:noFill/>
          <a:ln w="22225">
            <a:solidFill>
              <a:srgbClr val="2E74C6"/>
            </a:solidFill>
            <a:prstDash val="solid"/>
            <a:tailEnd type="triangle"/>
          </a:ln>
        </p:spPr>
      </p:sp>
      <p:sp>
        <p:nvSpPr>
          <p:cNvPr id="10" name="Text 8"/>
          <p:cNvSpPr/>
          <p:nvPr/>
        </p:nvSpPr>
        <p:spPr>
          <a:xfrm>
            <a:off x="10586009" y="1847088"/>
            <a:ext cx="3547872" cy="731520"/>
          </a:xfrm>
          <a:prstGeom prst="roundRect">
            <a:avLst>
              <a:gd name="adj" fmla="val 15000"/>
            </a:avLst>
          </a:prstGeom>
          <a:solidFill>
            <a:srgbClr val="FFFFFF"/>
          </a:solidFill>
          <a:ln w="34925">
            <a:solidFill>
              <a:srgbClr val="1E2A5C"/>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G3 Follow-up Local 검색(병렬)</a:t>
            </a:r>
            <a:endParaRPr lang="en-US" sz="1800" dirty="0"/>
          </a:p>
        </p:txBody>
      </p:sp>
      <p:sp>
        <p:nvSpPr>
          <p:cNvPr id="11" name="Text 9"/>
          <p:cNvSpPr txBox="1"/>
          <p:nvPr/>
        </p:nvSpPr>
        <p:spPr>
          <a:xfrm>
            <a:off x="2795321" y="2615184"/>
            <a:ext cx="11247120" cy="438912"/>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G3은 질문마다 서브 워크플로우 L을 부름. 근거마다 주제 id(topic_id)를 붙이고, 주제마다 보고서 id 목록(report_ids)을 둠</a:t>
            </a:r>
            <a:endParaRPr lang="en-US" sz="1500" dirty="0"/>
          </a:p>
        </p:txBody>
      </p:sp>
      <p:sp>
        <p:nvSpPr>
          <p:cNvPr id="12" name="Text 10"/>
          <p:cNvSpPr/>
          <p:nvPr/>
        </p:nvSpPr>
        <p:spPr>
          <a:xfrm>
            <a:off x="509321" y="3337560"/>
            <a:ext cx="667512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G1 커뮤니티 검색(보고서 고르기)</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제목 78개(약 1,150 토큰)를 LLM에 보이고 관련 보고서를 고르게 함. 상한 12</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보고서 본문 몫은 12,000 토큰. 고른 뒤 실제로 세고, 넘으면 관련도 낮은 보고서부터 뺌(측정한 상담 계열 12개는 약 11,700 토큰)</a:t>
            </a:r>
            <a:endParaRPr lang="en-US" sz="2100" dirty="0"/>
          </a:p>
          <a:p>
            <a:pPr algn="l" marL="228600" indent="-228600">
              <a:spcAft>
                <a:spcPts val="1500"/>
              </a:spcAft>
              <a:buSzPct val="100000"/>
              <a:buChar char="•"/>
            </a:pPr>
            <a:r>
              <a:rPr lang="en-US" sz="1800" dirty="0">
                <a:solidFill>
                  <a:srgbClr val="2B3242"/>
                </a:solidFill>
                <a:latin typeface="Pretendard" pitchFamily="34" charset="0"/>
                <a:ea typeface="Pretendard" pitchFamily="34" charset="-122"/>
                <a:cs typeface="Pretendard" pitchFamily="34" charset="-120"/>
              </a:rPr>
              <a:t>LLM 실패면 보고서 벡터 상위 5개</a:t>
            </a:r>
            <a:endParaRPr lang="en-US" sz="2100" dirty="0"/>
          </a:p>
        </p:txBody>
      </p:sp>
      <p:sp>
        <p:nvSpPr>
          <p:cNvPr id="13" name="Text 11"/>
          <p:cNvSpPr/>
          <p:nvPr/>
        </p:nvSpPr>
        <p:spPr>
          <a:xfrm>
            <a:off x="7458761" y="3337560"/>
            <a:ext cx="6675120" cy="2971800"/>
          </a:xfrm>
          <a:prstGeom prst="roundRect">
            <a:avLst>
              <a:gd name="adj" fmla="val 3077"/>
            </a:avLst>
          </a:prstGeom>
          <a:solidFill>
            <a:srgbClr val="EEF3FA"/>
          </a:solidFill>
          <a:ln w="12700">
            <a:solidFill>
              <a:srgbClr val="D9E0EC"/>
            </a:solidFill>
          </a:ln>
        </p:spPr>
        <p:txBody>
          <a:bodyPr wrap="square" lIns="182880" tIns="128016" rIns="182880" bIns="91440" rtlCol="0" anchor="t"/>
          <a:lstStyle/>
          <a:p>
            <a:pPr algn="l" indent="0" marL="0">
              <a:spcAft>
                <a:spcPts val="800"/>
              </a:spcAft>
              <a:buNone/>
            </a:pPr>
            <a:r>
              <a:rPr lang="en-US" sz="2100" b="1" dirty="0">
                <a:solidFill>
                  <a:srgbClr val="1E2A5C"/>
                </a:solidFill>
                <a:latin typeface="Pretendard" pitchFamily="34" charset="0"/>
                <a:ea typeface="Pretendard" pitchFamily="34" charset="-122"/>
                <a:cs typeface="Pretendard" pitchFamily="34" charset="-120"/>
              </a:rPr>
              <a:t>G2 Follow-up 질문</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고른 보고서를 주제로 묶어 주제 id를 붙이고, 주제마다 「사실로 확인할 것」을 하나씩(1 ~ 5개)</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항상 함: global은 요청당 1번이라 다시 못 함. 원문을 못 찾은 주제는 답에서 미확인으로 표시</a:t>
            </a:r>
            <a:endParaRPr lang="en-US" sz="2100" dirty="0"/>
          </a:p>
          <a:p>
            <a:pPr algn="l" marL="228600" indent="-228600">
              <a:spcAft>
                <a:spcPts val="2200"/>
              </a:spcAft>
              <a:buSzPct val="100000"/>
              <a:buChar char="•"/>
            </a:pPr>
            <a:r>
              <a:rPr lang="en-US" sz="1800" dirty="0">
                <a:solidFill>
                  <a:srgbClr val="2B3242"/>
                </a:solidFill>
                <a:latin typeface="Pretendard" pitchFamily="34" charset="0"/>
                <a:ea typeface="Pretendard" pitchFamily="34" charset="-122"/>
                <a:cs typeface="Pretendard" pitchFamily="34" charset="-120"/>
              </a:rPr>
              <a:t>LLM 실패면 상위 보고서의 제목 + 요약 첫 문장을 질문으로</a:t>
            </a:r>
            <a:endParaRPr lang="en-US" sz="2100" dirty="0"/>
          </a:p>
        </p:txBody>
      </p:sp>
      <p:sp>
        <p:nvSpPr>
          <p:cNvPr id="14" name="Shape 12"/>
          <p:cNvSpPr/>
          <p:nvPr/>
        </p:nvSpPr>
        <p:spPr>
          <a:xfrm>
            <a:off x="509321" y="6894576"/>
            <a:ext cx="384048" cy="256032"/>
          </a:xfrm>
          <a:prstGeom prst="roundRect">
            <a:avLst>
              <a:gd name="adj" fmla="val 17857"/>
            </a:avLst>
          </a:prstGeom>
          <a:solidFill>
            <a:srgbClr val="2E74C6"/>
          </a:solidFill>
          <a:ln/>
        </p:spPr>
      </p:sp>
      <p:sp>
        <p:nvSpPr>
          <p:cNvPr id="15" name="Text 13"/>
          <p:cNvSpPr txBox="1"/>
          <p:nvPr/>
        </p:nvSpPr>
        <p:spPr>
          <a:xfrm>
            <a:off x="984809"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생성형AI</a:t>
            </a:r>
            <a:endParaRPr lang="en-US" sz="1400" dirty="0"/>
          </a:p>
        </p:txBody>
      </p:sp>
      <p:sp>
        <p:nvSpPr>
          <p:cNvPr id="16" name="Shape 14"/>
          <p:cNvSpPr/>
          <p:nvPr/>
        </p:nvSpPr>
        <p:spPr>
          <a:xfrm>
            <a:off x="2722169" y="6894576"/>
            <a:ext cx="384048" cy="256032"/>
          </a:xfrm>
          <a:prstGeom prst="roundRect">
            <a:avLst>
              <a:gd name="adj" fmla="val 17857"/>
            </a:avLst>
          </a:prstGeom>
          <a:solidFill>
            <a:srgbClr val="404155"/>
          </a:solidFill>
          <a:ln/>
        </p:spPr>
      </p:sp>
      <p:sp>
        <p:nvSpPr>
          <p:cNvPr id="17" name="Text 15"/>
          <p:cNvSpPr txBox="1"/>
          <p:nvPr/>
        </p:nvSpPr>
        <p:spPr>
          <a:xfrm>
            <a:off x="3197657"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예측형AI</a:t>
            </a:r>
            <a:endParaRPr lang="en-US" sz="1400" dirty="0"/>
          </a:p>
        </p:txBody>
      </p:sp>
      <p:sp>
        <p:nvSpPr>
          <p:cNvPr id="18" name="Shape 16"/>
          <p:cNvSpPr/>
          <p:nvPr/>
        </p:nvSpPr>
        <p:spPr>
          <a:xfrm>
            <a:off x="4935017" y="6894576"/>
            <a:ext cx="384048" cy="256032"/>
          </a:xfrm>
          <a:prstGeom prst="roundRect">
            <a:avLst>
              <a:gd name="adj" fmla="val 17857"/>
            </a:avLst>
          </a:prstGeom>
          <a:solidFill>
            <a:srgbClr val="EEF3FA"/>
          </a:solidFill>
          <a:ln w="19050">
            <a:solidFill>
              <a:srgbClr val="2E74C6"/>
            </a:solidFill>
            <a:prstDash val="solid"/>
          </a:ln>
        </p:spPr>
      </p:sp>
      <p:sp>
        <p:nvSpPr>
          <p:cNvPr id="19" name="Text 17"/>
          <p:cNvSpPr txBox="1"/>
          <p:nvPr/>
        </p:nvSpPr>
        <p:spPr>
          <a:xfrm>
            <a:off x="5410505"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규칙기반</a:t>
            </a:r>
            <a:endParaRPr lang="en-US" sz="1400" dirty="0"/>
          </a:p>
        </p:txBody>
      </p:sp>
      <p:sp>
        <p:nvSpPr>
          <p:cNvPr id="20" name="Shape 18"/>
          <p:cNvSpPr/>
          <p:nvPr/>
        </p:nvSpPr>
        <p:spPr>
          <a:xfrm>
            <a:off x="7147865" y="6894576"/>
            <a:ext cx="384048" cy="256032"/>
          </a:xfrm>
          <a:prstGeom prst="roundRect">
            <a:avLst>
              <a:gd name="adj" fmla="val 17857"/>
            </a:avLst>
          </a:prstGeom>
          <a:solidFill>
            <a:srgbClr val="FFFFFF"/>
          </a:solidFill>
          <a:ln w="34925">
            <a:solidFill>
              <a:srgbClr val="1E2A5C"/>
            </a:solidFill>
            <a:prstDash val="solid"/>
          </a:ln>
        </p:spPr>
      </p:sp>
      <p:sp>
        <p:nvSpPr>
          <p:cNvPr id="21" name="Text 19"/>
          <p:cNvSpPr txBox="1"/>
          <p:nvPr/>
        </p:nvSpPr>
        <p:spPr>
          <a:xfrm>
            <a:off x="7623353" y="6858000"/>
            <a:ext cx="1691640" cy="329184"/>
          </a:xfrm>
          <a:prstGeom prst="rect">
            <a:avLst/>
          </a:prstGeom>
          <a:noFill/>
          <a:ln/>
        </p:spPr>
        <p:txBody>
          <a:bodyPr wrap="square" lIns="0" tIns="0" rIns="0" bIns="0" rtlCol="0" anchor="ctr"/>
          <a:lstStyle/>
          <a:p>
            <a:pPr indent="0" marL="0">
              <a:buNone/>
            </a:pPr>
            <a:r>
              <a:rPr lang="en-US" sz="1400" dirty="0">
                <a:solidFill>
                  <a:srgbClr val="4A5364"/>
                </a:solidFill>
                <a:latin typeface="Pretendard" pitchFamily="34" charset="0"/>
                <a:ea typeface="Pretendard" pitchFamily="34" charset="-122"/>
                <a:cs typeface="Pretendard" pitchFamily="34" charset="-120"/>
              </a:rPr>
              <a:t>서브 워크플로우</a:t>
            </a:r>
            <a:endParaRPr lang="en-US" sz="1400" dirty="0"/>
          </a:p>
        </p:txBody>
      </p:sp>
      <p:sp>
        <p:nvSpPr>
          <p:cNvPr id="22" name="Shape 20"/>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3" name="Text 21">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4" name="Shape 22"/>
          <p:cNvSpPr/>
          <p:nvPr/>
        </p:nvSpPr>
        <p:spPr>
          <a:xfrm>
            <a:off x="509321" y="7388352"/>
            <a:ext cx="13624560" cy="0"/>
          </a:xfrm>
          <a:prstGeom prst="line">
            <a:avLst/>
          </a:prstGeom>
          <a:noFill/>
          <a:ln w="12700">
            <a:solidFill>
              <a:srgbClr val="E9ECF3"/>
            </a:solidFill>
            <a:prstDash val="solid"/>
          </a:ln>
        </p:spPr>
      </p:sp>
      <p:sp>
        <p:nvSpPr>
          <p:cNvPr id="25" name="Text 23"/>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4-3절. 지식니 실측(보고서 78개, 상담 계열 12개, 전문 약 76,000 토큰)</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4단계 검색은 예측형AI 하나가 아니라, 서브 단계마다 담당자 유형이 다름</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가이드 기준(「그 일을 누가 판단하나」)으로 보면 임베딩과 리랭커는 예측형AI, 공식은 규칙, 보고서 고르기와 질문 만들기는 생성형AI임</a:t>
            </a:r>
            <a:endParaRPr lang="en-US" sz="1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743200"/>
                <a:gridCol w="4754880"/>
                <a:gridCol w="2651760"/>
                <a:gridCol w="3474720"/>
              </a:tblGrid>
              <a:tr h="438912">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서브 단계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판단하는 것</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담당자 유형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까닭</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O1 벡터 검색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질의와 청크가 의미상 가까운가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예측형AI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학습된 임베딩 모델의 유사도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O2 BM25 검색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질의 낱말이 얼마나 나오나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규칙기반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학습 없는 통계 공식</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O3 RRF</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두 순위를 어떻게 합치나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규칙기반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1/(60 + 순위) 공식</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O4 리랭킹</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질의와 청크의 관련도 점수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예측형AI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관련도를 예측하는 크로스 인코더</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L2 엔티티 축소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어떤 엔티티가 질문과 가까운가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예측형AI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노드 설명 임베딩 유사도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L3 이웃 탐색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어떤 이웃을 남기나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규칙 + 예측형AI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Cypher 탐색, 유사도 순서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L4 커뮤니티 탐색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어떤 보고서를 붙이나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규칙기반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관계와 걸린 횟수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G1 커뮤니티 검색</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어떤 보고서가 관련 있나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생성형AI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LLM이 제목을 읽고 고름</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12064">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G2 Follow-up 질문</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무엇을 사실로 확인할까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생성형AI</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LLM이 질문을 만듦</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6" name="Text 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sp>
      <p:sp>
        <p:nvSpPr>
          <p:cNvPr id="8" name="Text 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4-0절, references/design-workflow-connector.md 1-2절(담당자 유형)</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검색 서브 워크플로우 최적안: 후보안 중 고른 것과 그 까닭</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지식니(검색 품질)와 플로니(실행 흐름)가 따로 검토한 뒤 클로니가 합쳤으며, 갈린 것은 보고서 고르기 하나였음</a:t>
            </a:r>
            <a:endParaRPr lang="en-US" sz="1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13624560" cy="914400"/>
        </p:xfrm>
        <a:graphic>
          <a:graphicData uri="http://schemas.openxmlformats.org/drawingml/2006/table">
            <a:tbl>
              <a:tblPr/>
              <a:tblGrid>
                <a:gridCol w="2560320"/>
                <a:gridCol w="4206240"/>
                <a:gridCol w="6858000"/>
              </a:tblGrid>
              <a:tr h="457200">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결정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선택</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까닭</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O3 RRF 위치</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코드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한쪽 호출이 죽어도 부분결과. RRF 식이 코드에 보임. 파이프라인 RRF는 선택지</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O4 리랭커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Cohere rerank-v4.0-fast</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실습 코드 재사용, 7단계와 같은 리랭커. 로컬 모델은 CPU 병목 예상(미측정)</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L2 엔티티 축소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청크 엔티티만 코사인, 상한 16</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벡터 교집합은 시작점이 빌 위험. 엔티티가 늘 청크 근거와 이어짐</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L2 ~ L4 호출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Cypher 1번</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세대 필터를 한 쿼리에서 일관되게 걸기 쉬움. Follow-up 5갈래가 세션 상한 8 안</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G1 보고서 고르기</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제목 전수 LLM 선별(상한 12), 실패면 벡터 5</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벡터 5개면 상담 보고서 12개 중 최대 5개(포함 상한 5/12, 계산값)</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G2 Follow-up 시점</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항상, 1 ~ 5개</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2단계가 놓치면 복구 불가. 주제마다 원문을 요구하는 global PASS와 맞춤</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66928">
                <a:tc>
                  <a:txBody>
                    <a:bodyPr/>
                    <a:lstStyle/>
                    <a:p>
                      <a:pPr indent="0" marL="0">
                        <a:buNone/>
                      </a:pPr>
                      <a:r>
                        <a:rPr lang="en-US" sz="1500" b="1" dirty="0">
                          <a:solidFill>
                            <a:srgbClr val="1E2A5C"/>
                          </a:solidFill>
                          <a:latin typeface="Pretendard" pitchFamily="34" charset="0"/>
                          <a:ea typeface="Pretendard" pitchFamily="34" charset="-122"/>
                          <a:cs typeface="Pretendard" pitchFamily="34" charset="-120"/>
                        </a:rPr>
                        <a:t>7단계 리랭킹</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원문만, 주제마다 1개 보존</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500" dirty="0">
                          <a:solidFill>
                            <a:srgbClr val="2B3242"/>
                          </a:solidFill>
                          <a:latin typeface="Pretendard" pitchFamily="34" charset="0"/>
                          <a:ea typeface="Pretendard" pitchFamily="34" charset="-122"/>
                          <a:cs typeface="Pretendard" pitchFamily="34" charset="-120"/>
                        </a:rPr>
                        <a:t>보고서는 요약이라 원문보다 점수를 받기 쉬움. Follow-up 원문이 통째로 잘리는 것을 막음</a:t>
                      </a:r>
                      <a:endParaRPr lang="en-US" sz="1500" dirty="0">
                        <a:latin typeface="Pretendard" charset="0"/>
                        <a:ea typeface="Pretendard" charset="0"/>
                        <a:cs typeface="Pretendard" charset="0"/>
                      </a:endParaRPr>
                    </a:p>
                  </a:txBody>
                  <a:tcPr marL="91440" marR="91440"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Shape 2"/>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6" name="Text 3">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7" name="Shape 4"/>
          <p:cNvSpPr/>
          <p:nvPr/>
        </p:nvSpPr>
        <p:spPr>
          <a:xfrm>
            <a:off x="509321" y="7388352"/>
            <a:ext cx="13624560" cy="0"/>
          </a:xfrm>
          <a:prstGeom prst="line">
            <a:avLst/>
          </a:prstGeom>
          <a:noFill/>
          <a:ln w="12700">
            <a:solidFill>
              <a:srgbClr val="E9ECF3"/>
            </a:solidFill>
            <a:prstDash val="solid"/>
          </a:ln>
        </p:spPr>
      </p:sp>
      <p:sp>
        <p:nvSpPr>
          <p:cNvPr id="8" name="Text 5"/>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 9장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7단계 리랭킹: 회차마다 섞인 근거를 원 질문 기준으로 다시 줄 세움</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O4는 회차 질의 기준 25에서 6, 7단계는 원 질문 기준 누적에서 8이라 역할이 겹치지 않음</a:t>
            </a:r>
            <a:endParaRPr lang="en-US" sz="1800" dirty="0"/>
          </a:p>
        </p:txBody>
      </p:sp>
      <p:sp>
        <p:nvSpPr>
          <p:cNvPr id="4" name="Shape 2"/>
          <p:cNvSpPr/>
          <p:nvPr/>
        </p:nvSpPr>
        <p:spPr>
          <a:xfrm>
            <a:off x="509321" y="1737360"/>
            <a:ext cx="13624560" cy="1371600"/>
          </a:xfrm>
          <a:prstGeom prst="roundRect">
            <a:avLst>
              <a:gd name="adj" fmla="val 6667"/>
            </a:avLst>
          </a:prstGeom>
          <a:solidFill>
            <a:srgbClr val="F5F8FC"/>
          </a:solidFill>
          <a:ln w="12700">
            <a:solidFill>
              <a:srgbClr val="D9E0EC"/>
            </a:solidFill>
            <a:prstDash val="solid"/>
          </a:ln>
        </p:spPr>
      </p:sp>
      <p:sp>
        <p:nvSpPr>
          <p:cNvPr id="5" name="Text 3"/>
          <p:cNvSpPr/>
          <p:nvPr/>
        </p:nvSpPr>
        <p:spPr>
          <a:xfrm>
            <a:off x="619049" y="1847088"/>
            <a:ext cx="2011680" cy="1152144"/>
          </a:xfrm>
          <a:prstGeom prst="roundRect">
            <a:avLst>
              <a:gd name="adj" fmla="val 6349"/>
            </a:avLst>
          </a:prstGeom>
          <a:solidFill>
            <a:srgbClr val="1E2A5C"/>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7단계 리랭킹</a:t>
            </a:r>
            <a:endParaRPr lang="en-US" sz="1800" dirty="0"/>
          </a:p>
        </p:txBody>
      </p:sp>
      <p:sp>
        <p:nvSpPr>
          <p:cNvPr id="6" name="Text 4"/>
          <p:cNvSpPr/>
          <p:nvPr/>
        </p:nvSpPr>
        <p:spPr>
          <a:xfrm>
            <a:off x="2795321"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모은 원문 전체</a:t>
            </a:r>
            <a:endParaRPr lang="en-US" sz="1800" dirty="0"/>
          </a:p>
        </p:txBody>
      </p:sp>
      <p:sp>
        <p:nvSpPr>
          <p:cNvPr id="7" name="Shape 5"/>
          <p:cNvSpPr/>
          <p:nvPr/>
        </p:nvSpPr>
        <p:spPr>
          <a:xfrm>
            <a:off x="5405933" y="2212848"/>
            <a:ext cx="274320" cy="0"/>
          </a:xfrm>
          <a:prstGeom prst="line">
            <a:avLst/>
          </a:prstGeom>
          <a:noFill/>
          <a:ln w="22225">
            <a:solidFill>
              <a:srgbClr val="2E74C6"/>
            </a:solidFill>
            <a:prstDash val="solid"/>
            <a:tailEnd type="triangle"/>
          </a:ln>
        </p:spPr>
      </p:sp>
      <p:sp>
        <p:nvSpPr>
          <p:cNvPr id="8" name="Text 6"/>
          <p:cNvSpPr/>
          <p:nvPr/>
        </p:nvSpPr>
        <p:spPr>
          <a:xfrm>
            <a:off x="5716829" y="1847088"/>
            <a:ext cx="2574036" cy="731520"/>
          </a:xfrm>
          <a:prstGeom prst="roundRect">
            <a:avLst>
              <a:gd name="adj" fmla="val 15000"/>
            </a:avLst>
          </a:prstGeom>
          <a:solidFill>
            <a:srgbClr val="404155"/>
          </a:solidFill>
          <a:ln/>
        </p:spPr>
        <p:txBody>
          <a:bodyPr wrap="square" lIns="63500" tIns="38100" rIns="63500" bIns="3810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원 질문 기준 리랭킹 → 8</a:t>
            </a:r>
            <a:endParaRPr lang="en-US" sz="1800" dirty="0"/>
          </a:p>
        </p:txBody>
      </p:sp>
      <p:sp>
        <p:nvSpPr>
          <p:cNvPr id="9" name="Shape 7"/>
          <p:cNvSpPr/>
          <p:nvPr/>
        </p:nvSpPr>
        <p:spPr>
          <a:xfrm>
            <a:off x="8327441" y="2212848"/>
            <a:ext cx="274320" cy="0"/>
          </a:xfrm>
          <a:prstGeom prst="line">
            <a:avLst/>
          </a:prstGeom>
          <a:noFill/>
          <a:ln w="22225">
            <a:solidFill>
              <a:srgbClr val="2E74C6"/>
            </a:solidFill>
            <a:prstDash val="solid"/>
            <a:tailEnd type="triangle"/>
          </a:ln>
        </p:spPr>
      </p:sp>
      <p:sp>
        <p:nvSpPr>
          <p:cNvPr id="10" name="Text 8"/>
          <p:cNvSpPr/>
          <p:nvPr/>
        </p:nvSpPr>
        <p:spPr>
          <a:xfrm>
            <a:off x="8638337"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이어진 엔티티만 남김</a:t>
            </a:r>
            <a:endParaRPr lang="en-US" sz="1800" dirty="0"/>
          </a:p>
        </p:txBody>
      </p:sp>
      <p:sp>
        <p:nvSpPr>
          <p:cNvPr id="11" name="Shape 9"/>
          <p:cNvSpPr/>
          <p:nvPr/>
        </p:nvSpPr>
        <p:spPr>
          <a:xfrm>
            <a:off x="11248949" y="2212848"/>
            <a:ext cx="274320" cy="0"/>
          </a:xfrm>
          <a:prstGeom prst="line">
            <a:avLst/>
          </a:prstGeom>
          <a:noFill/>
          <a:ln w="22225">
            <a:solidFill>
              <a:srgbClr val="2E74C6"/>
            </a:solidFill>
            <a:prstDash val="solid"/>
            <a:tailEnd type="triangle"/>
          </a:ln>
        </p:spPr>
      </p:sp>
      <p:sp>
        <p:nvSpPr>
          <p:cNvPr id="12" name="Text 10"/>
          <p:cNvSpPr/>
          <p:nvPr/>
        </p:nvSpPr>
        <p:spPr>
          <a:xfrm>
            <a:off x="11559845" y="1847088"/>
            <a:ext cx="2574036" cy="731520"/>
          </a:xfrm>
          <a:prstGeom prst="roundRect">
            <a:avLst>
              <a:gd name="adj" fmla="val 15000"/>
            </a:avLst>
          </a:prstGeom>
          <a:solidFill>
            <a:srgbClr val="EEF3FA"/>
          </a:solidFill>
          <a:ln w="19050">
            <a:solidFill>
              <a:srgbClr val="2E74C6"/>
            </a:solidFill>
          </a:ln>
        </p:spPr>
        <p:txBody>
          <a:bodyPr wrap="square" lIns="63500" tIns="38100" rIns="63500" bIns="38100" rtlCol="0" anchor="ctr"/>
          <a:lstStyle/>
          <a:p>
            <a:pPr algn="ctr" indent="0" marL="0">
              <a:buNone/>
            </a:pPr>
            <a:r>
              <a:rPr lang="en-US" sz="1800" b="1" dirty="0">
                <a:solidFill>
                  <a:srgbClr val="1E2A5C"/>
                </a:solidFill>
                <a:latin typeface="Pretendard" pitchFamily="34" charset="0"/>
                <a:ea typeface="Pretendard" pitchFamily="34" charset="-122"/>
                <a:cs typeface="Pretendard" pitchFamily="34" charset="-120"/>
              </a:rPr>
              <a:t>보고서는 걸린 횟수, 관련도 순</a:t>
            </a:r>
            <a:endParaRPr lang="en-US" sz="1800" dirty="0"/>
          </a:p>
        </p:txBody>
      </p:sp>
      <p:sp>
        <p:nvSpPr>
          <p:cNvPr id="13" name="Text 11"/>
          <p:cNvSpPr txBox="1"/>
          <p:nvPr/>
        </p:nvSpPr>
        <p:spPr>
          <a:xfrm>
            <a:off x="2795321" y="2615184"/>
            <a:ext cx="11247120" cy="438912"/>
          </a:xfrm>
          <a:prstGeom prst="rect">
            <a:avLst/>
          </a:prstGeom>
          <a:noFill/>
          <a:ln/>
        </p:spPr>
        <p:txBody>
          <a:bodyPr wrap="square" lIns="0" tIns="0" rIns="0" bIns="0" rtlCol="0" anchor="ctr"/>
          <a:lstStyle/>
          <a:p>
            <a:pPr indent="0" marL="0">
              <a:buNone/>
            </a:pPr>
            <a:r>
              <a:rPr lang="en-US" sz="1500" dirty="0">
                <a:solidFill>
                  <a:srgbClr val="4A5364"/>
                </a:solidFill>
                <a:latin typeface="Pretendard" pitchFamily="34" charset="0"/>
                <a:ea typeface="Pretendard" pitchFamily="34" charset="-122"/>
                <a:cs typeface="Pretendard" pitchFamily="34" charset="-120"/>
              </a:rPr>
              <a:t>global 모드는 주제(topic_id)마다 원문을 최소 1개 보존하고 8단계에서 다시 확인. 회차가 1회이고 원문이 8개 이하면 건너뜀</a:t>
            </a:r>
            <a:endParaRPr lang="en-US" sz="1500" dirty="0"/>
          </a:p>
        </p:txBody>
      </p:sp>
      <p:sp>
        <p:nvSpPr>
          <p:cNvPr id="14" name="Text 12"/>
          <p:cNvSpPr/>
          <p:nvPr/>
        </p:nvSpPr>
        <p:spPr>
          <a:xfrm>
            <a:off x="509321" y="3337560"/>
            <a:ext cx="32918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사용자 결정과 검토 반영</a:t>
            </a:r>
            <a:endParaRPr lang="en-US" sz="1800" dirty="0"/>
          </a:p>
        </p:txBody>
      </p:sp>
      <p:sp>
        <p:nvSpPr>
          <p:cNvPr id="15" name="Shape 13"/>
          <p:cNvSpPr/>
          <p:nvPr/>
        </p:nvSpPr>
        <p:spPr>
          <a:xfrm>
            <a:off x="509321" y="3886200"/>
            <a:ext cx="13624560" cy="493776"/>
          </a:xfrm>
          <a:prstGeom prst="roundRect">
            <a:avLst>
              <a:gd name="adj" fmla="val 14815"/>
            </a:avLst>
          </a:prstGeom>
          <a:solidFill>
            <a:srgbClr val="F5F8FC"/>
          </a:solidFill>
          <a:ln w="12700">
            <a:solidFill>
              <a:srgbClr val="D9E0EC"/>
            </a:solidFill>
            <a:prstDash val="solid"/>
          </a:ln>
        </p:spPr>
      </p:sp>
      <p:sp>
        <p:nvSpPr>
          <p:cNvPr id="16" name="Shape 14"/>
          <p:cNvSpPr/>
          <p:nvPr/>
        </p:nvSpPr>
        <p:spPr>
          <a:xfrm>
            <a:off x="646481" y="3931920"/>
            <a:ext cx="402336" cy="402336"/>
          </a:xfrm>
          <a:prstGeom prst="roundRect">
            <a:avLst>
              <a:gd name="adj" fmla="val 11364"/>
            </a:avLst>
          </a:prstGeom>
          <a:solidFill>
            <a:srgbClr val="2E74C6"/>
          </a:solidFill>
          <a:ln/>
        </p:spPr>
      </p:sp>
      <p:sp>
        <p:nvSpPr>
          <p:cNvPr id="17" name="Text 15"/>
          <p:cNvSpPr/>
          <p:nvPr/>
        </p:nvSpPr>
        <p:spPr>
          <a:xfrm>
            <a:off x="646481" y="3931920"/>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18" name="Text 16"/>
          <p:cNvSpPr txBox="1"/>
          <p:nvPr/>
        </p:nvSpPr>
        <p:spPr>
          <a:xfrm>
            <a:off x="1167689" y="3886200"/>
            <a:ext cx="12829032" cy="493776"/>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단계 ID: 메인 1 ~ 11, 서브 O1 ~ O4, L1 ~ L4, G1 ~ G3. 반복 구간은 반복 1, 반복 2. 분기 번호 없음</a:t>
            </a:r>
            <a:endParaRPr lang="en-US" sz="1600" dirty="0"/>
          </a:p>
        </p:txBody>
      </p:sp>
      <p:sp>
        <p:nvSpPr>
          <p:cNvPr id="19" name="Shape 17"/>
          <p:cNvSpPr/>
          <p:nvPr/>
        </p:nvSpPr>
        <p:spPr>
          <a:xfrm>
            <a:off x="509321" y="4471416"/>
            <a:ext cx="13624560" cy="493776"/>
          </a:xfrm>
          <a:prstGeom prst="roundRect">
            <a:avLst>
              <a:gd name="adj" fmla="val 14815"/>
            </a:avLst>
          </a:prstGeom>
          <a:solidFill>
            <a:srgbClr val="F5F8FC"/>
          </a:solidFill>
          <a:ln w="12700">
            <a:solidFill>
              <a:srgbClr val="D9E0EC"/>
            </a:solidFill>
            <a:prstDash val="solid"/>
          </a:ln>
        </p:spPr>
      </p:sp>
      <p:sp>
        <p:nvSpPr>
          <p:cNvPr id="20" name="Shape 18"/>
          <p:cNvSpPr/>
          <p:nvPr/>
        </p:nvSpPr>
        <p:spPr>
          <a:xfrm>
            <a:off x="646481" y="4517136"/>
            <a:ext cx="402336" cy="402336"/>
          </a:xfrm>
          <a:prstGeom prst="roundRect">
            <a:avLst>
              <a:gd name="adj" fmla="val 11364"/>
            </a:avLst>
          </a:prstGeom>
          <a:solidFill>
            <a:srgbClr val="2E74C6"/>
          </a:solidFill>
          <a:ln/>
        </p:spPr>
      </p:sp>
      <p:sp>
        <p:nvSpPr>
          <p:cNvPr id="21" name="Text 19"/>
          <p:cNvSpPr/>
          <p:nvPr/>
        </p:nvSpPr>
        <p:spPr>
          <a:xfrm>
            <a:off x="646481" y="4517136"/>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22" name="Text 20"/>
          <p:cNvSpPr txBox="1"/>
          <p:nvPr/>
        </p:nvSpPr>
        <p:spPr>
          <a:xfrm>
            <a:off x="1167689" y="4471416"/>
            <a:ext cx="12829032" cy="493776"/>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4단계 이름은 「검색」, 모드는 local과 global만(둘 다 하이브리드), 수집 종료 판정 전 리랭킹, 시간 예산 제외</a:t>
            </a:r>
            <a:endParaRPr lang="en-US" sz="1600" dirty="0"/>
          </a:p>
        </p:txBody>
      </p:sp>
      <p:sp>
        <p:nvSpPr>
          <p:cNvPr id="23" name="Shape 21"/>
          <p:cNvSpPr/>
          <p:nvPr/>
        </p:nvSpPr>
        <p:spPr>
          <a:xfrm>
            <a:off x="509321" y="5056632"/>
            <a:ext cx="13624560" cy="493776"/>
          </a:xfrm>
          <a:prstGeom prst="roundRect">
            <a:avLst>
              <a:gd name="adj" fmla="val 14815"/>
            </a:avLst>
          </a:prstGeom>
          <a:solidFill>
            <a:srgbClr val="F5F8FC"/>
          </a:solidFill>
          <a:ln w="12700">
            <a:solidFill>
              <a:srgbClr val="D9E0EC"/>
            </a:solidFill>
            <a:prstDash val="solid"/>
          </a:ln>
        </p:spPr>
      </p:sp>
      <p:sp>
        <p:nvSpPr>
          <p:cNvPr id="24" name="Shape 22"/>
          <p:cNvSpPr/>
          <p:nvPr/>
        </p:nvSpPr>
        <p:spPr>
          <a:xfrm>
            <a:off x="646481" y="5102352"/>
            <a:ext cx="402336" cy="402336"/>
          </a:xfrm>
          <a:prstGeom prst="roundRect">
            <a:avLst>
              <a:gd name="adj" fmla="val 11364"/>
            </a:avLst>
          </a:prstGeom>
          <a:solidFill>
            <a:srgbClr val="2E74C6"/>
          </a:solidFill>
          <a:ln/>
        </p:spPr>
      </p:sp>
      <p:sp>
        <p:nvSpPr>
          <p:cNvPr id="25" name="Text 23"/>
          <p:cNvSpPr/>
          <p:nvPr/>
        </p:nvSpPr>
        <p:spPr>
          <a:xfrm>
            <a:off x="646481" y="510235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26" name="Text 24"/>
          <p:cNvSpPr txBox="1"/>
          <p:nvPr/>
        </p:nvSpPr>
        <p:spPr>
          <a:xfrm>
            <a:off x="1167689" y="5056632"/>
            <a:ext cx="12829032" cy="493776"/>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지식니: 상한 16, 식별자는 메타데이터, SCATTERED 필터 제외, OFF_TOPIC_REPORTS 신호</a:t>
            </a:r>
            <a:endParaRPr lang="en-US" sz="1600" dirty="0"/>
          </a:p>
        </p:txBody>
      </p:sp>
      <p:sp>
        <p:nvSpPr>
          <p:cNvPr id="27" name="Shape 25"/>
          <p:cNvSpPr/>
          <p:nvPr/>
        </p:nvSpPr>
        <p:spPr>
          <a:xfrm>
            <a:off x="509321" y="5641848"/>
            <a:ext cx="13624560" cy="493776"/>
          </a:xfrm>
          <a:prstGeom prst="roundRect">
            <a:avLst>
              <a:gd name="adj" fmla="val 14815"/>
            </a:avLst>
          </a:prstGeom>
          <a:solidFill>
            <a:srgbClr val="F5F8FC"/>
          </a:solidFill>
          <a:ln w="12700">
            <a:solidFill>
              <a:srgbClr val="D9E0EC"/>
            </a:solidFill>
            <a:prstDash val="solid"/>
          </a:ln>
        </p:spPr>
      </p:sp>
      <p:sp>
        <p:nvSpPr>
          <p:cNvPr id="28" name="Shape 26"/>
          <p:cNvSpPr/>
          <p:nvPr/>
        </p:nvSpPr>
        <p:spPr>
          <a:xfrm>
            <a:off x="646481" y="5687568"/>
            <a:ext cx="402336" cy="402336"/>
          </a:xfrm>
          <a:prstGeom prst="roundRect">
            <a:avLst>
              <a:gd name="adj" fmla="val 11364"/>
            </a:avLst>
          </a:prstGeom>
          <a:solidFill>
            <a:srgbClr val="2E74C6"/>
          </a:solidFill>
          <a:ln/>
        </p:spPr>
      </p:sp>
      <p:sp>
        <p:nvSpPr>
          <p:cNvPr id="29" name="Text 27"/>
          <p:cNvSpPr/>
          <p:nvPr/>
        </p:nvSpPr>
        <p:spPr>
          <a:xfrm>
            <a:off x="646481" y="5687568"/>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30" name="Text 28"/>
          <p:cNvSpPr txBox="1"/>
          <p:nvPr/>
        </p:nvSpPr>
        <p:spPr>
          <a:xfrm>
            <a:off x="1167689" y="5641848"/>
            <a:ext cx="12829032" cy="493776"/>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플로니: 비상 시작점, Cypher 1번, 노드 안 병렬, topic_ids 목록, 모드 중첩은 세지 않음</a:t>
            </a:r>
            <a:endParaRPr lang="en-US" sz="1600" dirty="0"/>
          </a:p>
        </p:txBody>
      </p:sp>
      <p:sp>
        <p:nvSpPr>
          <p:cNvPr id="31" name="Shape 29"/>
          <p:cNvSpPr/>
          <p:nvPr/>
        </p:nvSpPr>
        <p:spPr>
          <a:xfrm>
            <a:off x="509321" y="6227064"/>
            <a:ext cx="13624560" cy="493776"/>
          </a:xfrm>
          <a:prstGeom prst="roundRect">
            <a:avLst>
              <a:gd name="adj" fmla="val 14815"/>
            </a:avLst>
          </a:prstGeom>
          <a:solidFill>
            <a:srgbClr val="F5F8FC"/>
          </a:solidFill>
          <a:ln w="12700">
            <a:solidFill>
              <a:srgbClr val="D9E0EC"/>
            </a:solidFill>
            <a:prstDash val="solid"/>
          </a:ln>
        </p:spPr>
      </p:sp>
      <p:sp>
        <p:nvSpPr>
          <p:cNvPr id="32" name="Shape 30"/>
          <p:cNvSpPr/>
          <p:nvPr/>
        </p:nvSpPr>
        <p:spPr>
          <a:xfrm>
            <a:off x="646481" y="6272784"/>
            <a:ext cx="402336" cy="402336"/>
          </a:xfrm>
          <a:prstGeom prst="roundRect">
            <a:avLst>
              <a:gd name="adj" fmla="val 11364"/>
            </a:avLst>
          </a:prstGeom>
          <a:solidFill>
            <a:srgbClr val="2E74C6"/>
          </a:solidFill>
          <a:ln/>
        </p:spPr>
      </p:sp>
      <p:sp>
        <p:nvSpPr>
          <p:cNvPr id="33" name="Text 31"/>
          <p:cNvSpPr/>
          <p:nvPr/>
        </p:nvSpPr>
        <p:spPr>
          <a:xfrm>
            <a:off x="646481" y="6272784"/>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p:txBody>
      </p:sp>
      <p:sp>
        <p:nvSpPr>
          <p:cNvPr id="34" name="Text 32"/>
          <p:cNvSpPr txBox="1"/>
          <p:nvPr/>
        </p:nvSpPr>
        <p:spPr>
          <a:xfrm>
            <a:off x="1167689" y="6227064"/>
            <a:ext cx="12829032" cy="493776"/>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외부 리뷰: NO_COOCCUR는 분해로 1번 재시도, 금지 규칙 우선, 주제별 통과 기준, 관련도 정의, 자체 구성 명시</a:t>
            </a:r>
            <a:endParaRPr lang="en-US" sz="1600" dirty="0"/>
          </a:p>
        </p:txBody>
      </p:sp>
      <p:sp>
        <p:nvSpPr>
          <p:cNvPr id="35" name="Shape 3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6" name="Text 3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7" name="Shape 35"/>
          <p:cNvSpPr/>
          <p:nvPr/>
        </p:nvSpPr>
        <p:spPr>
          <a:xfrm>
            <a:off x="509321" y="7388352"/>
            <a:ext cx="13624560" cy="0"/>
          </a:xfrm>
          <a:prstGeom prst="line">
            <a:avLst/>
          </a:prstGeom>
          <a:noFill/>
          <a:ln w="12700">
            <a:solidFill>
              <a:srgbClr val="E9ECF3"/>
            </a:solidFill>
            <a:prstDash val="solid"/>
          </a:ln>
        </p:spPr>
      </p:sp>
      <p:sp>
        <p:nvSpPr>
          <p:cNvPr id="38" name="Text 3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teacher/plan/graphrag-agentic-search.md 4-4, 9장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 Agentic 검색 워크플로우</dc:title>
  <dc:subject>PptxGenJS Presentation</dc:subject>
  <dc:creator>hybrid-ai 교육팀</dc:creator>
  <cp:lastModifiedBy>hybrid-ai 교육팀</cp:lastModifiedBy>
  <cp:revision>1</cp:revision>
  <dcterms:created xsi:type="dcterms:W3CDTF">2026-10-24T12:09:42Z</dcterms:created>
  <dcterms:modified xsi:type="dcterms:W3CDTF">2026-10-24T12:09:42Z</dcterms:modified>
</cp:coreProperties>
</file>